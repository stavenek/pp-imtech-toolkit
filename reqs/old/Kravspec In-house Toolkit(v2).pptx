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147477004" r:id="rId2"/>
    <p:sldId id="2147477006" r:id="rId3"/>
    <p:sldId id="2147476980" r:id="rId4"/>
    <p:sldId id="2147477000" r:id="rId5"/>
    <p:sldId id="383" r:id="rId6"/>
    <p:sldId id="2147477005" r:id="rId7"/>
    <p:sldId id="2147477003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49711-6A21-4B4A-8ADB-7BE7E9CAF8D9}" v="9" dt="2026-01-26T09:16:23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2"/>
    <p:restoredTop sz="94660"/>
  </p:normalViewPr>
  <p:slideViewPr>
    <p:cSldViewPr snapToGrid="0">
      <p:cViewPr>
        <p:scale>
          <a:sx n="206" d="100"/>
          <a:sy n="206" d="100"/>
        </p:scale>
        <p:origin x="1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902-2AFD-A042-9F5F-9BBECE0D5ACE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B5833-97D8-F649-B055-18885FEE3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3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B5833-97D8-F649-B055-18885FEE3F0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78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CA2F-2F53-468D-C7BA-CAC04977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277E653-412B-7482-642A-705F4547BE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663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636286-0CC2-EFAA-60E6-011354B20E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06463" y="4714875"/>
            <a:ext cx="4984750" cy="4468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272" tIns="46136" rIns="92272" bIns="46136"/>
          <a:lstStyle/>
          <a:p>
            <a:endParaRPr lang="nl-NL">
              <a:ea typeface="Geneva"/>
              <a:cs typeface="Geneva"/>
            </a:endParaRPr>
          </a:p>
        </p:txBody>
      </p:sp>
    </p:spTree>
    <p:extLst>
      <p:ext uri="{BB962C8B-B14F-4D97-AF65-F5344CB8AC3E}">
        <p14:creationId xmlns:p14="http://schemas.microsoft.com/office/powerpoint/2010/main" val="1729354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990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8BC5A1-081E-C29C-0DDE-DF377944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9AC9F61-630A-3232-DEA6-420D2BA28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310C618-6986-E34B-F422-46EE88BC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1E882C1-CF1E-2DCF-760F-A2272355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32CD2FD-286B-7BAB-87F5-F40FE837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70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F7D80C7-B260-AF9C-F410-4B56467B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24C309C-9E18-6AFE-87F8-8B537CBF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F2520A3-ED76-68DB-CAF6-F4CD221C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17B4EEA-4A3D-9B46-5499-D017A0A6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B2ED98-8B76-F81E-53AE-637C38FC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15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6C13D2-35CA-15F1-5C97-CC8E01FE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9C518FB-49CB-234D-DE65-910FD94B7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F9A7569-0292-41E3-2D0C-35EEDDAE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2B4B227-2D9F-5CE6-F568-500474B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3CC5E2D-AC8A-CFE6-90FC-9D17D35B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19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B76505-1E4E-AF11-A712-ADC0FC1F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CEB99B-A6D0-3F54-27B4-9CF3BCF89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FBAFB0B-A0C3-2BC2-FE74-DFB201285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B1178D5-190B-AF89-9F17-3AB5EEC7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15D32A6-3CC5-7CDD-7463-8D13FA23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3CC04A6-774D-6975-20DE-AA1C57F5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25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5BBDF4-45B7-354E-C0EA-1C40A4C7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7FC4EED-3037-CA2B-3410-2DC34A7BA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41E450E-EAE4-AAA8-4CF6-71341BE3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86362AB-1A83-97F8-412E-34C94E1FA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EAFB8A5-C8F5-21A0-B1DF-E51B7AA7A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C0BE3D4-03A0-5CEF-FDA4-1BD8E23E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AF4EFCF-3CB1-1609-2CA7-1E797047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C5B78FD7-E213-4D58-3917-0A193D18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EF810A8-0D3B-86BD-717D-58162360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FD6C063-4F1D-ECDA-328C-9AD2F2E1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152A79F-B79A-95FA-B51C-93C7DAAB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5229C92-4F0D-BEC5-4495-F8956B34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60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8121F0E-DF66-8526-A954-CD49F0C4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440C3D0-4EDF-2E6E-91AB-FEAF8D84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AAC7E11-4C6A-EEDC-2EE5-3E85C8E2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6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F83369-3259-FD0B-6384-029595C7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13ED788-4AD3-8365-169B-E6F65358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C99B7FA-1FC3-CB37-EDB8-A29250B3D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0CFEDE4-AB2A-681F-811C-720DED92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952F51E-CB74-CC78-8695-8BE911A5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BDC4BC2-E4D3-199B-3C41-45DD6DEA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9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262D9F-2AE1-B698-CC1B-11F1F004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6BB1DC5-3F0A-03E4-720F-1E81E6C10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8D04B14-A3A0-D11E-4BC9-44BA277C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96D7569-A27D-D149-A214-9C118D84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CA0C977-73E7-3C56-59A9-DE086C5A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8B60921-EFE7-7459-B95E-6D3FFA1B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16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53B3A8-1805-1B4B-F2CF-1FC36D72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7D652C92-8A91-ACA5-DBA0-E419B87F1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8B0AAEE-E1D1-B467-83E0-68FCD193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FF8630F-9521-4D96-1F03-5DA8114D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5F7ED78-77F9-EEFE-9C08-C29407FB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245DC78D-F199-300F-A564-360B9B852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EAA58BF-D150-79F2-2AFB-3B624EBE6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C063A90-606B-157F-4BC5-D98C1E67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130438A-0AB3-201D-545D-D378818C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80D4B3-1E5C-1F26-32A0-1F569BC0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64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>
          <a:xfrm>
            <a:off x="8115301" y="6501099"/>
            <a:ext cx="2705100" cy="14741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2017-05-24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>
          <a:xfrm>
            <a:off x="539750" y="6501099"/>
            <a:ext cx="5446713" cy="147415"/>
          </a:xfrm>
          <a:prstGeom prst="rect">
            <a:avLst/>
          </a:prstGeom>
        </p:spPr>
        <p:txBody>
          <a:bodyPr/>
          <a:lstStyle/>
          <a:p>
            <a:r>
              <a:rPr lang="sv-SE"/>
              <a:t>Integral Management</a:t>
            </a:r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45303-2AAE-45D1-913A-B06AE6474513}" type="slidenum">
              <a:rPr lang="sv-SE" smtClean="0"/>
              <a:t>‹#›</a:t>
            </a:fld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quarter" idx="13"/>
          </p:nvPr>
        </p:nvSpPr>
        <p:spPr>
          <a:xfrm>
            <a:off x="371476" y="1742536"/>
            <a:ext cx="9505769" cy="44582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1306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364E0FD7-F916-8D93-AB65-D9D39B1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9530082-312D-9BE0-95E3-4990376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CD001DB-42F8-2CC6-57A6-AABEC99DF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D72D-FA8D-BA44-8CE2-A70F0A2EE89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FD02C03-9D61-80AB-A8AD-648CF657A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F114137-2B34-802B-48DA-9E7EDE478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4BA17-0C38-544D-96CD-B75DCD32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25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68402E25-56DC-84B3-7F1B-E35DA5786F92}"/>
              </a:ext>
            </a:extLst>
          </p:cNvPr>
          <p:cNvSpPr txBox="1"/>
          <p:nvPr/>
        </p:nvSpPr>
        <p:spPr>
          <a:xfrm>
            <a:off x="903767" y="946297"/>
            <a:ext cx="9309092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BASE FUNCTIONALITY</a:t>
            </a:r>
          </a:p>
          <a:p>
            <a:endParaRPr lang="sv-SE" noProof="1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Admin levels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Super User/Admin hos Integ (Utse Super User hos kund + access till allt som ligger i toolkit)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Super User/Admin hos kund (Se och läsa vad alla gör + utse Team Ledare)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Team Leader Invites Team Member through e-mail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Team Members can: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Can be part of several team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Read and navigate whole Toolkit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Change text in Action Plan (only own action steps)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new actions steps for themselves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new data to team metrics</a:t>
            </a:r>
          </a:p>
          <a:p>
            <a:pPr marL="1257300" lvl="2" indent="-342900">
              <a:buFont typeface="+mj-lt"/>
              <a:buAutoNum type="alphaLcParenR"/>
            </a:pPr>
            <a:r>
              <a:rPr lang="sv-SE" sz="1600" noProof="1"/>
              <a:t>Add Teamdocuments </a:t>
            </a:r>
          </a:p>
          <a:p>
            <a:pPr marL="342900" indent="-342900">
              <a:buFont typeface="+mj-lt"/>
              <a:buAutoNum type="arabicPeriod"/>
            </a:pPr>
            <a:endParaRPr lang="sv-SE" sz="1600" noProof="1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User Interface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Visually attractive – fun to work in – should provide holistic overview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Easy and intuitive navigation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Should feel like our own toolbox – not a control instrument</a:t>
            </a:r>
          </a:p>
          <a:p>
            <a:pPr lvl="1"/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sv-SE" sz="1600" b="1" noProof="1"/>
              <a:t>Robust and low cost to run, support, sustain and maintain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Easy to install and integrate in customer digital environment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Web Toolkit driftas av oss eller kunden?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600" noProof="1"/>
              <a:t>Adjustable to different customer needs</a:t>
            </a:r>
            <a:endParaRPr lang="en-GB" sz="1600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358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ktangel 17">
            <a:extLst>
              <a:ext uri="{FF2B5EF4-FFF2-40B4-BE49-F238E27FC236}">
                <a16:creationId xmlns:a16="http://schemas.microsoft.com/office/drawing/2014/main" id="{7AD29F47-12A6-646D-7AF3-34601777E293}"/>
              </a:ext>
            </a:extLst>
          </p:cNvPr>
          <p:cNvSpPr/>
          <p:nvPr/>
        </p:nvSpPr>
        <p:spPr>
          <a:xfrm>
            <a:off x="667265" y="741405"/>
            <a:ext cx="3521910" cy="47820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F20B8E5F-8E89-3988-0EC6-BA153CE3D337}"/>
              </a:ext>
            </a:extLst>
          </p:cNvPr>
          <p:cNvSpPr txBox="1"/>
          <p:nvPr/>
        </p:nvSpPr>
        <p:spPr>
          <a:xfrm>
            <a:off x="871151" y="753762"/>
            <a:ext cx="3083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Integral Teamwork Agenda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A21CBAB7-3FF3-17EE-3F49-118E46F5734F}"/>
              </a:ext>
            </a:extLst>
          </p:cNvPr>
          <p:cNvSpPr txBox="1"/>
          <p:nvPr/>
        </p:nvSpPr>
        <p:spPr>
          <a:xfrm>
            <a:off x="871151" y="1241854"/>
            <a:ext cx="331802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Where are we headed and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Strategic Reasoning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Progress with Strategic Focus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Newsflash</a:t>
            </a:r>
          </a:p>
          <a:p>
            <a:endParaRPr lang="en-GB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068E2B89-3A88-3C95-A6F7-1DE1D18E2EFC}"/>
              </a:ext>
            </a:extLst>
          </p:cNvPr>
          <p:cNvSpPr txBox="1"/>
          <p:nvPr/>
        </p:nvSpPr>
        <p:spPr>
          <a:xfrm>
            <a:off x="926757" y="2267467"/>
            <a:ext cx="25619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are we aiming for?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Our Desired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Our Goals and Metrics</a:t>
            </a:r>
          </a:p>
          <a:p>
            <a:endParaRPr lang="en-GB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367D9C26-4149-E313-BC1A-44418612E4C7}"/>
              </a:ext>
            </a:extLst>
          </p:cNvPr>
          <p:cNvSpPr txBox="1"/>
          <p:nvPr/>
        </p:nvSpPr>
        <p:spPr>
          <a:xfrm>
            <a:off x="926756" y="3136607"/>
            <a:ext cx="237276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our next step?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Action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50"/>
                </a:solidFill>
              </a:rPr>
              <a:t>Team Documents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Log of ideas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Completed steps </a:t>
            </a:r>
          </a:p>
          <a:p>
            <a:endParaRPr lang="en-GB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6CCC3DF4-D8A4-01D2-530F-067B4D6446D3}"/>
              </a:ext>
            </a:extLst>
          </p:cNvPr>
          <p:cNvSpPr txBox="1"/>
          <p:nvPr/>
        </p:nvSpPr>
        <p:spPr>
          <a:xfrm>
            <a:off x="926756" y="4370298"/>
            <a:ext cx="282526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Are we learning &amp; growing?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Attendance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Our Teamwork Rules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Reflections &amp; Learnings</a:t>
            </a:r>
          </a:p>
          <a:p>
            <a:endParaRPr lang="en-GB" dirty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8893E9B4-B306-2599-7BB2-093BC20922DD}"/>
              </a:ext>
            </a:extLst>
          </p:cNvPr>
          <p:cNvSpPr txBox="1"/>
          <p:nvPr/>
        </p:nvSpPr>
        <p:spPr>
          <a:xfrm>
            <a:off x="4473381" y="1718908"/>
            <a:ext cx="4186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månatligen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>
                <a:solidFill>
                  <a:srgbClr val="FF0000"/>
                </a:solidFill>
              </a:rPr>
              <a:t>Kundens</a:t>
            </a:r>
            <a:r>
              <a:rPr lang="en-GB" sz="1400" dirty="0">
                <a:solidFill>
                  <a:srgbClr val="FF0000"/>
                </a:solidFill>
              </a:rPr>
              <a:t> </a:t>
            </a:r>
            <a:r>
              <a:rPr lang="en-GB" sz="1400" dirty="0" err="1">
                <a:solidFill>
                  <a:srgbClr val="FF0000"/>
                </a:solidFill>
              </a:rPr>
              <a:t>SuperUser</a:t>
            </a:r>
            <a:r>
              <a:rPr lang="en-GB" sz="1400" dirty="0">
                <a:solidFill>
                  <a:srgbClr val="FF0000"/>
                </a:solidFill>
              </a:rPr>
              <a:t>/SMK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0C5234CE-5641-3725-2BB6-30D036142823}"/>
              </a:ext>
            </a:extLst>
          </p:cNvPr>
          <p:cNvSpPr txBox="1"/>
          <p:nvPr/>
        </p:nvSpPr>
        <p:spPr>
          <a:xfrm>
            <a:off x="4473380" y="2534516"/>
            <a:ext cx="68752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Enkel </a:t>
            </a:r>
            <a:r>
              <a:rPr lang="en-GB" sz="1400" dirty="0" err="1"/>
              <a:t>skrivyta</a:t>
            </a:r>
            <a:r>
              <a:rPr lang="en-GB" sz="1400" dirty="0"/>
              <a:t> med </a:t>
            </a:r>
            <a:r>
              <a:rPr lang="en-GB" sz="1400" dirty="0" err="1"/>
              <a:t>rubrik</a:t>
            </a:r>
            <a:r>
              <a:rPr lang="en-GB" sz="1400" dirty="0"/>
              <a:t> "Our Desired State" </a:t>
            </a:r>
            <a:r>
              <a:rPr lang="en-GB" sz="1400" dirty="0" err="1"/>
              <a:t>där</a:t>
            </a:r>
            <a:r>
              <a:rPr lang="en-GB" sz="1400" dirty="0"/>
              <a:t> man </a:t>
            </a:r>
            <a:r>
              <a:rPr lang="en-GB" sz="1400" dirty="0" err="1"/>
              <a:t>formulerar</a:t>
            </a:r>
            <a:r>
              <a:rPr lang="en-GB" sz="1400" dirty="0"/>
              <a:t> </a:t>
            </a:r>
            <a:r>
              <a:rPr lang="en-GB" sz="1400" dirty="0" err="1"/>
              <a:t>teamets</a:t>
            </a:r>
            <a:r>
              <a:rPr lang="en-GB" sz="1400" dirty="0"/>
              <a:t> ambition </a:t>
            </a:r>
          </a:p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löpande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/>
              <a:t>någon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Teamet</a:t>
            </a:r>
            <a:r>
              <a:rPr lang="en-GB" sz="1400" dirty="0"/>
              <a:t> </a:t>
            </a:r>
            <a:r>
              <a:rPr lang="en-GB" sz="1400" dirty="0" err="1"/>
              <a:t>inför</a:t>
            </a:r>
            <a:r>
              <a:rPr lang="en-GB" sz="1400" dirty="0"/>
              <a:t> </a:t>
            </a:r>
            <a:r>
              <a:rPr lang="en-GB" sz="1400" dirty="0" err="1"/>
              <a:t>nästa</a:t>
            </a:r>
            <a:r>
              <a:rPr lang="en-GB" sz="1400" dirty="0"/>
              <a:t> </a:t>
            </a:r>
            <a:r>
              <a:rPr lang="en-GB" sz="1400" dirty="0" err="1"/>
              <a:t>möte</a:t>
            </a:r>
            <a:r>
              <a:rPr lang="en-GB" sz="1400" dirty="0"/>
              <a:t> </a:t>
            </a:r>
            <a:r>
              <a:rPr lang="en-GB" sz="1400" dirty="0" err="1">
                <a:solidFill>
                  <a:srgbClr val="00B050"/>
                </a:solidFill>
              </a:rPr>
              <a:t>eller</a:t>
            </a:r>
            <a:r>
              <a:rPr lang="en-GB" sz="1400" dirty="0">
                <a:solidFill>
                  <a:srgbClr val="00B050"/>
                </a:solidFill>
              </a:rPr>
              <a:t> </a:t>
            </a:r>
            <a:r>
              <a:rPr lang="en-GB" sz="1400" dirty="0" err="1">
                <a:solidFill>
                  <a:srgbClr val="00B050"/>
                </a:solidFill>
              </a:rPr>
              <a:t>länk</a:t>
            </a:r>
            <a:r>
              <a:rPr lang="en-GB" sz="1400" dirty="0">
                <a:solidFill>
                  <a:srgbClr val="00B050"/>
                </a:solidFill>
              </a:rPr>
              <a:t> till </a:t>
            </a:r>
            <a:r>
              <a:rPr lang="en-GB" sz="1400" dirty="0" err="1">
                <a:solidFill>
                  <a:srgbClr val="00B050"/>
                </a:solidFill>
              </a:rPr>
              <a:t>existerande</a:t>
            </a:r>
            <a:r>
              <a:rPr lang="en-GB" sz="1400" dirty="0">
                <a:solidFill>
                  <a:srgbClr val="00B050"/>
                </a:solidFill>
              </a:rPr>
              <a:t> KPI</a:t>
            </a:r>
          </a:p>
          <a:p>
            <a:endParaRPr lang="en-GB" sz="1400" dirty="0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48844751-645D-89C1-F368-BDAD89F01A15}"/>
              </a:ext>
            </a:extLst>
          </p:cNvPr>
          <p:cNvSpPr txBox="1"/>
          <p:nvPr/>
        </p:nvSpPr>
        <p:spPr>
          <a:xfrm>
            <a:off x="4473380" y="3430932"/>
            <a:ext cx="72694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löpande</a:t>
            </a:r>
            <a:r>
              <a:rPr lang="en-GB" sz="1400" dirty="0"/>
              <a:t> under </a:t>
            </a:r>
            <a:r>
              <a:rPr lang="en-GB" sz="1400" dirty="0" err="1"/>
              <a:t>mötet</a:t>
            </a:r>
            <a:r>
              <a:rPr lang="en-GB" sz="1400" dirty="0"/>
              <a:t> (Se </a:t>
            </a:r>
            <a:r>
              <a:rPr lang="en-GB" sz="1400" dirty="0" err="1"/>
              <a:t>separat</a:t>
            </a:r>
            <a:r>
              <a:rPr lang="en-GB" sz="1400" dirty="0"/>
              <a:t> </a:t>
            </a:r>
            <a:r>
              <a:rPr lang="en-GB" sz="1400" dirty="0" err="1"/>
              <a:t>bild</a:t>
            </a:r>
            <a:r>
              <a:rPr lang="en-GB" sz="1400" dirty="0"/>
              <a:t>)</a:t>
            </a:r>
          </a:p>
          <a:p>
            <a:r>
              <a:rPr lang="en-GB" sz="1400" dirty="0" err="1"/>
              <a:t>Länkar</a:t>
            </a:r>
            <a:r>
              <a:rPr lang="en-GB" sz="1400" dirty="0"/>
              <a:t> till </a:t>
            </a:r>
            <a:r>
              <a:rPr lang="en-GB" sz="1400" dirty="0" err="1"/>
              <a:t>dokument</a:t>
            </a:r>
            <a:r>
              <a:rPr lang="en-GB" sz="1400" dirty="0"/>
              <a:t> </a:t>
            </a:r>
            <a:r>
              <a:rPr lang="en-GB" sz="1400" dirty="0" err="1"/>
              <a:t>relevanta</a:t>
            </a:r>
            <a:r>
              <a:rPr lang="en-GB" sz="1400" dirty="0"/>
              <a:t> </a:t>
            </a:r>
            <a:r>
              <a:rPr lang="en-GB" sz="1400" dirty="0" err="1"/>
              <a:t>som</a:t>
            </a:r>
            <a:r>
              <a:rPr lang="en-GB" sz="1400" dirty="0"/>
              <a:t> </a:t>
            </a:r>
            <a:r>
              <a:rPr lang="en-GB" sz="1400" dirty="0" err="1"/>
              <a:t>indata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teamets</a:t>
            </a:r>
            <a:r>
              <a:rPr lang="en-GB" sz="1400" dirty="0"/>
              <a:t> </a:t>
            </a:r>
            <a:r>
              <a:rPr lang="en-GB" sz="1400" dirty="0" err="1"/>
              <a:t>arbete</a:t>
            </a:r>
            <a:r>
              <a:rPr lang="en-GB" sz="1400" dirty="0"/>
              <a:t>. </a:t>
            </a:r>
            <a:r>
              <a:rPr lang="en-GB" sz="1400" dirty="0">
                <a:solidFill>
                  <a:srgbClr val="00B050"/>
                </a:solidFill>
              </a:rPr>
              <a:t>Alla </a:t>
            </a:r>
            <a:r>
              <a:rPr lang="en-GB" sz="1400" dirty="0" err="1">
                <a:solidFill>
                  <a:srgbClr val="00B050"/>
                </a:solidFill>
              </a:rPr>
              <a:t>i</a:t>
            </a:r>
            <a:r>
              <a:rPr lang="en-GB" sz="1400" dirty="0">
                <a:solidFill>
                  <a:srgbClr val="00B050"/>
                </a:solidFill>
              </a:rPr>
              <a:t> </a:t>
            </a:r>
            <a:r>
              <a:rPr lang="en-GB" sz="1400" dirty="0" err="1">
                <a:solidFill>
                  <a:srgbClr val="00B050"/>
                </a:solidFill>
              </a:rPr>
              <a:t>teamet</a:t>
            </a:r>
            <a:r>
              <a:rPr lang="en-GB" sz="1400" dirty="0">
                <a:solidFill>
                  <a:srgbClr val="00B050"/>
                </a:solidFill>
              </a:rPr>
              <a:t> </a:t>
            </a:r>
            <a:r>
              <a:rPr lang="en-GB" sz="1400" dirty="0" err="1">
                <a:solidFill>
                  <a:srgbClr val="00B050"/>
                </a:solidFill>
              </a:rPr>
              <a:t>kan</a:t>
            </a:r>
            <a:r>
              <a:rPr lang="en-GB" sz="1400" dirty="0">
                <a:solidFill>
                  <a:srgbClr val="00B050"/>
                </a:solidFill>
              </a:rPr>
              <a:t> </a:t>
            </a:r>
            <a:r>
              <a:rPr lang="en-GB" sz="1400" dirty="0" err="1">
                <a:solidFill>
                  <a:srgbClr val="00B050"/>
                </a:solidFill>
              </a:rPr>
              <a:t>läsa</a:t>
            </a:r>
            <a:r>
              <a:rPr lang="en-GB" sz="1400" dirty="0">
                <a:solidFill>
                  <a:srgbClr val="00B050"/>
                </a:solidFill>
              </a:rPr>
              <a:t> och </a:t>
            </a:r>
            <a:r>
              <a:rPr lang="en-GB" sz="1400" dirty="0" err="1">
                <a:solidFill>
                  <a:srgbClr val="00B050"/>
                </a:solidFill>
              </a:rPr>
              <a:t>länka</a:t>
            </a:r>
            <a:r>
              <a:rPr lang="en-GB" sz="1400" dirty="0">
                <a:solidFill>
                  <a:srgbClr val="00B050"/>
                </a:solidFill>
              </a:rPr>
              <a:t>.</a:t>
            </a:r>
          </a:p>
          <a:p>
            <a:r>
              <a:rPr lang="en-GB" sz="1400" dirty="0" err="1"/>
              <a:t>Arkiv</a:t>
            </a:r>
            <a:r>
              <a:rPr lang="en-GB" sz="1400" dirty="0"/>
              <a:t> för </a:t>
            </a:r>
            <a:r>
              <a:rPr lang="en-GB" sz="1400" dirty="0" err="1"/>
              <a:t>idéer</a:t>
            </a:r>
            <a:r>
              <a:rPr lang="en-GB" sz="1400" dirty="0"/>
              <a:t> man </a:t>
            </a:r>
            <a:r>
              <a:rPr lang="en-GB" sz="1400" dirty="0" err="1"/>
              <a:t>inte</a:t>
            </a:r>
            <a:r>
              <a:rPr lang="en-GB" sz="1400" dirty="0"/>
              <a:t> </a:t>
            </a:r>
            <a:r>
              <a:rPr lang="en-GB" sz="1400" dirty="0" err="1"/>
              <a:t>har</a:t>
            </a:r>
            <a:r>
              <a:rPr lang="en-GB" sz="1400" dirty="0"/>
              <a:t> </a:t>
            </a:r>
            <a:r>
              <a:rPr lang="en-GB" sz="1400" dirty="0" err="1"/>
              <a:t>tid</a:t>
            </a:r>
            <a:r>
              <a:rPr lang="en-GB" sz="1400" dirty="0"/>
              <a:t> </a:t>
            </a:r>
            <a:r>
              <a:rPr lang="en-GB" sz="1400" dirty="0" err="1"/>
              <a:t>att</a:t>
            </a:r>
            <a:r>
              <a:rPr lang="en-GB" sz="1400" dirty="0"/>
              <a:t> </a:t>
            </a:r>
            <a:r>
              <a:rPr lang="en-GB" sz="1400" dirty="0" err="1"/>
              <a:t>jobba</a:t>
            </a:r>
            <a:r>
              <a:rPr lang="en-GB" sz="1400" dirty="0"/>
              <a:t> </a:t>
            </a:r>
            <a:r>
              <a:rPr lang="en-GB" sz="1400" dirty="0" err="1"/>
              <a:t>vidare</a:t>
            </a:r>
            <a:r>
              <a:rPr lang="en-GB" sz="1400" dirty="0"/>
              <a:t> med just nu...</a:t>
            </a:r>
          </a:p>
          <a:p>
            <a:r>
              <a:rPr lang="en-GB" sz="1400" dirty="0" err="1"/>
              <a:t>Arkiv</a:t>
            </a:r>
            <a:r>
              <a:rPr lang="en-GB" sz="1400" dirty="0"/>
              <a:t> för </a:t>
            </a:r>
            <a:r>
              <a:rPr lang="en-GB" sz="1400" dirty="0" err="1"/>
              <a:t>större</a:t>
            </a:r>
            <a:r>
              <a:rPr lang="en-GB" sz="1400" dirty="0"/>
              <a:t> steg man </a:t>
            </a:r>
            <a:r>
              <a:rPr lang="en-GB" sz="1400" dirty="0" err="1"/>
              <a:t>har</a:t>
            </a:r>
            <a:r>
              <a:rPr lang="en-GB" sz="1400" dirty="0"/>
              <a:t> </a:t>
            </a:r>
            <a:r>
              <a:rPr lang="en-GB" sz="1400" dirty="0" err="1"/>
              <a:t>klarat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(Kan </a:t>
            </a:r>
            <a:r>
              <a:rPr lang="en-GB" sz="1400" dirty="0" err="1"/>
              <a:t>innehålla</a:t>
            </a:r>
            <a:r>
              <a:rPr lang="en-GB" sz="1400" dirty="0"/>
              <a:t> </a:t>
            </a:r>
            <a:r>
              <a:rPr lang="en-GB" sz="1400" dirty="0" err="1"/>
              <a:t>många</a:t>
            </a:r>
            <a:r>
              <a:rPr lang="en-GB" sz="1400" dirty="0"/>
              <a:t> action steps)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F76CD297-9886-D2B8-D0E9-8EDE62F7F52A}"/>
              </a:ext>
            </a:extLst>
          </p:cNvPr>
          <p:cNvSpPr txBox="1"/>
          <p:nvPr/>
        </p:nvSpPr>
        <p:spPr>
          <a:xfrm>
            <a:off x="4473380" y="4644712"/>
            <a:ext cx="73656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löpande</a:t>
            </a:r>
            <a:r>
              <a:rPr lang="en-GB" sz="1400" dirty="0"/>
              <a:t> under </a:t>
            </a:r>
            <a:r>
              <a:rPr lang="en-GB" sz="1400" dirty="0" err="1"/>
              <a:t>mötet</a:t>
            </a:r>
            <a:r>
              <a:rPr lang="en-GB" sz="1400" dirty="0"/>
              <a:t> (</a:t>
            </a:r>
            <a:r>
              <a:rPr lang="en-GB" sz="1400" dirty="0" err="1"/>
              <a:t>enkel</a:t>
            </a:r>
            <a:r>
              <a:rPr lang="en-GB" sz="1400" dirty="0"/>
              <a:t> </a:t>
            </a:r>
            <a:r>
              <a:rPr lang="en-GB" sz="1400" dirty="0" err="1"/>
              <a:t>matris</a:t>
            </a:r>
            <a:r>
              <a:rPr lang="en-GB" sz="1400" dirty="0"/>
              <a:t> med </a:t>
            </a:r>
            <a:r>
              <a:rPr lang="en-GB" sz="1400" dirty="0" err="1"/>
              <a:t>namn</a:t>
            </a:r>
            <a:r>
              <a:rPr lang="en-GB" sz="1400" dirty="0"/>
              <a:t> + </a:t>
            </a:r>
            <a:r>
              <a:rPr lang="en-GB" sz="1400" dirty="0" err="1"/>
              <a:t>mötesdatum</a:t>
            </a:r>
            <a:r>
              <a:rPr lang="en-GB" sz="1400" dirty="0"/>
              <a:t> + JA </a:t>
            </a:r>
            <a:r>
              <a:rPr lang="en-GB" sz="1400" dirty="0" err="1"/>
              <a:t>eller</a:t>
            </a:r>
            <a:r>
              <a:rPr lang="en-GB" sz="1400" dirty="0"/>
              <a:t> NEJ </a:t>
            </a:r>
            <a:r>
              <a:rPr lang="en-GB" sz="1400" dirty="0" err="1"/>
              <a:t>kryss</a:t>
            </a:r>
            <a:r>
              <a:rPr lang="en-GB" sz="1400" dirty="0"/>
              <a:t>)</a:t>
            </a:r>
          </a:p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/>
              <a:t>teamet</a:t>
            </a:r>
            <a:r>
              <a:rPr lang="en-GB" sz="1400" dirty="0"/>
              <a:t> vid </a:t>
            </a:r>
            <a:r>
              <a:rPr lang="en-GB" sz="1400" dirty="0" err="1"/>
              <a:t>behov</a:t>
            </a:r>
            <a:r>
              <a:rPr lang="en-GB" sz="1400" dirty="0"/>
              <a:t> (Enkel </a:t>
            </a:r>
            <a:r>
              <a:rPr lang="en-GB" sz="1400" dirty="0" err="1"/>
              <a:t>skrivyta</a:t>
            </a:r>
            <a:r>
              <a:rPr lang="en-GB" sz="1400" dirty="0"/>
              <a:t> med </a:t>
            </a:r>
            <a:r>
              <a:rPr lang="en-GB" sz="1400" dirty="0" err="1"/>
              <a:t>rubrik</a:t>
            </a:r>
            <a:r>
              <a:rPr lang="en-GB" sz="1400" dirty="0"/>
              <a:t> "Our Teamwork Rules") </a:t>
            </a:r>
          </a:p>
          <a:p>
            <a:r>
              <a:rPr lang="en-GB" sz="1400" dirty="0"/>
              <a:t>För </a:t>
            </a:r>
            <a:r>
              <a:rPr lang="en-GB" sz="1400" dirty="0" err="1"/>
              <a:t>reflektion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slutet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/>
              <a:t>mötet</a:t>
            </a:r>
            <a:r>
              <a:rPr lang="en-GB" sz="1400" dirty="0"/>
              <a:t> (Enkel </a:t>
            </a:r>
            <a:r>
              <a:rPr lang="en-GB" sz="1400" dirty="0" err="1"/>
              <a:t>skrivyta</a:t>
            </a:r>
            <a:r>
              <a:rPr lang="en-GB" sz="1400" dirty="0"/>
              <a:t> med </a:t>
            </a:r>
            <a:r>
              <a:rPr lang="en-GB" sz="1400" dirty="0" err="1"/>
              <a:t>rubrik</a:t>
            </a:r>
            <a:r>
              <a:rPr lang="en-GB" sz="1400" dirty="0"/>
              <a:t> för "Reflections &amp; Learnings")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CAA11E47-8672-8113-B1F0-055CA7744E27}"/>
              </a:ext>
            </a:extLst>
          </p:cNvPr>
          <p:cNvSpPr txBox="1"/>
          <p:nvPr/>
        </p:nvSpPr>
        <p:spPr>
          <a:xfrm>
            <a:off x="4473379" y="588158"/>
            <a:ext cx="72717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BLÅ text = intern </a:t>
            </a:r>
            <a:r>
              <a:rPr lang="en-GB" sz="1400" dirty="0" err="1"/>
              <a:t>länk</a:t>
            </a:r>
            <a:r>
              <a:rPr lang="en-GB" sz="1400" dirty="0"/>
              <a:t> </a:t>
            </a:r>
            <a:r>
              <a:rPr lang="en-GB" sz="1400" dirty="0" err="1"/>
              <a:t>inom</a:t>
            </a:r>
            <a:r>
              <a:rPr lang="en-GB" sz="1400" dirty="0"/>
              <a:t> Toolkit. </a:t>
            </a:r>
          </a:p>
          <a:p>
            <a:r>
              <a:rPr lang="en-GB" sz="1400" dirty="0"/>
              <a:t>GRÖN= extern </a:t>
            </a:r>
            <a:r>
              <a:rPr lang="en-GB" sz="1400" dirty="0" err="1"/>
              <a:t>länk</a:t>
            </a:r>
            <a:r>
              <a:rPr lang="en-GB" sz="1400" dirty="0"/>
              <a:t> till </a:t>
            </a:r>
            <a:r>
              <a:rPr lang="en-GB" sz="1400" dirty="0" err="1"/>
              <a:t>kundens</a:t>
            </a:r>
            <a:r>
              <a:rPr lang="en-GB" sz="1400" dirty="0"/>
              <a:t> </a:t>
            </a:r>
            <a:r>
              <a:rPr lang="en-GB" sz="1400" dirty="0" err="1"/>
              <a:t>egen</a:t>
            </a:r>
            <a:r>
              <a:rPr lang="en-GB" sz="1400" dirty="0"/>
              <a:t> </a:t>
            </a:r>
            <a:r>
              <a:rPr lang="en-GB" sz="1400" dirty="0" err="1"/>
              <a:t>databas</a:t>
            </a:r>
            <a:endParaRPr lang="en-GB" sz="1400" dirty="0"/>
          </a:p>
          <a:p>
            <a:r>
              <a:rPr lang="en-GB" sz="1400" dirty="0"/>
              <a:t>RÖD = Vem </a:t>
            </a:r>
            <a:r>
              <a:rPr lang="en-GB" sz="1400" dirty="0" err="1"/>
              <a:t>använder</a:t>
            </a:r>
            <a:r>
              <a:rPr lang="en-GB" sz="1400" dirty="0"/>
              <a:t> och </a:t>
            </a:r>
            <a:r>
              <a:rPr lang="en-GB" sz="1400" dirty="0" err="1"/>
              <a:t>uppdaterar</a:t>
            </a:r>
            <a:r>
              <a:rPr lang="en-GB" sz="1400" dirty="0"/>
              <a:t> </a:t>
            </a:r>
            <a:r>
              <a:rPr lang="en-GB" sz="1400" dirty="0" err="1"/>
              <a:t>vyn</a:t>
            </a:r>
            <a:r>
              <a:rPr lang="en-GB" sz="1400" dirty="0"/>
              <a:t>. (Om </a:t>
            </a:r>
            <a:r>
              <a:rPr lang="en-GB" sz="1400" dirty="0" err="1"/>
              <a:t>ingen</a:t>
            </a:r>
            <a:r>
              <a:rPr lang="en-GB" sz="1400" dirty="0"/>
              <a:t> </a:t>
            </a:r>
            <a:r>
              <a:rPr lang="en-GB" sz="1400" dirty="0" err="1"/>
              <a:t>färg</a:t>
            </a:r>
            <a:r>
              <a:rPr lang="en-GB" sz="1400" dirty="0"/>
              <a:t> = </a:t>
            </a:r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/>
              <a:t>någon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teamet</a:t>
            </a:r>
            <a:r>
              <a:rPr lang="en-GB" sz="1400" dirty="0"/>
              <a:t>) 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67296BC1-81D7-4DA6-C6CD-8A0BCD76E83C}"/>
              </a:ext>
            </a:extLst>
          </p:cNvPr>
          <p:cNvSpPr txBox="1"/>
          <p:nvPr/>
        </p:nvSpPr>
        <p:spPr>
          <a:xfrm>
            <a:off x="4473380" y="1474624"/>
            <a:ext cx="417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Uppdateras</a:t>
            </a:r>
            <a:r>
              <a:rPr lang="en-GB" sz="1400" dirty="0"/>
              <a:t> "</a:t>
            </a:r>
            <a:r>
              <a:rPr lang="en-GB" sz="1400" dirty="0" err="1"/>
              <a:t>halvårsvis</a:t>
            </a:r>
            <a:r>
              <a:rPr lang="en-GB" sz="1400" dirty="0"/>
              <a:t>"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>
                <a:solidFill>
                  <a:srgbClr val="FF0000"/>
                </a:solidFill>
              </a:rPr>
              <a:t>Kundens</a:t>
            </a:r>
            <a:r>
              <a:rPr lang="en-GB" sz="1400" dirty="0">
                <a:solidFill>
                  <a:srgbClr val="FF0000"/>
                </a:solidFill>
              </a:rPr>
              <a:t> </a:t>
            </a:r>
            <a:r>
              <a:rPr lang="en-GB" sz="1400" dirty="0" err="1">
                <a:solidFill>
                  <a:srgbClr val="FF0000"/>
                </a:solidFill>
              </a:rPr>
              <a:t>SuperUser</a:t>
            </a:r>
            <a:r>
              <a:rPr lang="en-GB" sz="1400" dirty="0">
                <a:solidFill>
                  <a:srgbClr val="FF0000"/>
                </a:solidFill>
              </a:rPr>
              <a:t>/SMK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9AD9614C-D381-8B88-FA3C-659F2CA42D13}"/>
              </a:ext>
            </a:extLst>
          </p:cNvPr>
          <p:cNvSpPr txBox="1"/>
          <p:nvPr/>
        </p:nvSpPr>
        <p:spPr>
          <a:xfrm>
            <a:off x="4473381" y="1959690"/>
            <a:ext cx="4186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Uppdateras</a:t>
            </a:r>
            <a:r>
              <a:rPr lang="en-GB" sz="1400" dirty="0"/>
              <a:t> </a:t>
            </a:r>
            <a:r>
              <a:rPr lang="en-GB" sz="1400" dirty="0" err="1"/>
              <a:t>månatligen</a:t>
            </a:r>
            <a:r>
              <a:rPr lang="en-GB" sz="1400" dirty="0"/>
              <a:t> </a:t>
            </a:r>
            <a:r>
              <a:rPr lang="en-GB" sz="1400" dirty="0" err="1"/>
              <a:t>av</a:t>
            </a:r>
            <a:r>
              <a:rPr lang="en-GB" sz="1400" dirty="0"/>
              <a:t> </a:t>
            </a:r>
            <a:r>
              <a:rPr lang="en-GB" sz="1400" dirty="0" err="1">
                <a:solidFill>
                  <a:srgbClr val="FF0000"/>
                </a:solidFill>
              </a:rPr>
              <a:t>Kundens</a:t>
            </a:r>
            <a:r>
              <a:rPr lang="en-GB" sz="1400" dirty="0">
                <a:solidFill>
                  <a:srgbClr val="FF0000"/>
                </a:solidFill>
              </a:rPr>
              <a:t> </a:t>
            </a:r>
            <a:r>
              <a:rPr lang="en-GB" sz="1400" dirty="0" err="1">
                <a:solidFill>
                  <a:srgbClr val="FF0000"/>
                </a:solidFill>
              </a:rPr>
              <a:t>SuperUser</a:t>
            </a:r>
            <a:r>
              <a:rPr lang="en-GB" sz="1400" dirty="0">
                <a:solidFill>
                  <a:srgbClr val="FF0000"/>
                </a:solidFill>
              </a:rPr>
              <a:t>/SMK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406EA9C9-6117-E3DD-E751-941899134281}"/>
              </a:ext>
            </a:extLst>
          </p:cNvPr>
          <p:cNvSpPr txBox="1"/>
          <p:nvPr/>
        </p:nvSpPr>
        <p:spPr>
          <a:xfrm>
            <a:off x="0" y="21162"/>
            <a:ext cx="3188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highlight>
                  <a:srgbClr val="FFFF00"/>
                </a:highlight>
              </a:rPr>
              <a:t>Agendans</a:t>
            </a:r>
            <a:r>
              <a:rPr lang="en-GB" sz="1000" b="1" dirty="0">
                <a:highlight>
                  <a:srgbClr val="FFFF00"/>
                </a:highlight>
              </a:rPr>
              <a:t> roll: </a:t>
            </a:r>
            <a:r>
              <a:rPr lang="en-GB" sz="1000" dirty="0">
                <a:highlight>
                  <a:srgbClr val="FFFF00"/>
                </a:highlight>
              </a:rPr>
              <a:t>Denna agenda </a:t>
            </a:r>
            <a:r>
              <a:rPr lang="en-GB" sz="1000" dirty="0" err="1">
                <a:highlight>
                  <a:srgbClr val="FFFF00"/>
                </a:highlight>
              </a:rPr>
              <a:t>skall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alltid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fungera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som</a:t>
            </a:r>
            <a:r>
              <a:rPr lang="en-GB" sz="1000" dirty="0">
                <a:highlight>
                  <a:srgbClr val="FFFF00"/>
                </a:highlight>
              </a:rPr>
              <a:t> hub/nav för </a:t>
            </a:r>
            <a:r>
              <a:rPr lang="en-GB" sz="1000" dirty="0" err="1">
                <a:highlight>
                  <a:srgbClr val="FFFF00"/>
                </a:highlight>
              </a:rPr>
              <a:t>allt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som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sker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i</a:t>
            </a:r>
            <a:r>
              <a:rPr lang="en-GB" sz="1000" dirty="0">
                <a:highlight>
                  <a:srgbClr val="FFFF00"/>
                </a:highlight>
              </a:rPr>
              <a:t> dessa </a:t>
            </a:r>
            <a:r>
              <a:rPr lang="en-GB" sz="1000" dirty="0" err="1">
                <a:highlight>
                  <a:srgbClr val="FFFF00"/>
                </a:highlight>
              </a:rPr>
              <a:t>möten</a:t>
            </a:r>
            <a:r>
              <a:rPr lang="en-GB" sz="1000" dirty="0">
                <a:highlight>
                  <a:srgbClr val="FFFF00"/>
                </a:highlight>
              </a:rPr>
              <a:t>. </a:t>
            </a:r>
            <a:r>
              <a:rPr lang="en-GB" sz="1000" dirty="0" err="1">
                <a:highlight>
                  <a:srgbClr val="FFFF00"/>
                </a:highlight>
              </a:rPr>
              <a:t>Bör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därför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vara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synlig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i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vänstermarginalen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hela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tiden</a:t>
            </a:r>
            <a:r>
              <a:rPr lang="en-GB" sz="1000" dirty="0">
                <a:highlight>
                  <a:srgbClr val="FFFF00"/>
                </a:highlight>
              </a:rPr>
              <a:t>. Man </a:t>
            </a:r>
            <a:r>
              <a:rPr lang="en-GB" sz="1000" dirty="0" err="1">
                <a:highlight>
                  <a:srgbClr val="FFFF00"/>
                </a:highlight>
              </a:rPr>
              <a:t>går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alltså</a:t>
            </a:r>
            <a:r>
              <a:rPr lang="en-GB" sz="1000" dirty="0">
                <a:highlight>
                  <a:srgbClr val="FFFF00"/>
                </a:highlight>
              </a:rPr>
              <a:t> via </a:t>
            </a:r>
            <a:r>
              <a:rPr lang="en-GB" sz="1000" dirty="0" err="1">
                <a:highlight>
                  <a:srgbClr val="FFFF00"/>
                </a:highlight>
              </a:rPr>
              <a:t>agendan</a:t>
            </a:r>
            <a:r>
              <a:rPr lang="en-GB" sz="1000" dirty="0">
                <a:highlight>
                  <a:srgbClr val="FFFF00"/>
                </a:highlight>
              </a:rPr>
              <a:t> för </a:t>
            </a:r>
            <a:r>
              <a:rPr lang="en-GB" sz="1000" dirty="0" err="1">
                <a:highlight>
                  <a:srgbClr val="FFFF00"/>
                </a:highlight>
              </a:rPr>
              <a:t>att</a:t>
            </a:r>
            <a:r>
              <a:rPr lang="en-GB" sz="1000" dirty="0">
                <a:highlight>
                  <a:srgbClr val="FFFF00"/>
                </a:highlight>
              </a:rPr>
              <a:t> ta sig till </a:t>
            </a:r>
            <a:r>
              <a:rPr lang="en-GB" sz="1000" dirty="0" err="1">
                <a:highlight>
                  <a:srgbClr val="FFFF00"/>
                </a:highlight>
              </a:rPr>
              <a:t>nästa</a:t>
            </a:r>
            <a:r>
              <a:rPr lang="en-GB" sz="1000" dirty="0">
                <a:highlight>
                  <a:srgbClr val="FFFF00"/>
                </a:highlight>
              </a:rPr>
              <a:t> </a:t>
            </a:r>
            <a:r>
              <a:rPr lang="en-GB" sz="1000" dirty="0" err="1">
                <a:highlight>
                  <a:srgbClr val="FFFF00"/>
                </a:highlight>
              </a:rPr>
              <a:t>vy</a:t>
            </a:r>
            <a:r>
              <a:rPr lang="en-GB" sz="10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9A015AD4-2E9E-E016-68BD-3806F51EF1F3}"/>
              </a:ext>
            </a:extLst>
          </p:cNvPr>
          <p:cNvSpPr txBox="1"/>
          <p:nvPr/>
        </p:nvSpPr>
        <p:spPr>
          <a:xfrm>
            <a:off x="4473379" y="255690"/>
            <a:ext cx="281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Förklarande</a:t>
            </a:r>
            <a:r>
              <a:rPr lang="en-GB" dirty="0"/>
              <a:t> </a:t>
            </a:r>
            <a:r>
              <a:rPr lang="en-GB" dirty="0" err="1"/>
              <a:t>kommentarer</a:t>
            </a:r>
            <a:r>
              <a:rPr lang="en-GB"/>
              <a:t>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28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4D18-7699-A51C-7A60-76A0074F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C4215BD-9218-3984-8021-565FCAF8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E086683-F536-42AB-ABBC-F4803DFE8DBC}" type="slidenum">
              <a:rPr lang="sv-SE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sv-SE"/>
          </a:p>
        </p:txBody>
      </p:sp>
      <p:sp>
        <p:nvSpPr>
          <p:cNvPr id="13" name="Rubrik 12">
            <a:extLst>
              <a:ext uri="{FF2B5EF4-FFF2-40B4-BE49-F238E27FC236}">
                <a16:creationId xmlns:a16="http://schemas.microsoft.com/office/drawing/2014/main" id="{C51759AF-76AD-D3F8-1E14-6D777629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94" y="244566"/>
            <a:ext cx="10515600" cy="783406"/>
          </a:xfrm>
        </p:spPr>
        <p:txBody>
          <a:bodyPr/>
          <a:lstStyle/>
          <a:p>
            <a:r>
              <a:rPr lang="en-GB" dirty="0"/>
              <a:t>Action Plan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935735F4-6E12-1097-0B71-96C8A51B3E2B}"/>
              </a:ext>
            </a:extLst>
          </p:cNvPr>
          <p:cNvGrpSpPr>
            <a:grpSpLocks/>
          </p:cNvGrpSpPr>
          <p:nvPr/>
        </p:nvGrpSpPr>
        <p:grpSpPr bwMode="auto">
          <a:xfrm>
            <a:off x="404824" y="1546148"/>
            <a:ext cx="11360454" cy="4760384"/>
            <a:chOff x="191" y="711"/>
            <a:chExt cx="5373" cy="3237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C8B53B1-C04B-E3B2-77CA-696E3EAAF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264"/>
              <a:ext cx="5368" cy="2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0D7C317A-2DD7-1E38-4BD4-169E92FD7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48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20E7F188-11FF-0015-DDEB-1DDBEAE6B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67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EBE74E2-A0C3-CDFF-5CBF-930CE00D0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186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8CF62B0C-9440-9BDD-2D54-6EB62E87B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058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C4E5318B-E92E-54B3-2DB0-F09154E06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250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287F244D-1EFA-7757-6DF0-F3F1B7A5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44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CCB49372-A2DC-D0C7-9AE8-9C80DEC75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63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A24C69B6-B0D6-5351-7CF0-DE83BECAB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282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78C3E90D-DDD6-8470-8817-660A17CAC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018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C990B8C8-58A5-03C5-E810-0CFC245CC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210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D8B5B9E3-8155-C2CC-4BFC-ABEEFF744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402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B7256999-09E5-3147-E1FF-DF4231963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594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12CBBC9F-68EB-0491-614C-69FB91428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" y="3786"/>
              <a:ext cx="536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FA2272C8-539F-2395-3D35-500A2A5F0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670A6DD5-AE7F-F2A8-3C43-AEDA706C7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77892BB8-6709-BD92-68E2-FFA16D09C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F9E81F02-F238-2EE6-FE2B-DF941655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id="{CB00637B-DF0A-3EA5-7259-CFC1701CB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1297"/>
              <a:ext cx="124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What is needed and why</a:t>
              </a:r>
              <a:r>
                <a:rPr lang="sv-SE" sz="1100" b="1" dirty="0"/>
                <a:t>?</a:t>
              </a:r>
            </a:p>
          </p:txBody>
        </p: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BAC8ECFA-C92F-037D-3AC2-AF74EEAAB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1296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/>
                <a:t>Actions? </a:t>
              </a:r>
              <a:r>
                <a:rPr lang="sv-SE" sz="1100" b="1" dirty="0" err="1"/>
                <a:t>Next</a:t>
              </a:r>
              <a:r>
                <a:rPr lang="sv-SE" sz="1100" b="1" dirty="0"/>
                <a:t> steps?</a:t>
              </a:r>
              <a:endParaRPr sz="1100" noProof="1"/>
            </a:p>
          </p:txBody>
        </p:sp>
        <p:sp>
          <p:nvSpPr>
            <p:cNvPr id="31" name="Rectangle 24">
              <a:extLst>
                <a:ext uri="{FF2B5EF4-FFF2-40B4-BE49-F238E27FC236}">
                  <a16:creationId xmlns:a16="http://schemas.microsoft.com/office/drawing/2014/main" id="{8CE3E171-956C-74FA-1BBC-C36CF3157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1304"/>
              <a:ext cx="1266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Responsible</a:t>
              </a:r>
              <a:r>
                <a:rPr lang="sv-SE" sz="1100" b="1" dirty="0"/>
                <a:t>?              Support from?</a:t>
              </a:r>
              <a:endParaRPr sz="1100" noProof="1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A849E534-C4E2-23E1-7D55-44E5DA9D9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1300"/>
              <a:ext cx="1262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/>
                <a:t>To be </a:t>
              </a:r>
              <a:r>
                <a:rPr lang="sv-SE" sz="1100" b="1" dirty="0" err="1"/>
                <a:t>done</a:t>
              </a:r>
              <a:r>
                <a:rPr lang="sv-SE" sz="1100" b="1" dirty="0"/>
                <a:t> by? </a:t>
              </a:r>
              <a:endParaRPr sz="1100" noProof="1"/>
            </a:p>
          </p:txBody>
        </p:sp>
        <p:sp>
          <p:nvSpPr>
            <p:cNvPr id="33" name="Rectangle 26">
              <a:extLst>
                <a:ext uri="{FF2B5EF4-FFF2-40B4-BE49-F238E27FC236}">
                  <a16:creationId xmlns:a16="http://schemas.microsoft.com/office/drawing/2014/main" id="{2EBB2E0A-10CA-0F13-FB75-E98D52141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1301"/>
              <a:ext cx="423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Comments</a:t>
              </a:r>
              <a:endParaRPr sz="1100" noProof="1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1CB72BEA-5773-6813-BC88-855851B54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711"/>
              <a:ext cx="4578" cy="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marL="228600" indent="-228600">
                <a:spcAft>
                  <a:spcPct val="40000"/>
                </a:spcAft>
                <a:buFont typeface="+mj-lt"/>
                <a:buAutoNum type="arabicPeriod"/>
              </a:pPr>
              <a:r>
                <a:rPr lang="sv-SE" sz="1000" noProof="1">
                  <a:highlight>
                    <a:srgbClr val="FFFF00"/>
                  </a:highlight>
                </a:rPr>
                <a:t>Where are we headed and why: En vy där denna fråga besvaras under rubrikerna "Vart är vi på väg? Och varflör?</a:t>
              </a:r>
            </a:p>
            <a:p>
              <a:pPr marL="228600" indent="-228600">
                <a:spcAft>
                  <a:spcPct val="40000"/>
                </a:spcAft>
                <a:buFont typeface="+mj-lt"/>
                <a:buAutoNum type="arabicPeriod"/>
              </a:pPr>
              <a:r>
                <a:rPr lang="sv-SE" sz="1000" noProof="1">
                  <a:highlight>
                    <a:srgbClr val="FFFF00"/>
                  </a:highlight>
                </a:rPr>
                <a:t>Översta vy i Action Plan är en lista med ett antal Drojekt/Best Contributions. Dessa kan expanderas i ny vy så att hela Action Plan för denna uppgift blir synlig enligt nedan</a:t>
              </a:r>
              <a:endParaRPr sz="1000" noProof="1">
                <a:highlight>
                  <a:srgbClr val="FFFF00"/>
                </a:highlight>
              </a:endParaRPr>
            </a:p>
          </p:txBody>
        </p:sp>
        <p:sp>
          <p:nvSpPr>
            <p:cNvPr id="2" name="Line 21">
              <a:extLst>
                <a:ext uri="{FF2B5EF4-FFF2-40B4-BE49-F238E27FC236}">
                  <a16:creationId xmlns:a16="http://schemas.microsoft.com/office/drawing/2014/main" id="{861CD5CC-AC04-D10D-E784-DAFF9B519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" name="Line 20">
              <a:extLst>
                <a:ext uri="{FF2B5EF4-FFF2-40B4-BE49-F238E27FC236}">
                  <a16:creationId xmlns:a16="http://schemas.microsoft.com/office/drawing/2014/main" id="{B57D8AF0-F30F-7B9E-5BC9-556F01F59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2274B7E6-6D1C-9333-2085-2D12DE1FF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299"/>
              <a:ext cx="284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Status</a:t>
              </a:r>
              <a:endParaRPr sz="1100" noProof="1"/>
            </a:p>
          </p:txBody>
        </p:sp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B90CBC3C-41EE-C0B4-81A2-8F059A08F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D46FA4E9-D8FF-B2D1-ECAF-D69437F88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3" y="1264"/>
              <a:ext cx="1" cy="26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Rectangle 26">
              <a:extLst>
                <a:ext uri="{FF2B5EF4-FFF2-40B4-BE49-F238E27FC236}">
                  <a16:creationId xmlns:a16="http://schemas.microsoft.com/office/drawing/2014/main" id="{23AEC462-1882-3A7A-CDFA-9AE1446C6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1291"/>
              <a:ext cx="269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Notify</a:t>
              </a:r>
              <a:endParaRPr sz="1100" noProof="1"/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49670B71-6F92-580E-4C68-E9953351E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" y="1232"/>
              <a:ext cx="31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noProof="1"/>
                <a:t>Archive</a:t>
              </a:r>
            </a:p>
            <a:p>
              <a:pPr algn="ctr"/>
              <a:r>
                <a:rPr lang="sv-SE" sz="1100" b="1" noProof="1"/>
                <a:t>Delete</a:t>
              </a:r>
              <a:endParaRPr sz="1100" noProof="1"/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0FBB2AF6-FADC-CBCC-9BC0-9107B687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" y="1514"/>
              <a:ext cx="124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i="1" noProof="1">
                  <a:highlight>
                    <a:srgbClr val="FFFF00"/>
                  </a:highlight>
                </a:rPr>
                <a:t>Main problem or improvement area</a:t>
              </a:r>
              <a:endParaRPr lang="sv-SE" sz="1100" b="1" i="1" dirty="0">
                <a:highlight>
                  <a:srgbClr val="FFFF00"/>
                </a:highlight>
              </a:endParaRPr>
            </a:p>
          </p:txBody>
        </p: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C7D83B7A-8D30-168B-077B-AECCB013D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487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#1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96666FDC-23F0-8E62-1767-74F8297C8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690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#2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F25612D2-85D0-E3D0-6592-827B0083F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1893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#3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3E24A550-D6F8-9232-265D-0A38484E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096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Action step #4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A1DD631F-CFB4-8618-1BCF-7CC1CF9D6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2" y="2270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 err="1">
                  <a:highlight>
                    <a:srgbClr val="FFFF00"/>
                  </a:highlight>
                </a:rPr>
                <a:t>Until</a:t>
              </a:r>
              <a:r>
                <a:rPr lang="sv-SE" sz="1100" b="1" dirty="0">
                  <a:highlight>
                    <a:srgbClr val="FFFF00"/>
                  </a:highlight>
                </a:rPr>
                <a:t> </a:t>
              </a:r>
              <a:r>
                <a:rPr lang="sv-SE" sz="1100" b="1" dirty="0" err="1">
                  <a:highlight>
                    <a:srgbClr val="FFFF00"/>
                  </a:highlight>
                </a:rPr>
                <a:t>complete</a:t>
              </a:r>
              <a:r>
                <a:rPr lang="sv-SE" sz="1100" b="1" dirty="0">
                  <a:highlight>
                    <a:srgbClr val="FFFF00"/>
                  </a:highlight>
                </a:rPr>
                <a:t>...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21D5D852-CB62-233C-1E4E-D0855ACA4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1495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For action step #1 </a:t>
              </a:r>
              <a:endParaRPr sz="1100" noProof="1">
                <a:highlight>
                  <a:srgbClr val="FFFF00"/>
                </a:highlight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20490E6D-28FB-2007-7D1E-9A2455649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0" y="1677"/>
              <a:ext cx="1258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sv-SE" sz="1100" b="1" dirty="0">
                  <a:highlight>
                    <a:srgbClr val="FFFF00"/>
                  </a:highlight>
                </a:rPr>
                <a:t>For action step #2 </a:t>
              </a:r>
              <a:endParaRPr sz="1100" noProof="1">
                <a:highlight>
                  <a:srgbClr val="FFFF00"/>
                </a:highlight>
              </a:endParaRPr>
            </a:p>
          </p:txBody>
        </p:sp>
      </p:grpSp>
      <p:sp>
        <p:nvSpPr>
          <p:cNvPr id="41" name="textruta 40">
            <a:extLst>
              <a:ext uri="{FF2B5EF4-FFF2-40B4-BE49-F238E27FC236}">
                <a16:creationId xmlns:a16="http://schemas.microsoft.com/office/drawing/2014/main" id="{B352FB0F-EE58-CAC2-E5AC-3DB9FF7BAB0B}"/>
              </a:ext>
            </a:extLst>
          </p:cNvPr>
          <p:cNvSpPr txBox="1"/>
          <p:nvPr/>
        </p:nvSpPr>
        <p:spPr>
          <a:xfrm>
            <a:off x="506919" y="1187852"/>
            <a:ext cx="8633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Action Plan </a:t>
            </a:r>
            <a:r>
              <a:rPr lang="en-GB" dirty="0" err="1">
                <a:highlight>
                  <a:srgbClr val="FFFF00"/>
                </a:highlight>
              </a:rPr>
              <a:t>är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fokuserad</a:t>
            </a:r>
            <a:r>
              <a:rPr lang="en-GB" dirty="0">
                <a:highlight>
                  <a:srgbClr val="FFFF00"/>
                </a:highlight>
              </a:rPr>
              <a:t> mot </a:t>
            </a:r>
            <a:r>
              <a:rPr lang="en-GB" dirty="0" err="1">
                <a:highlight>
                  <a:srgbClr val="FFFF00"/>
                </a:highlight>
              </a:rPr>
              <a:t>ett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eller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fler</a:t>
            </a:r>
            <a:r>
              <a:rPr lang="en-GB" dirty="0">
                <a:highlight>
                  <a:srgbClr val="FFFF00"/>
                </a:highlight>
              </a:rPr>
              <a:t> Best Contributions </a:t>
            </a:r>
            <a:r>
              <a:rPr lang="en-GB" dirty="0" err="1">
                <a:highlight>
                  <a:srgbClr val="FFFF00"/>
                </a:highlight>
              </a:rPr>
              <a:t>eller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Prioriterade</a:t>
            </a:r>
            <a:r>
              <a:rPr lang="en-GB" dirty="0">
                <a:highlight>
                  <a:srgbClr val="FFFF00"/>
                </a:highlight>
              </a:rPr>
              <a:t> Projekt:</a:t>
            </a:r>
          </a:p>
        </p:txBody>
      </p:sp>
      <p:cxnSp>
        <p:nvCxnSpPr>
          <p:cNvPr id="49" name="Rak pil 48">
            <a:extLst>
              <a:ext uri="{FF2B5EF4-FFF2-40B4-BE49-F238E27FC236}">
                <a16:creationId xmlns:a16="http://schemas.microsoft.com/office/drawing/2014/main" id="{6B0AC2AB-376E-A93A-F2CF-47D9413F6C4D}"/>
              </a:ext>
            </a:extLst>
          </p:cNvPr>
          <p:cNvCxnSpPr>
            <a:cxnSpLocks/>
          </p:cNvCxnSpPr>
          <p:nvPr/>
        </p:nvCxnSpPr>
        <p:spPr>
          <a:xfrm flipH="1" flipV="1">
            <a:off x="2216082" y="3036161"/>
            <a:ext cx="1050499" cy="8604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0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A98E-2B8C-908A-332A-0A72843A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112899-0F1B-A51D-D848-394AD145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98292"/>
            <a:ext cx="3168047" cy="5384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#1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B1359BF-9442-317E-DECA-A444F27C7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1" y="2053727"/>
            <a:ext cx="5070475" cy="411638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endParaRPr lang="en-GB"/>
          </a:p>
        </p:txBody>
      </p:sp>
      <p:sp>
        <p:nvSpPr>
          <p:cNvPr id="10244" name="Line 4">
            <a:extLst>
              <a:ext uri="{FF2B5EF4-FFF2-40B4-BE49-F238E27FC236}">
                <a16:creationId xmlns:a16="http://schemas.microsoft.com/office/drawing/2014/main" id="{F801013F-7D0B-DB31-5520-D90DF9A8A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575419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ECC9A8C3-D5B0-8F51-B92D-71B0246A7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5349377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AB2C60AE-FA5F-F30E-E7C0-3C85BB62E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93345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B0359DE1-9F71-7939-3953-A89E0D7F1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52864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F3E548ED-463D-75F6-C648-BC9C342AD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411271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B2DE53CF-2C67-5D70-60AE-606403487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369520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646DFD9D-8364-A75E-CD36-C0F0E2A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3290391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31E7BAC0-1C81-6597-FAFF-9AA1658F0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87446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52BBA2B2-E284-DF0C-5853-CAE1C8182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469652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0B8A2D37-2C77-2563-4712-A4C11A554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2053727"/>
            <a:ext cx="50704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AB60C038-036A-B581-D5F7-F9152C2F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1" y="2053727"/>
            <a:ext cx="5070475" cy="4116388"/>
          </a:xfrm>
          <a:prstGeom prst="rect">
            <a:avLst/>
          </a:prstGeom>
          <a:noFill/>
          <a:ln w="11113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C41990E3-6264-92A3-A048-EBDC5D28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0" y="2053727"/>
            <a:ext cx="1588" cy="4116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33649EB7-D14B-7AE1-78F6-BAF245129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6170116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A83CFB47-8F80-B268-ABC2-3E9A07467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575419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C141E02D-3364-9466-43F1-F3875D68F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5349377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AF75F213-BEF1-A529-EFC3-EBE8EB897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93345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768463A0-ABCE-8865-87AF-1E82BA655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52864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1" name="Line 21">
            <a:extLst>
              <a:ext uri="{FF2B5EF4-FFF2-40B4-BE49-F238E27FC236}">
                <a16:creationId xmlns:a16="http://schemas.microsoft.com/office/drawing/2014/main" id="{3873461A-454E-E271-5014-84B16D0FF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4112716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2DFF1600-239E-26E5-3957-2329DE812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369520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1CDEDAF7-9E6E-4466-8E8E-9C911E375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3290391"/>
            <a:ext cx="285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39F2DE3E-1F82-183A-07CC-7187C92E5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4" y="288240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723BCFA9-FEDA-3801-B6DC-57A1636B7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2469652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6" name="Line 26">
            <a:extLst>
              <a:ext uri="{FF2B5EF4-FFF2-40B4-BE49-F238E27FC236}">
                <a16:creationId xmlns:a16="http://schemas.microsoft.com/office/drawing/2014/main" id="{C538D98F-4B25-1965-D527-131A3409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4776" y="2053727"/>
            <a:ext cx="2857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7" name="Line 27">
            <a:extLst>
              <a:ext uri="{FF2B5EF4-FFF2-40B4-BE49-F238E27FC236}">
                <a16:creationId xmlns:a16="http://schemas.microsoft.com/office/drawing/2014/main" id="{D7C8730D-EBF9-FE5D-8EFE-D0BAB46BA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1" y="6170116"/>
            <a:ext cx="50704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70E93405-326A-F314-F65C-459B017FC7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33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C86E848D-EF3F-81F5-4480-E86C49842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33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0" name="Line 30">
            <a:extLst>
              <a:ext uri="{FF2B5EF4-FFF2-40B4-BE49-F238E27FC236}">
                <a16:creationId xmlns:a16="http://schemas.microsoft.com/office/drawing/2014/main" id="{7E4994BC-CE8C-2DBF-EB23-22CAFFAB9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13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1" name="Line 31">
            <a:extLst>
              <a:ext uri="{FF2B5EF4-FFF2-40B4-BE49-F238E27FC236}">
                <a16:creationId xmlns:a16="http://schemas.microsoft.com/office/drawing/2014/main" id="{B927C88C-8198-B806-2181-BEF4F73BF3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97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2" name="Line 32">
            <a:extLst>
              <a:ext uri="{FF2B5EF4-FFF2-40B4-BE49-F238E27FC236}">
                <a16:creationId xmlns:a16="http://schemas.microsoft.com/office/drawing/2014/main" id="{DC940371-AA49-B581-5D86-A29E71F863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93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471793A2-BA3D-9146-892D-77436766CD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776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05F94741-3770-2934-A2BC-14657FA29F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7788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5" name="Line 35">
            <a:extLst>
              <a:ext uri="{FF2B5EF4-FFF2-40B4-BE49-F238E27FC236}">
                <a16:creationId xmlns:a16="http://schemas.microsoft.com/office/drawing/2014/main" id="{9F79BF4C-3E41-8803-17C7-BBEC7146A3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6" name="Line 36">
            <a:extLst>
              <a:ext uri="{FF2B5EF4-FFF2-40B4-BE49-F238E27FC236}">
                <a16:creationId xmlns:a16="http://schemas.microsoft.com/office/drawing/2014/main" id="{E44906C5-91FB-AED6-6D03-F689CB638F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41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2E4226AB-52CA-4B49-FAE8-B27266CBCA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37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8" name="Line 38">
            <a:extLst>
              <a:ext uri="{FF2B5EF4-FFF2-40B4-BE49-F238E27FC236}">
                <a16:creationId xmlns:a16="http://schemas.microsoft.com/office/drawing/2014/main" id="{662E5153-0299-980F-A215-E10808347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05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79" name="Line 39">
            <a:extLst>
              <a:ext uri="{FF2B5EF4-FFF2-40B4-BE49-F238E27FC236}">
                <a16:creationId xmlns:a16="http://schemas.microsoft.com/office/drawing/2014/main" id="{7497FC09-27BD-6863-E1A0-2DA361FFB1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90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0" name="Line 40">
            <a:extLst>
              <a:ext uri="{FF2B5EF4-FFF2-40B4-BE49-F238E27FC236}">
                <a16:creationId xmlns:a16="http://schemas.microsoft.com/office/drawing/2014/main" id="{9F355A3C-E71B-9393-D0DC-9A743A155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857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1" name="Line 41">
            <a:extLst>
              <a:ext uri="{FF2B5EF4-FFF2-40B4-BE49-F238E27FC236}">
                <a16:creationId xmlns:a16="http://schemas.microsoft.com/office/drawing/2014/main" id="{DD0CD854-604B-081D-3AA4-08E48C8BD3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701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2" name="Line 42">
            <a:extLst>
              <a:ext uri="{FF2B5EF4-FFF2-40B4-BE49-F238E27FC236}">
                <a16:creationId xmlns:a16="http://schemas.microsoft.com/office/drawing/2014/main" id="{15CE45FD-9E4E-3FB8-A26F-7BCF1BDBB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656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3" name="Line 43">
            <a:extLst>
              <a:ext uri="{FF2B5EF4-FFF2-40B4-BE49-F238E27FC236}">
                <a16:creationId xmlns:a16="http://schemas.microsoft.com/office/drawing/2014/main" id="{B8436CC2-7ECA-C3D9-AA95-C9F70800C5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4" name="Line 44">
            <a:extLst>
              <a:ext uri="{FF2B5EF4-FFF2-40B4-BE49-F238E27FC236}">
                <a16:creationId xmlns:a16="http://schemas.microsoft.com/office/drawing/2014/main" id="{17DD7141-15BF-C48B-6974-D40B63F14C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34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5" name="Line 45">
            <a:extLst>
              <a:ext uri="{FF2B5EF4-FFF2-40B4-BE49-F238E27FC236}">
                <a16:creationId xmlns:a16="http://schemas.microsoft.com/office/drawing/2014/main" id="{41D47C18-88F2-EB5E-D681-287744727D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2298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6" name="Line 46">
            <a:extLst>
              <a:ext uri="{FF2B5EF4-FFF2-40B4-BE49-F238E27FC236}">
                <a16:creationId xmlns:a16="http://schemas.microsoft.com/office/drawing/2014/main" id="{A1BC5AC7-D753-D0A6-5C61-8C7CDA8E84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14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7" name="Line 47">
            <a:extLst>
              <a:ext uri="{FF2B5EF4-FFF2-40B4-BE49-F238E27FC236}">
                <a16:creationId xmlns:a16="http://schemas.microsoft.com/office/drawing/2014/main" id="{160FC58E-282B-1CE0-7985-715B9FDC0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0975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8" name="Line 48">
            <a:extLst>
              <a:ext uri="{FF2B5EF4-FFF2-40B4-BE49-F238E27FC236}">
                <a16:creationId xmlns:a16="http://schemas.microsoft.com/office/drawing/2014/main" id="{C7B3AF7C-4DDC-8733-53B7-4E5AF1F774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9414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89" name="Line 49">
            <a:extLst>
              <a:ext uri="{FF2B5EF4-FFF2-40B4-BE49-F238E27FC236}">
                <a16:creationId xmlns:a16="http://schemas.microsoft.com/office/drawing/2014/main" id="{EFFBDA4B-0078-44C3-E319-5D9D662C63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2785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B81D680C-446C-2688-E5A8-630796A56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7400" y="6170116"/>
            <a:ext cx="0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1" name="Line 51">
            <a:extLst>
              <a:ext uri="{FF2B5EF4-FFF2-40B4-BE49-F238E27FC236}">
                <a16:creationId xmlns:a16="http://schemas.microsoft.com/office/drawing/2014/main" id="{24ACAE8E-9ED0-3FE5-D34D-32AFAA908A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5839" y="6170116"/>
            <a:ext cx="1587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0E36E6F3-89C2-7AE7-6A12-3F3036C46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881A920D-E575-79F1-AB71-7D67B28E41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3825" y="6170116"/>
            <a:ext cx="1588" cy="333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350" name="Group 54">
            <a:extLst>
              <a:ext uri="{FF2B5EF4-FFF2-40B4-BE49-F238E27FC236}">
                <a16:creationId xmlns:a16="http://schemas.microsoft.com/office/drawing/2014/main" id="{28C96FFB-92D5-88E4-1114-010FCA0ADA9F}"/>
              </a:ext>
            </a:extLst>
          </p:cNvPr>
          <p:cNvGrpSpPr>
            <a:grpSpLocks/>
          </p:cNvGrpSpPr>
          <p:nvPr/>
        </p:nvGrpSpPr>
        <p:grpSpPr bwMode="auto">
          <a:xfrm>
            <a:off x="2792413" y="2514103"/>
            <a:ext cx="4851400" cy="1952625"/>
            <a:chOff x="905" y="1202"/>
            <a:chExt cx="3464" cy="1230"/>
          </a:xfrm>
        </p:grpSpPr>
        <p:sp>
          <p:nvSpPr>
            <p:cNvPr id="10447" name="Line 55">
              <a:extLst>
                <a:ext uri="{FF2B5EF4-FFF2-40B4-BE49-F238E27FC236}">
                  <a16:creationId xmlns:a16="http://schemas.microsoft.com/office/drawing/2014/main" id="{8FCD5731-911E-B479-2C69-C32C25F6A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5" y="2209"/>
              <a:ext cx="278" cy="223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48" name="Line 56">
              <a:extLst>
                <a:ext uri="{FF2B5EF4-FFF2-40B4-BE49-F238E27FC236}">
                  <a16:creationId xmlns:a16="http://schemas.microsoft.com/office/drawing/2014/main" id="{AD628757-A08A-B613-F111-59C5F9248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3" y="2112"/>
              <a:ext cx="142" cy="9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49" name="Line 57">
              <a:extLst>
                <a:ext uri="{FF2B5EF4-FFF2-40B4-BE49-F238E27FC236}">
                  <a16:creationId xmlns:a16="http://schemas.microsoft.com/office/drawing/2014/main" id="{F0868585-9BDF-D8D4-B832-9A8A77CED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5" y="2002"/>
              <a:ext cx="149" cy="11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0" name="Line 58">
              <a:extLst>
                <a:ext uri="{FF2B5EF4-FFF2-40B4-BE49-F238E27FC236}">
                  <a16:creationId xmlns:a16="http://schemas.microsoft.com/office/drawing/2014/main" id="{386A1FCA-5E2F-D619-47C6-FFE8E5D63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4" y="1898"/>
              <a:ext cx="142" cy="104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1" name="Line 59">
              <a:extLst>
                <a:ext uri="{FF2B5EF4-FFF2-40B4-BE49-F238E27FC236}">
                  <a16:creationId xmlns:a16="http://schemas.microsoft.com/office/drawing/2014/main" id="{B72C071F-B5B0-4E80-E9A0-A348541BC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898"/>
              <a:ext cx="149" cy="48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2" name="Line 60">
              <a:extLst>
                <a:ext uri="{FF2B5EF4-FFF2-40B4-BE49-F238E27FC236}">
                  <a16:creationId xmlns:a16="http://schemas.microsoft.com/office/drawing/2014/main" id="{91701924-791D-D7CA-86A2-638228281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5" y="1774"/>
              <a:ext cx="142" cy="172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3" name="Line 61">
              <a:extLst>
                <a:ext uri="{FF2B5EF4-FFF2-40B4-BE49-F238E27FC236}">
                  <a16:creationId xmlns:a16="http://schemas.microsoft.com/office/drawing/2014/main" id="{226DDBAF-9796-26D8-40F0-F4130A4DF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" y="1774"/>
              <a:ext cx="141" cy="2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4" name="Line 62">
              <a:extLst>
                <a:ext uri="{FF2B5EF4-FFF2-40B4-BE49-F238E27FC236}">
                  <a16:creationId xmlns:a16="http://schemas.microsoft.com/office/drawing/2014/main" id="{8C10EFEF-679F-68F6-0D40-25A7696B6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1946"/>
              <a:ext cx="149" cy="118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5" name="Line 63">
              <a:extLst>
                <a:ext uri="{FF2B5EF4-FFF2-40B4-BE49-F238E27FC236}">
                  <a16:creationId xmlns:a16="http://schemas.microsoft.com/office/drawing/2014/main" id="{1604F7A7-20CF-3D67-50DB-B60037F67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1857"/>
              <a:ext cx="142" cy="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6" name="Line 64">
              <a:extLst>
                <a:ext uri="{FF2B5EF4-FFF2-40B4-BE49-F238E27FC236}">
                  <a16:creationId xmlns:a16="http://schemas.microsoft.com/office/drawing/2014/main" id="{F5F9D2C8-2844-3F9C-1A71-F9FCCE059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1857"/>
              <a:ext cx="245" cy="16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7" name="Line 65">
              <a:extLst>
                <a:ext uri="{FF2B5EF4-FFF2-40B4-BE49-F238E27FC236}">
                  <a16:creationId xmlns:a16="http://schemas.microsoft.com/office/drawing/2014/main" id="{FF285A00-3FE0-17BE-CB8B-DAF4CBF1E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4" y="1560"/>
              <a:ext cx="188" cy="464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8" name="Line 66">
              <a:extLst>
                <a:ext uri="{FF2B5EF4-FFF2-40B4-BE49-F238E27FC236}">
                  <a16:creationId xmlns:a16="http://schemas.microsoft.com/office/drawing/2014/main" id="{61A661E2-8BF8-A6D9-E943-15521157B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560"/>
              <a:ext cx="149" cy="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59" name="Line 67">
              <a:extLst>
                <a:ext uri="{FF2B5EF4-FFF2-40B4-BE49-F238E27FC236}">
                  <a16:creationId xmlns:a16="http://schemas.microsoft.com/office/drawing/2014/main" id="{58AA1E27-67A3-15B0-B9DE-C9EB55989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" y="1650"/>
              <a:ext cx="142" cy="4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0" name="Line 68">
              <a:extLst>
                <a:ext uri="{FF2B5EF4-FFF2-40B4-BE49-F238E27FC236}">
                  <a16:creationId xmlns:a16="http://schemas.microsoft.com/office/drawing/2014/main" id="{AD7EE798-2554-C17F-4A77-6FDD655B6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1691"/>
              <a:ext cx="149" cy="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1" name="Line 69">
              <a:extLst>
                <a:ext uri="{FF2B5EF4-FFF2-40B4-BE49-F238E27FC236}">
                  <a16:creationId xmlns:a16="http://schemas.microsoft.com/office/drawing/2014/main" id="{D1D8B198-E7CD-869C-1D31-F6F6D7216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2" y="1602"/>
              <a:ext cx="142" cy="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2" name="Line 70">
              <a:extLst>
                <a:ext uri="{FF2B5EF4-FFF2-40B4-BE49-F238E27FC236}">
                  <a16:creationId xmlns:a16="http://schemas.microsoft.com/office/drawing/2014/main" id="{F0799D78-1C81-B1CD-85A2-564801EC0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" y="1602"/>
              <a:ext cx="142" cy="27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3" name="Line 71">
              <a:extLst>
                <a:ext uri="{FF2B5EF4-FFF2-40B4-BE49-F238E27FC236}">
                  <a16:creationId xmlns:a16="http://schemas.microsoft.com/office/drawing/2014/main" id="{3C9A72E1-BAAF-CD49-711B-2415FDBED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6" y="1560"/>
              <a:ext cx="149" cy="6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4" name="Line 72">
              <a:extLst>
                <a:ext uri="{FF2B5EF4-FFF2-40B4-BE49-F238E27FC236}">
                  <a16:creationId xmlns:a16="http://schemas.microsoft.com/office/drawing/2014/main" id="{D225EF18-98A1-2FA1-1E8F-4C1AEDA4F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5" y="1429"/>
              <a:ext cx="142" cy="13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5" name="Line 73">
              <a:extLst>
                <a:ext uri="{FF2B5EF4-FFF2-40B4-BE49-F238E27FC236}">
                  <a16:creationId xmlns:a16="http://schemas.microsoft.com/office/drawing/2014/main" id="{0AD47216-7129-8A26-07C6-15C172999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429"/>
              <a:ext cx="149" cy="22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6" name="Line 74">
              <a:extLst>
                <a:ext uri="{FF2B5EF4-FFF2-40B4-BE49-F238E27FC236}">
                  <a16:creationId xmlns:a16="http://schemas.microsoft.com/office/drawing/2014/main" id="{7044C3A7-5962-04D7-0D5C-1E553AA13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560"/>
              <a:ext cx="142" cy="9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7" name="Line 75">
              <a:extLst>
                <a:ext uri="{FF2B5EF4-FFF2-40B4-BE49-F238E27FC236}">
                  <a16:creationId xmlns:a16="http://schemas.microsoft.com/office/drawing/2014/main" id="{1B70F670-5FC0-D90A-132C-30A78AAB7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" y="1491"/>
              <a:ext cx="142" cy="6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68" name="Line 76">
              <a:extLst>
                <a:ext uri="{FF2B5EF4-FFF2-40B4-BE49-F238E27FC236}">
                  <a16:creationId xmlns:a16="http://schemas.microsoft.com/office/drawing/2014/main" id="{D9A2067C-FC70-A51A-EAF7-3C2B23BD3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0" y="1202"/>
              <a:ext cx="149" cy="289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55373" name="Group 77">
            <a:extLst>
              <a:ext uri="{FF2B5EF4-FFF2-40B4-BE49-F238E27FC236}">
                <a16:creationId xmlns:a16="http://schemas.microsoft.com/office/drawing/2014/main" id="{695D0BDF-D1F9-0C25-1272-F68245B49E4F}"/>
              </a:ext>
            </a:extLst>
          </p:cNvPr>
          <p:cNvGrpSpPr>
            <a:grpSpLocks/>
          </p:cNvGrpSpPr>
          <p:nvPr/>
        </p:nvGrpSpPr>
        <p:grpSpPr bwMode="auto">
          <a:xfrm rot="-247562">
            <a:off x="2716213" y="2877640"/>
            <a:ext cx="4813300" cy="1441450"/>
            <a:chOff x="892" y="1471"/>
            <a:chExt cx="3477" cy="1000"/>
          </a:xfrm>
        </p:grpSpPr>
        <p:sp>
          <p:nvSpPr>
            <p:cNvPr id="10422" name="Line 78">
              <a:extLst>
                <a:ext uri="{FF2B5EF4-FFF2-40B4-BE49-F238E27FC236}">
                  <a16:creationId xmlns:a16="http://schemas.microsoft.com/office/drawing/2014/main" id="{7D339F30-45D2-0F7B-C3F2-8BDC0B834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4" y="1719"/>
              <a:ext cx="142" cy="4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3" name="Line 79">
              <a:extLst>
                <a:ext uri="{FF2B5EF4-FFF2-40B4-BE49-F238E27FC236}">
                  <a16:creationId xmlns:a16="http://schemas.microsoft.com/office/drawing/2014/main" id="{23886771-801F-7B7D-9239-140966316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7" y="1595"/>
              <a:ext cx="149" cy="4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grpSp>
          <p:nvGrpSpPr>
            <p:cNvPr id="10424" name="Group 80">
              <a:extLst>
                <a:ext uri="{FF2B5EF4-FFF2-40B4-BE49-F238E27FC236}">
                  <a16:creationId xmlns:a16="http://schemas.microsoft.com/office/drawing/2014/main" id="{77B732FE-1ED8-2FCF-64AB-B427411A7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2" y="1471"/>
              <a:ext cx="3477" cy="1000"/>
              <a:chOff x="892" y="1471"/>
              <a:chExt cx="3477" cy="1000"/>
            </a:xfrm>
          </p:grpSpPr>
          <p:sp>
            <p:nvSpPr>
              <p:cNvPr id="10425" name="Line 81">
                <a:extLst>
                  <a:ext uri="{FF2B5EF4-FFF2-40B4-BE49-F238E27FC236}">
                    <a16:creationId xmlns:a16="http://schemas.microsoft.com/office/drawing/2014/main" id="{60726184-282C-4E1C-D9D2-F20961520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2" y="2429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6" name="Line 82">
                <a:extLst>
                  <a:ext uri="{FF2B5EF4-FFF2-40B4-BE49-F238E27FC236}">
                    <a16:creationId xmlns:a16="http://schemas.microsoft.com/office/drawing/2014/main" id="{6DDBFC0E-4879-CB08-2ED1-6E024EF7F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1" y="2388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7" name="Line 83">
                <a:extLst>
                  <a:ext uri="{FF2B5EF4-FFF2-40B4-BE49-F238E27FC236}">
                    <a16:creationId xmlns:a16="http://schemas.microsoft.com/office/drawing/2014/main" id="{1F880835-4796-33C7-585A-02E1AA1AD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2346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8" name="Line 84">
                <a:extLst>
                  <a:ext uri="{FF2B5EF4-FFF2-40B4-BE49-F238E27FC236}">
                    <a16:creationId xmlns:a16="http://schemas.microsoft.com/office/drawing/2014/main" id="{32FE12C6-A91D-6542-99A7-7E163607E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5" y="2305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29" name="Line 85">
                <a:extLst>
                  <a:ext uri="{FF2B5EF4-FFF2-40B4-BE49-F238E27FC236}">
                    <a16:creationId xmlns:a16="http://schemas.microsoft.com/office/drawing/2014/main" id="{51049535-3B4B-C3D3-AAB0-4B2D332B2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4" y="2264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0" name="Line 86">
                <a:extLst>
                  <a:ext uri="{FF2B5EF4-FFF2-40B4-BE49-F238E27FC236}">
                    <a16:creationId xmlns:a16="http://schemas.microsoft.com/office/drawing/2014/main" id="{200F3522-F08A-93A6-148C-3568A5960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6" y="2222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1" name="Line 87">
                <a:extLst>
                  <a:ext uri="{FF2B5EF4-FFF2-40B4-BE49-F238E27FC236}">
                    <a16:creationId xmlns:a16="http://schemas.microsoft.com/office/drawing/2014/main" id="{D8BBE50E-C304-8140-E74D-363BC6AE0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5" y="2174"/>
                <a:ext cx="142" cy="48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2" name="Line 88">
                <a:extLst>
                  <a:ext uri="{FF2B5EF4-FFF2-40B4-BE49-F238E27FC236}">
                    <a16:creationId xmlns:a16="http://schemas.microsoft.com/office/drawing/2014/main" id="{158AFA8A-C9FE-EDCD-2227-61A0B557E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7" y="2133"/>
                <a:ext cx="141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3" name="Line 89">
                <a:extLst>
                  <a:ext uri="{FF2B5EF4-FFF2-40B4-BE49-F238E27FC236}">
                    <a16:creationId xmlns:a16="http://schemas.microsoft.com/office/drawing/2014/main" id="{0543747B-C9F7-B653-C3C3-2F26E2A33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8" y="2091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4" name="Line 90">
                <a:extLst>
                  <a:ext uri="{FF2B5EF4-FFF2-40B4-BE49-F238E27FC236}">
                    <a16:creationId xmlns:a16="http://schemas.microsoft.com/office/drawing/2014/main" id="{1F15DB5B-7B2D-F6BA-262B-514A379D0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2050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5" name="Line 91">
                <a:extLst>
                  <a:ext uri="{FF2B5EF4-FFF2-40B4-BE49-F238E27FC236}">
                    <a16:creationId xmlns:a16="http://schemas.microsoft.com/office/drawing/2014/main" id="{7B23CFFE-F9EF-9A1E-6EF1-72EBB42CD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9" y="2009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6" name="Line 92">
                <a:extLst>
                  <a:ext uri="{FF2B5EF4-FFF2-40B4-BE49-F238E27FC236}">
                    <a16:creationId xmlns:a16="http://schemas.microsoft.com/office/drawing/2014/main" id="{6552EFA7-2E5A-9A8F-B956-D7A1E080C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8" y="1967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7" name="Line 93">
                <a:extLst>
                  <a:ext uri="{FF2B5EF4-FFF2-40B4-BE49-F238E27FC236}">
                    <a16:creationId xmlns:a16="http://schemas.microsoft.com/office/drawing/2014/main" id="{DB79F43E-3B9E-27DD-9CB3-8859543FD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30" y="1926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8" name="Line 94">
                <a:extLst>
                  <a:ext uri="{FF2B5EF4-FFF2-40B4-BE49-F238E27FC236}">
                    <a16:creationId xmlns:a16="http://schemas.microsoft.com/office/drawing/2014/main" id="{CE9D63E2-CAF6-80AC-1B30-9C2EA25A3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2" y="1884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39" name="Line 95">
                <a:extLst>
                  <a:ext uri="{FF2B5EF4-FFF2-40B4-BE49-F238E27FC236}">
                    <a16:creationId xmlns:a16="http://schemas.microsoft.com/office/drawing/2014/main" id="{CC7C5A1E-748D-0433-7FDE-04837537B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1" y="1843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0" name="Line 96">
                <a:extLst>
                  <a:ext uri="{FF2B5EF4-FFF2-40B4-BE49-F238E27FC236}">
                    <a16:creationId xmlns:a16="http://schemas.microsoft.com/office/drawing/2014/main" id="{4B7A522B-E9AC-4867-7C0C-3477293E5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3" y="1802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1" name="Line 97">
                <a:extLst>
                  <a:ext uri="{FF2B5EF4-FFF2-40B4-BE49-F238E27FC236}">
                    <a16:creationId xmlns:a16="http://schemas.microsoft.com/office/drawing/2014/main" id="{7D0BF818-FCC1-62C0-9724-CAE2F5E9D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2" y="1760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2" name="Line 98">
                <a:extLst>
                  <a:ext uri="{FF2B5EF4-FFF2-40B4-BE49-F238E27FC236}">
                    <a16:creationId xmlns:a16="http://schemas.microsoft.com/office/drawing/2014/main" id="{8194F34A-0B77-4377-8662-499B5A3AE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1677"/>
                <a:ext cx="149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3" name="Line 99">
                <a:extLst>
                  <a:ext uri="{FF2B5EF4-FFF2-40B4-BE49-F238E27FC236}">
                    <a16:creationId xmlns:a16="http://schemas.microsoft.com/office/drawing/2014/main" id="{9169D69F-C512-D8E8-89B7-F2D1C0C4D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5" y="1636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4" name="Line 100">
                <a:extLst>
                  <a:ext uri="{FF2B5EF4-FFF2-40B4-BE49-F238E27FC236}">
                    <a16:creationId xmlns:a16="http://schemas.microsoft.com/office/drawing/2014/main" id="{110F102C-8DE5-57D8-BE78-EDDED0E40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1553"/>
                <a:ext cx="142" cy="42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5" name="Line 101">
                <a:extLst>
                  <a:ext uri="{FF2B5EF4-FFF2-40B4-BE49-F238E27FC236}">
                    <a16:creationId xmlns:a16="http://schemas.microsoft.com/office/drawing/2014/main" id="{D6E02554-BCC3-5F94-3DF0-A798C1C2B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8" y="1512"/>
                <a:ext cx="142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446" name="Line 102">
                <a:extLst>
                  <a:ext uri="{FF2B5EF4-FFF2-40B4-BE49-F238E27FC236}">
                    <a16:creationId xmlns:a16="http://schemas.microsoft.com/office/drawing/2014/main" id="{80AE1527-9080-82B9-3CD1-CFE50F890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0" y="1471"/>
                <a:ext cx="149" cy="41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grpSp>
        <p:nvGrpSpPr>
          <p:cNvPr id="55399" name="Group 103">
            <a:extLst>
              <a:ext uri="{FF2B5EF4-FFF2-40B4-BE49-F238E27FC236}">
                <a16:creationId xmlns:a16="http://schemas.microsoft.com/office/drawing/2014/main" id="{D78A939F-8E4C-3A9B-67EB-AB7E735C5540}"/>
              </a:ext>
            </a:extLst>
          </p:cNvPr>
          <p:cNvGrpSpPr>
            <a:grpSpLocks/>
          </p:cNvGrpSpPr>
          <p:nvPr/>
        </p:nvGrpSpPr>
        <p:grpSpPr bwMode="auto">
          <a:xfrm>
            <a:off x="2665413" y="2666502"/>
            <a:ext cx="4870450" cy="1588"/>
            <a:chOff x="870" y="3838"/>
            <a:chExt cx="3477" cy="1"/>
          </a:xfrm>
        </p:grpSpPr>
        <p:sp>
          <p:nvSpPr>
            <p:cNvPr id="10398" name="Line 104">
              <a:extLst>
                <a:ext uri="{FF2B5EF4-FFF2-40B4-BE49-F238E27FC236}">
                  <a16:creationId xmlns:a16="http://schemas.microsoft.com/office/drawing/2014/main" id="{E08D2011-1F50-3BC0-72E3-26EE60836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9" name="Line 105">
              <a:extLst>
                <a:ext uri="{FF2B5EF4-FFF2-40B4-BE49-F238E27FC236}">
                  <a16:creationId xmlns:a16="http://schemas.microsoft.com/office/drawing/2014/main" id="{8AB899C4-7E52-260F-F2CA-0FCF3CDAA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0" name="Line 106">
              <a:extLst>
                <a:ext uri="{FF2B5EF4-FFF2-40B4-BE49-F238E27FC236}">
                  <a16:creationId xmlns:a16="http://schemas.microsoft.com/office/drawing/2014/main" id="{4E6494B7-BEC8-648B-7BE3-058A49295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1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1" name="Line 107">
              <a:extLst>
                <a:ext uri="{FF2B5EF4-FFF2-40B4-BE49-F238E27FC236}">
                  <a16:creationId xmlns:a16="http://schemas.microsoft.com/office/drawing/2014/main" id="{D8029128-9F7F-6C22-7FFB-B36073845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3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2" name="Line 108">
              <a:extLst>
                <a:ext uri="{FF2B5EF4-FFF2-40B4-BE49-F238E27FC236}">
                  <a16:creationId xmlns:a16="http://schemas.microsoft.com/office/drawing/2014/main" id="{B006D22B-398F-707C-AAB8-06BF6D8F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3" name="Line 109">
              <a:extLst>
                <a:ext uri="{FF2B5EF4-FFF2-40B4-BE49-F238E27FC236}">
                  <a16:creationId xmlns:a16="http://schemas.microsoft.com/office/drawing/2014/main" id="{1A365F22-C0B6-7547-9996-C06A530FC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4" name="Line 110">
              <a:extLst>
                <a:ext uri="{FF2B5EF4-FFF2-40B4-BE49-F238E27FC236}">
                  <a16:creationId xmlns:a16="http://schemas.microsoft.com/office/drawing/2014/main" id="{6F571893-DF82-39C4-6D6C-4482AB0D8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5" name="Line 111">
              <a:extLst>
                <a:ext uri="{FF2B5EF4-FFF2-40B4-BE49-F238E27FC236}">
                  <a16:creationId xmlns:a16="http://schemas.microsoft.com/office/drawing/2014/main" id="{577B9CDE-18BD-97B5-BE12-21E0C7EF3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5" y="3838"/>
              <a:ext cx="141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6" name="Line 112">
              <a:extLst>
                <a:ext uri="{FF2B5EF4-FFF2-40B4-BE49-F238E27FC236}">
                  <a16:creationId xmlns:a16="http://schemas.microsoft.com/office/drawing/2014/main" id="{775391CD-9725-8657-F80A-1FF0EB6F5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7" name="Line 113">
              <a:extLst>
                <a:ext uri="{FF2B5EF4-FFF2-40B4-BE49-F238E27FC236}">
                  <a16:creationId xmlns:a16="http://schemas.microsoft.com/office/drawing/2014/main" id="{4BB3ECB4-54AF-ACFC-0F3D-F216B06FD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8" name="Line 114">
              <a:extLst>
                <a:ext uri="{FF2B5EF4-FFF2-40B4-BE49-F238E27FC236}">
                  <a16:creationId xmlns:a16="http://schemas.microsoft.com/office/drawing/2014/main" id="{898B72E7-094D-288D-0143-64ED3A473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09" name="Line 115">
              <a:extLst>
                <a:ext uri="{FF2B5EF4-FFF2-40B4-BE49-F238E27FC236}">
                  <a16:creationId xmlns:a16="http://schemas.microsoft.com/office/drawing/2014/main" id="{0B12714D-E668-DC48-2D89-93CCF19AC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0" name="Line 116">
              <a:extLst>
                <a:ext uri="{FF2B5EF4-FFF2-40B4-BE49-F238E27FC236}">
                  <a16:creationId xmlns:a16="http://schemas.microsoft.com/office/drawing/2014/main" id="{C84D7480-3E33-27EA-AB18-2A393B53A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1" name="Line 117">
              <a:extLst>
                <a:ext uri="{FF2B5EF4-FFF2-40B4-BE49-F238E27FC236}">
                  <a16:creationId xmlns:a16="http://schemas.microsoft.com/office/drawing/2014/main" id="{E504F632-E2AC-C8C8-55D8-4E298DD8A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2" name="Line 118">
              <a:extLst>
                <a:ext uri="{FF2B5EF4-FFF2-40B4-BE49-F238E27FC236}">
                  <a16:creationId xmlns:a16="http://schemas.microsoft.com/office/drawing/2014/main" id="{86D88ECD-9680-7134-1F84-0913FD476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3" name="Line 119">
              <a:extLst>
                <a:ext uri="{FF2B5EF4-FFF2-40B4-BE49-F238E27FC236}">
                  <a16:creationId xmlns:a16="http://schemas.microsoft.com/office/drawing/2014/main" id="{1BBA0766-816B-21B3-F9CD-C0F2C1AA1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1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4" name="Line 120">
              <a:extLst>
                <a:ext uri="{FF2B5EF4-FFF2-40B4-BE49-F238E27FC236}">
                  <a16:creationId xmlns:a16="http://schemas.microsoft.com/office/drawing/2014/main" id="{4C23BB4F-1A81-015E-B179-7F2B9E3B4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0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5" name="Line 121">
              <a:extLst>
                <a:ext uri="{FF2B5EF4-FFF2-40B4-BE49-F238E27FC236}">
                  <a16:creationId xmlns:a16="http://schemas.microsoft.com/office/drawing/2014/main" id="{1B6911E7-F679-B3D9-E5C5-7FE82E63C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6" name="Line 122">
              <a:extLst>
                <a:ext uri="{FF2B5EF4-FFF2-40B4-BE49-F238E27FC236}">
                  <a16:creationId xmlns:a16="http://schemas.microsoft.com/office/drawing/2014/main" id="{2993D0C6-2A50-16DB-84FF-A94BC6223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7" name="Line 123">
              <a:extLst>
                <a:ext uri="{FF2B5EF4-FFF2-40B4-BE49-F238E27FC236}">
                  <a16:creationId xmlns:a16="http://schemas.microsoft.com/office/drawing/2014/main" id="{459DE110-2E66-588B-3390-B9A5D2399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3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8" name="Line 124">
              <a:extLst>
                <a:ext uri="{FF2B5EF4-FFF2-40B4-BE49-F238E27FC236}">
                  <a16:creationId xmlns:a16="http://schemas.microsoft.com/office/drawing/2014/main" id="{D96B101C-4C76-14F2-32C8-C1F177DE0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19" name="Line 125">
              <a:extLst>
                <a:ext uri="{FF2B5EF4-FFF2-40B4-BE49-F238E27FC236}">
                  <a16:creationId xmlns:a16="http://schemas.microsoft.com/office/drawing/2014/main" id="{8D742451-26B5-9143-86A6-F90AF35F2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0" name="Line 126">
              <a:extLst>
                <a:ext uri="{FF2B5EF4-FFF2-40B4-BE49-F238E27FC236}">
                  <a16:creationId xmlns:a16="http://schemas.microsoft.com/office/drawing/2014/main" id="{CB38F582-DF71-AD49-844A-3B42A5FB5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3838"/>
              <a:ext cx="142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421" name="Line 127">
              <a:extLst>
                <a:ext uri="{FF2B5EF4-FFF2-40B4-BE49-F238E27FC236}">
                  <a16:creationId xmlns:a16="http://schemas.microsoft.com/office/drawing/2014/main" id="{8211214C-65D4-C9D3-AF5F-0823990DA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8" y="3838"/>
              <a:ext cx="149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55424" name="Rectangle 128">
            <a:extLst>
              <a:ext uri="{FF2B5EF4-FFF2-40B4-BE49-F238E27FC236}">
                <a16:creationId xmlns:a16="http://schemas.microsoft.com/office/drawing/2014/main" id="{978770A8-D31D-7638-0569-AFD38A65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926" y="1375226"/>
            <a:ext cx="45653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600" b="1" u="sng" err="1">
                <a:solidFill>
                  <a:srgbClr val="000000"/>
                </a:solidFill>
              </a:rPr>
              <a:t>Share</a:t>
            </a:r>
            <a:r>
              <a:rPr lang="sv-SE" sz="1600" b="1" u="sng">
                <a:solidFill>
                  <a:srgbClr val="000000"/>
                </a:solidFill>
              </a:rPr>
              <a:t>, </a:t>
            </a:r>
            <a:r>
              <a:rPr lang="sv-SE" sz="1600" b="1" u="sng" err="1">
                <a:solidFill>
                  <a:srgbClr val="000000"/>
                </a:solidFill>
              </a:rPr>
              <a:t>of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worked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hours</a:t>
            </a:r>
            <a:r>
              <a:rPr lang="sv-SE" sz="1600" b="1" u="sng">
                <a:solidFill>
                  <a:srgbClr val="000000"/>
                </a:solidFill>
              </a:rPr>
              <a:t>, </a:t>
            </a:r>
            <a:r>
              <a:rPr lang="sv-SE" sz="1600" b="1" u="sng" err="1">
                <a:solidFill>
                  <a:srgbClr val="000000"/>
                </a:solidFill>
              </a:rPr>
              <a:t>spent</a:t>
            </a:r>
            <a:r>
              <a:rPr lang="sv-SE" sz="1600" b="1" u="sng">
                <a:solidFill>
                  <a:srgbClr val="000000"/>
                </a:solidFill>
              </a:rPr>
              <a:t> </a:t>
            </a:r>
            <a:r>
              <a:rPr lang="sv-SE" sz="1600" b="1" u="sng" err="1">
                <a:solidFill>
                  <a:srgbClr val="000000"/>
                </a:solidFill>
              </a:rPr>
              <a:t>with</a:t>
            </a:r>
            <a:r>
              <a:rPr lang="sv-SE" sz="1600" b="1" u="sng">
                <a:solidFill>
                  <a:srgbClr val="000000"/>
                </a:solidFill>
              </a:rPr>
              <a:t> a </a:t>
            </a:r>
            <a:r>
              <a:rPr lang="sv-SE" sz="1600" b="1" u="sng" err="1">
                <a:solidFill>
                  <a:srgbClr val="000000"/>
                </a:solidFill>
              </a:rPr>
              <a:t>customer</a:t>
            </a:r>
            <a:endParaRPr lang="sv-SE" sz="3600" b="1" u="sng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298" name="Rectangle 129">
            <a:extLst>
              <a:ext uri="{FF2B5EF4-FFF2-40B4-BE49-F238E27FC236}">
                <a16:creationId xmlns:a16="http://schemas.microsoft.com/office/drawing/2014/main" id="{9B714CD1-9514-7A88-B8C7-AB372300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5" y="6093916"/>
            <a:ext cx="16671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299" name="Rectangle 130">
            <a:extLst>
              <a:ext uri="{FF2B5EF4-FFF2-40B4-BE49-F238E27FC236}">
                <a16:creationId xmlns:a16="http://schemas.microsoft.com/office/drawing/2014/main" id="{E06C70B1-7A85-54D8-B2E8-2826ACC0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677991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10%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0" name="Rectangle 131">
            <a:extLst>
              <a:ext uri="{FF2B5EF4-FFF2-40B4-BE49-F238E27FC236}">
                <a16:creationId xmlns:a16="http://schemas.microsoft.com/office/drawing/2014/main" id="{3C21624C-2B5E-072D-130F-342696165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273178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1" name="Rectangle 132">
            <a:extLst>
              <a:ext uri="{FF2B5EF4-FFF2-40B4-BE49-F238E27FC236}">
                <a16:creationId xmlns:a16="http://schemas.microsoft.com/office/drawing/2014/main" id="{31DC604D-B9E3-BDF6-9A17-D777C32F8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8572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2" name="Rectangle 133">
            <a:extLst>
              <a:ext uri="{FF2B5EF4-FFF2-40B4-BE49-F238E27FC236}">
                <a16:creationId xmlns:a16="http://schemas.microsoft.com/office/drawing/2014/main" id="{E556B8D2-BC7C-DA58-850A-83F4B490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4508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40%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3" name="Rectangle 134">
            <a:extLst>
              <a:ext uri="{FF2B5EF4-FFF2-40B4-BE49-F238E27FC236}">
                <a16:creationId xmlns:a16="http://schemas.microsoft.com/office/drawing/2014/main" id="{83783CAC-9789-D454-175C-126A05407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034928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50%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4" name="Rectangle 135">
            <a:extLst>
              <a:ext uri="{FF2B5EF4-FFF2-40B4-BE49-F238E27FC236}">
                <a16:creationId xmlns:a16="http://schemas.microsoft.com/office/drawing/2014/main" id="{5A1627AD-1235-7AEB-F53D-FCF17377E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361900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60%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5" name="Rectangle 136">
            <a:extLst>
              <a:ext uri="{FF2B5EF4-FFF2-40B4-BE49-F238E27FC236}">
                <a16:creationId xmlns:a16="http://schemas.microsoft.com/office/drawing/2014/main" id="{D3C7A50A-AE4C-783B-9E99-5E49C2435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3214191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70%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6" name="Rectangle 137">
            <a:extLst>
              <a:ext uri="{FF2B5EF4-FFF2-40B4-BE49-F238E27FC236}">
                <a16:creationId xmlns:a16="http://schemas.microsoft.com/office/drawing/2014/main" id="{15902050-103C-FDA4-E36F-2A1AA2E4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798266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80%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7" name="Rectangle 138">
            <a:extLst>
              <a:ext uri="{FF2B5EF4-FFF2-40B4-BE49-F238E27FC236}">
                <a16:creationId xmlns:a16="http://schemas.microsoft.com/office/drawing/2014/main" id="{DF383A2F-5396-3361-941F-BEB03C8E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393453"/>
            <a:ext cx="23083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90%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8" name="Rectangle 139">
            <a:extLst>
              <a:ext uri="{FF2B5EF4-FFF2-40B4-BE49-F238E27FC236}">
                <a16:creationId xmlns:a16="http://schemas.microsoft.com/office/drawing/2014/main" id="{9CE122FB-C277-21A0-7C5C-15DF6F0B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4" y="1977528"/>
            <a:ext cx="29495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100%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09" name="Rectangle 140">
            <a:extLst>
              <a:ext uri="{FF2B5EF4-FFF2-40B4-BE49-F238E27FC236}">
                <a16:creationId xmlns:a16="http://schemas.microsoft.com/office/drawing/2014/main" id="{7D9B62B8-F070-51BD-55C3-B889700E4437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253589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0" name="Rectangle 141">
            <a:extLst>
              <a:ext uri="{FF2B5EF4-FFF2-40B4-BE49-F238E27FC236}">
                <a16:creationId xmlns:a16="http://schemas.microsoft.com/office/drawing/2014/main" id="{F7E0D4C6-D72D-828B-1E59-8F233FBC1DBD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294229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1" name="Rectangle 142">
            <a:extLst>
              <a:ext uri="{FF2B5EF4-FFF2-40B4-BE49-F238E27FC236}">
                <a16:creationId xmlns:a16="http://schemas.microsoft.com/office/drawing/2014/main" id="{C8C97388-7C42-C2B3-C8FB-AF0146744D9B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350283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244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2" name="Rectangle 143">
            <a:extLst>
              <a:ext uri="{FF2B5EF4-FFF2-40B4-BE49-F238E27FC236}">
                <a16:creationId xmlns:a16="http://schemas.microsoft.com/office/drawing/2014/main" id="{7D2BF7FA-00DE-8B4F-9A75-3BB2EECED897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7582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246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3" name="Rectangle 144">
            <a:extLst>
              <a:ext uri="{FF2B5EF4-FFF2-40B4-BE49-F238E27FC236}">
                <a16:creationId xmlns:a16="http://schemas.microsoft.com/office/drawing/2014/main" id="{605C6EF6-56CE-594A-73E1-D20021643C01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155145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248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4" name="Rectangle 145">
            <a:extLst>
              <a:ext uri="{FF2B5EF4-FFF2-40B4-BE49-F238E27FC236}">
                <a16:creationId xmlns:a16="http://schemas.microsoft.com/office/drawing/2014/main" id="{1F4FFBA0-9229-0720-0D22-D234FD2FCE7B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563133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250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5" name="Rectangle 146">
            <a:extLst>
              <a:ext uri="{FF2B5EF4-FFF2-40B4-BE49-F238E27FC236}">
                <a16:creationId xmlns:a16="http://schemas.microsoft.com/office/drawing/2014/main" id="{186A6862-5E97-0EC3-99E8-0C399077289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97112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252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6" name="Rectangle 147">
            <a:extLst>
              <a:ext uri="{FF2B5EF4-FFF2-40B4-BE49-F238E27FC236}">
                <a16:creationId xmlns:a16="http://schemas.microsoft.com/office/drawing/2014/main" id="{2162F77A-5150-F6F4-9EBD-BA702D8A0591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37910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7" name="Rectangle 148">
            <a:extLst>
              <a:ext uri="{FF2B5EF4-FFF2-40B4-BE49-F238E27FC236}">
                <a16:creationId xmlns:a16="http://schemas.microsoft.com/office/drawing/2014/main" id="{561CA5AF-3DED-F632-74E1-1C0DD46C73F2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78550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304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8" name="Rectangle 149">
            <a:extLst>
              <a:ext uri="{FF2B5EF4-FFF2-40B4-BE49-F238E27FC236}">
                <a16:creationId xmlns:a16="http://schemas.microsoft.com/office/drawing/2014/main" id="{73D8CFF7-F9A4-A890-A913-3EFAFF4F919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1839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306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19" name="Rectangle 150">
            <a:extLst>
              <a:ext uri="{FF2B5EF4-FFF2-40B4-BE49-F238E27FC236}">
                <a16:creationId xmlns:a16="http://schemas.microsoft.com/office/drawing/2014/main" id="{0E726F68-DA04-F9DB-F3FA-BABAC2F25D2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590370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308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0" name="Rectangle 151">
            <a:extLst>
              <a:ext uri="{FF2B5EF4-FFF2-40B4-BE49-F238E27FC236}">
                <a16:creationId xmlns:a16="http://schemas.microsoft.com/office/drawing/2014/main" id="{724F3524-8138-866B-5D28-3AA3FC8DD8F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99835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310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1" name="Rectangle 152">
            <a:extLst>
              <a:ext uri="{FF2B5EF4-FFF2-40B4-BE49-F238E27FC236}">
                <a16:creationId xmlns:a16="http://schemas.microsoft.com/office/drawing/2014/main" id="{757AC009-5983-C7A0-A5C5-87AA37EB9DA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7404758" y="6310416"/>
            <a:ext cx="1923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900">
                <a:solidFill>
                  <a:srgbClr val="000000"/>
                </a:solidFill>
              </a:rPr>
              <a:t>312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grpSp>
        <p:nvGrpSpPr>
          <p:cNvPr id="55449" name="Group 153">
            <a:extLst>
              <a:ext uri="{FF2B5EF4-FFF2-40B4-BE49-F238E27FC236}">
                <a16:creationId xmlns:a16="http://schemas.microsoft.com/office/drawing/2014/main" id="{BA4401D9-B00D-7A15-24E9-1A921B6CBF41}"/>
              </a:ext>
            </a:extLst>
          </p:cNvPr>
          <p:cNvGrpSpPr>
            <a:grpSpLocks/>
          </p:cNvGrpSpPr>
          <p:nvPr/>
        </p:nvGrpSpPr>
        <p:grpSpPr bwMode="auto">
          <a:xfrm>
            <a:off x="7824796" y="4539753"/>
            <a:ext cx="2632078" cy="1571625"/>
            <a:chOff x="4489" y="2209"/>
            <a:chExt cx="1646" cy="1027"/>
          </a:xfrm>
        </p:grpSpPr>
        <p:sp>
          <p:nvSpPr>
            <p:cNvPr id="10391" name="Rectangle 154">
              <a:extLst>
                <a:ext uri="{FF2B5EF4-FFF2-40B4-BE49-F238E27FC236}">
                  <a16:creationId xmlns:a16="http://schemas.microsoft.com/office/drawing/2014/main" id="{2BE93FEA-780A-F907-8974-D965F016B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209"/>
              <a:ext cx="1646" cy="1027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/>
            </a:p>
          </p:txBody>
        </p:sp>
        <p:sp>
          <p:nvSpPr>
            <p:cNvPr id="10392" name="Line 155">
              <a:extLst>
                <a:ext uri="{FF2B5EF4-FFF2-40B4-BE49-F238E27FC236}">
                  <a16:creationId xmlns:a16="http://schemas.microsoft.com/office/drawing/2014/main" id="{9BB70D65-FE5C-558E-AFF8-E8C5D996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319"/>
              <a:ext cx="171" cy="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3" name="Rectangle 156">
              <a:extLst>
                <a:ext uri="{FF2B5EF4-FFF2-40B4-BE49-F238E27FC236}">
                  <a16:creationId xmlns:a16="http://schemas.microsoft.com/office/drawing/2014/main" id="{425751E6-2A8E-F5D8-E380-EEAA9E018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236"/>
              <a:ext cx="128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Actual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Value</a:t>
              </a:r>
              <a:endParaRPr lang="sv-SE" sz="1200" b="1">
                <a:solidFill>
                  <a:srgbClr val="000000"/>
                </a:solidFill>
              </a:endParaRP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How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are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doing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really</a:t>
              </a:r>
              <a:r>
                <a:rPr lang="sv-SE" sz="1000" b="1" i="1">
                  <a:solidFill>
                    <a:srgbClr val="000000"/>
                  </a:solidFill>
                </a:rPr>
                <a:t>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94" name="Line 157">
              <a:extLst>
                <a:ext uri="{FF2B5EF4-FFF2-40B4-BE49-F238E27FC236}">
                  <a16:creationId xmlns:a16="http://schemas.microsoft.com/office/drawing/2014/main" id="{A797EFE0-39EC-5BE7-FDD8-7F81183B0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615"/>
              <a:ext cx="171" cy="1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5" name="Rectangle 158">
              <a:extLst>
                <a:ext uri="{FF2B5EF4-FFF2-40B4-BE49-F238E27FC236}">
                  <a16:creationId xmlns:a16="http://schemas.microsoft.com/office/drawing/2014/main" id="{94FE5909-1663-ACF7-A738-02530CC37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532"/>
              <a:ext cx="1230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Critical</a:t>
              </a:r>
              <a:r>
                <a:rPr lang="sv-SE" sz="1200" b="1">
                  <a:solidFill>
                    <a:srgbClr val="000000"/>
                  </a:solidFill>
                </a:rPr>
                <a:t> Line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What</a:t>
              </a:r>
              <a:r>
                <a:rPr lang="sv-SE" sz="1000" b="1" i="1">
                  <a:solidFill>
                    <a:srgbClr val="000000"/>
                  </a:solidFill>
                </a:rPr>
                <a:t> do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want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our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development</a:t>
              </a:r>
              <a:r>
                <a:rPr lang="sv-SE" sz="1000" b="1" i="1">
                  <a:solidFill>
                    <a:srgbClr val="000000"/>
                  </a:solidFill>
                </a:rPr>
                <a:t> to look like?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96" name="Line 159">
              <a:extLst>
                <a:ext uri="{FF2B5EF4-FFF2-40B4-BE49-F238E27FC236}">
                  <a16:creationId xmlns:a16="http://schemas.microsoft.com/office/drawing/2014/main" id="{24959BB8-3678-3D4D-1D7D-2F5BF98C9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2988"/>
              <a:ext cx="171" cy="1"/>
            </a:xfrm>
            <a:prstGeom prst="line">
              <a:avLst/>
            </a:prstGeom>
            <a:noFill/>
            <a:ln w="3333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97" name="Rectangle 160">
              <a:extLst>
                <a:ext uri="{FF2B5EF4-FFF2-40B4-BE49-F238E27FC236}">
                  <a16:creationId xmlns:a16="http://schemas.microsoft.com/office/drawing/2014/main" id="{97FB2478-A7E3-D474-98C7-C4E803A07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" y="2912"/>
              <a:ext cx="1077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>
                  <a:solidFill>
                    <a:srgbClr val="000000"/>
                  </a:solidFill>
                </a:rPr>
                <a:t>End Target </a:t>
              </a:r>
              <a:r>
                <a:rPr lang="sv-SE" sz="1200" b="1" err="1">
                  <a:solidFill>
                    <a:srgbClr val="000000"/>
                  </a:solidFill>
                </a:rPr>
                <a:t>level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How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good</a:t>
              </a:r>
              <a:r>
                <a:rPr lang="sv-SE" sz="1000" b="1" i="1">
                  <a:solidFill>
                    <a:srgbClr val="000000"/>
                  </a:solidFill>
                </a:rPr>
                <a:t> do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want</a:t>
              </a:r>
              <a:r>
                <a:rPr lang="sv-SE" sz="1000" b="1" i="1">
                  <a:solidFill>
                    <a:srgbClr val="000000"/>
                  </a:solidFill>
                </a:rPr>
                <a:t> to be </a:t>
              </a:r>
            </a:p>
            <a:p>
              <a:pPr eaLnBrk="0" hangingPunct="0"/>
              <a:r>
                <a:rPr lang="sv-SE" sz="1000" b="1" i="1" err="1">
                  <a:solidFill>
                    <a:srgbClr val="000000"/>
                  </a:solidFill>
                </a:rPr>
                <a:t>when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we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are</a:t>
              </a:r>
              <a:r>
                <a:rPr lang="sv-SE" sz="1000" b="1" i="1">
                  <a:solidFill>
                    <a:srgbClr val="000000"/>
                  </a:solidFill>
                </a:rPr>
                <a:t> </a:t>
              </a:r>
              <a:r>
                <a:rPr lang="sv-SE" sz="1000" b="1" i="1" err="1">
                  <a:solidFill>
                    <a:srgbClr val="000000"/>
                  </a:solidFill>
                </a:rPr>
                <a:t>done</a:t>
              </a:r>
              <a:r>
                <a:rPr lang="sv-SE" sz="1000" b="1" i="1">
                  <a:solidFill>
                    <a:srgbClr val="000000"/>
                  </a:solidFill>
                </a:rPr>
                <a:t>?</a:t>
              </a:r>
              <a:endParaRPr lang="sv-SE" b="1" i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10323" name="Rectangle 161">
            <a:extLst>
              <a:ext uri="{FF2B5EF4-FFF2-40B4-BE49-F238E27FC236}">
                <a16:creationId xmlns:a16="http://schemas.microsoft.com/office/drawing/2014/main" id="{862A3254-AA28-C819-42FB-28E5E45B0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50" y="6159002"/>
            <a:ext cx="94256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000" b="1" err="1">
                <a:solidFill>
                  <a:srgbClr val="000000"/>
                </a:solidFill>
              </a:rPr>
              <a:t>Time</a:t>
            </a:r>
            <a:r>
              <a:rPr lang="sv-SE" sz="1000" b="1">
                <a:solidFill>
                  <a:srgbClr val="000000"/>
                </a:solidFill>
              </a:rPr>
              <a:t>/date/</a:t>
            </a:r>
            <a:r>
              <a:rPr lang="sv-SE" sz="1000" b="1" err="1">
                <a:solidFill>
                  <a:srgbClr val="000000"/>
                </a:solidFill>
              </a:rPr>
              <a:t>week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24" name="Rectangle 162">
            <a:extLst>
              <a:ext uri="{FF2B5EF4-FFF2-40B4-BE49-F238E27FC236}">
                <a16:creationId xmlns:a16="http://schemas.microsoft.com/office/drawing/2014/main" id="{4AE4B95F-5F83-6A5B-F7EC-FB35CB84E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9" y="1977528"/>
            <a:ext cx="1233487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59" name="Group 163">
            <a:extLst>
              <a:ext uri="{FF2B5EF4-FFF2-40B4-BE49-F238E27FC236}">
                <a16:creationId xmlns:a16="http://schemas.microsoft.com/office/drawing/2014/main" id="{76EE951C-6473-4C18-F749-6BDF3A5B3FEC}"/>
              </a:ext>
            </a:extLst>
          </p:cNvPr>
          <p:cNvGrpSpPr>
            <a:grpSpLocks/>
          </p:cNvGrpSpPr>
          <p:nvPr/>
        </p:nvGrpSpPr>
        <p:grpSpPr bwMode="auto">
          <a:xfrm>
            <a:off x="5407136" y="1750108"/>
            <a:ext cx="1431706" cy="731838"/>
            <a:chOff x="2786" y="746"/>
            <a:chExt cx="1100" cy="573"/>
          </a:xfrm>
        </p:grpSpPr>
        <p:sp>
          <p:nvSpPr>
            <p:cNvPr id="10389" name="Oval 164">
              <a:extLst>
                <a:ext uri="{FF2B5EF4-FFF2-40B4-BE49-F238E27FC236}">
                  <a16:creationId xmlns:a16="http://schemas.microsoft.com/office/drawing/2014/main" id="{A38F74FE-7C74-BD9E-B554-F98157D2B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746"/>
              <a:ext cx="1100" cy="573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90" name="Rectangle 165">
              <a:extLst>
                <a:ext uri="{FF2B5EF4-FFF2-40B4-BE49-F238E27FC236}">
                  <a16:creationId xmlns:a16="http://schemas.microsoft.com/office/drawing/2014/main" id="{858C5B8C-1D38-249B-76A3-40DF5217B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" y="970"/>
              <a:ext cx="64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>
                  <a:solidFill>
                    <a:srgbClr val="000000"/>
                  </a:solidFill>
                </a:rPr>
                <a:t>Target </a:t>
              </a:r>
              <a:r>
                <a:rPr lang="sv-SE" sz="1200" b="1" err="1">
                  <a:solidFill>
                    <a:srgbClr val="000000"/>
                  </a:solidFill>
                </a:rPr>
                <a:t>level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10326" name="Rectangle 166">
            <a:extLst>
              <a:ext uri="{FF2B5EF4-FFF2-40B4-BE49-F238E27FC236}">
                <a16:creationId xmlns:a16="http://schemas.microsoft.com/office/drawing/2014/main" id="{4EDFE0E0-F482-E4E6-6DE2-7786A9593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4" y="3685678"/>
            <a:ext cx="143192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327" name="Rectangle 167">
            <a:extLst>
              <a:ext uri="{FF2B5EF4-FFF2-40B4-BE49-F238E27FC236}">
                <a16:creationId xmlns:a16="http://schemas.microsoft.com/office/drawing/2014/main" id="{CB870948-54A0-CF74-8C3C-1A4ECE331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4812802"/>
            <a:ext cx="1403350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64" name="Group 168">
            <a:extLst>
              <a:ext uri="{FF2B5EF4-FFF2-40B4-BE49-F238E27FC236}">
                <a16:creationId xmlns:a16="http://schemas.microsoft.com/office/drawing/2014/main" id="{58C1253F-95E3-B611-57E8-FCF792B2BDFD}"/>
              </a:ext>
            </a:extLst>
          </p:cNvPr>
          <p:cNvGrpSpPr>
            <a:grpSpLocks/>
          </p:cNvGrpSpPr>
          <p:nvPr/>
        </p:nvGrpSpPr>
        <p:grpSpPr bwMode="auto">
          <a:xfrm>
            <a:off x="2668589" y="4495302"/>
            <a:ext cx="1370007" cy="1085850"/>
            <a:chOff x="721" y="2450"/>
            <a:chExt cx="863" cy="684"/>
          </a:xfrm>
        </p:grpSpPr>
        <p:sp>
          <p:nvSpPr>
            <p:cNvPr id="10383" name="Oval 169">
              <a:extLst>
                <a:ext uri="{FF2B5EF4-FFF2-40B4-BE49-F238E27FC236}">
                  <a16:creationId xmlns:a16="http://schemas.microsoft.com/office/drawing/2014/main" id="{5914C745-9874-2E69-1243-6FEEC3BAF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540"/>
              <a:ext cx="863" cy="594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84" name="Rectangle 170">
              <a:extLst>
                <a:ext uri="{FF2B5EF4-FFF2-40B4-BE49-F238E27FC236}">
                  <a16:creationId xmlns:a16="http://schemas.microsoft.com/office/drawing/2014/main" id="{6DB5B70E-BF64-57A7-D042-853627AD6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2673"/>
              <a:ext cx="6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Starting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point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85" name="Rectangle 171">
              <a:extLst>
                <a:ext uri="{FF2B5EF4-FFF2-40B4-BE49-F238E27FC236}">
                  <a16:creationId xmlns:a16="http://schemas.microsoft.com/office/drawing/2014/main" id="{5ED547B5-9E73-48AB-770A-3955DB826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790"/>
              <a:ext cx="7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100">
                  <a:solidFill>
                    <a:srgbClr val="000000"/>
                  </a:solidFill>
                </a:rPr>
                <a:t>(</a:t>
              </a:r>
              <a:r>
                <a:rPr lang="sv-SE" sz="1100" err="1">
                  <a:solidFill>
                    <a:srgbClr val="000000"/>
                  </a:solidFill>
                </a:rPr>
                <a:t>Estimated</a:t>
              </a:r>
              <a:r>
                <a:rPr lang="sv-SE" sz="1100">
                  <a:solidFill>
                    <a:srgbClr val="000000"/>
                  </a:solidFill>
                </a:rPr>
                <a:t> or real </a:t>
              </a:r>
            </a:p>
            <a:p>
              <a:pPr eaLnBrk="0" hangingPunct="0"/>
              <a:r>
                <a:rPr lang="sv-SE" sz="1100" err="1">
                  <a:solidFill>
                    <a:srgbClr val="000000"/>
                  </a:solidFill>
                </a:rPr>
                <a:t>starting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point</a:t>
              </a:r>
              <a:r>
                <a:rPr lang="sv-SE" sz="1100">
                  <a:solidFill>
                    <a:srgbClr val="000000"/>
                  </a:solidFill>
                </a:rPr>
                <a:t>)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grpSp>
          <p:nvGrpSpPr>
            <p:cNvPr id="10386" name="Group 172">
              <a:extLst>
                <a:ext uri="{FF2B5EF4-FFF2-40B4-BE49-F238E27FC236}">
                  <a16:creationId xmlns:a16="http://schemas.microsoft.com/office/drawing/2014/main" id="{94F4AFEA-F533-E2A1-9411-33C281191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" y="2450"/>
              <a:ext cx="188" cy="152"/>
              <a:chOff x="835" y="2450"/>
              <a:chExt cx="284" cy="152"/>
            </a:xfrm>
          </p:grpSpPr>
          <p:sp>
            <p:nvSpPr>
              <p:cNvPr id="10387" name="Line 173">
                <a:extLst>
                  <a:ext uri="{FF2B5EF4-FFF2-40B4-BE49-F238E27FC236}">
                    <a16:creationId xmlns:a16="http://schemas.microsoft.com/office/drawing/2014/main" id="{DD4A613E-BE05-4844-E9CC-D1085F074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5" y="2464"/>
                <a:ext cx="234" cy="1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88" name="Freeform 174">
                <a:extLst>
                  <a:ext uri="{FF2B5EF4-FFF2-40B4-BE49-F238E27FC236}">
                    <a16:creationId xmlns:a16="http://schemas.microsoft.com/office/drawing/2014/main" id="{F58850C6-CD07-7080-9119-C82D106A8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2450"/>
                <a:ext cx="85" cy="62"/>
              </a:xfrm>
              <a:custGeom>
                <a:avLst/>
                <a:gdLst>
                  <a:gd name="T0" fmla="*/ 85 w 85"/>
                  <a:gd name="T1" fmla="*/ 0 h 62"/>
                  <a:gd name="T2" fmla="*/ 0 w 85"/>
                  <a:gd name="T3" fmla="*/ 0 h 62"/>
                  <a:gd name="T4" fmla="*/ 50 w 85"/>
                  <a:gd name="T5" fmla="*/ 62 h 62"/>
                  <a:gd name="T6" fmla="*/ 85 w 85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" h="62">
                    <a:moveTo>
                      <a:pt x="85" y="0"/>
                    </a:moveTo>
                    <a:lnTo>
                      <a:pt x="0" y="0"/>
                    </a:lnTo>
                    <a:lnTo>
                      <a:pt x="50" y="62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10329" name="Rectangle 175">
            <a:extLst>
              <a:ext uri="{FF2B5EF4-FFF2-40B4-BE49-F238E27FC236}">
                <a16:creationId xmlns:a16="http://schemas.microsoft.com/office/drawing/2014/main" id="{7484AB06-2BE6-2AE9-3A5F-9987AEBB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9" y="4287341"/>
            <a:ext cx="1520825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10330" name="Rectangle 176">
            <a:extLst>
              <a:ext uri="{FF2B5EF4-FFF2-40B4-BE49-F238E27FC236}">
                <a16:creationId xmlns:a16="http://schemas.microsoft.com/office/drawing/2014/main" id="{B9607D0D-9C5E-F330-BC8B-11642A952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2831603"/>
            <a:ext cx="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endParaRPr lang="nl-NL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73" name="Line 177">
            <a:extLst>
              <a:ext uri="{FF2B5EF4-FFF2-40B4-BE49-F238E27FC236}">
                <a16:creationId xmlns:a16="http://schemas.microsoft.com/office/drawing/2014/main" id="{972F2E13-39B0-061A-C155-11CC20A50E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4" y="2379166"/>
            <a:ext cx="509587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474" name="Line 178">
            <a:extLst>
              <a:ext uri="{FF2B5EF4-FFF2-40B4-BE49-F238E27FC236}">
                <a16:creationId xmlns:a16="http://schemas.microsoft.com/office/drawing/2014/main" id="{E1883433-8117-CA98-CE7E-11A74B7B4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2450603"/>
            <a:ext cx="1333500" cy="37449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grpSp>
        <p:nvGrpSpPr>
          <p:cNvPr id="55475" name="Group 179">
            <a:extLst>
              <a:ext uri="{FF2B5EF4-FFF2-40B4-BE49-F238E27FC236}">
                <a16:creationId xmlns:a16="http://schemas.microsoft.com/office/drawing/2014/main" id="{987DFFD9-9EA1-56A7-EFB1-F1DA501D13DE}"/>
              </a:ext>
            </a:extLst>
          </p:cNvPr>
          <p:cNvGrpSpPr>
            <a:grpSpLocks/>
          </p:cNvGrpSpPr>
          <p:nvPr/>
        </p:nvGrpSpPr>
        <p:grpSpPr bwMode="auto">
          <a:xfrm>
            <a:off x="1642974" y="3296743"/>
            <a:ext cx="1843552" cy="1011239"/>
            <a:chOff x="88" y="1695"/>
            <a:chExt cx="1134" cy="637"/>
          </a:xfrm>
        </p:grpSpPr>
        <p:sp>
          <p:nvSpPr>
            <p:cNvPr id="10379" name="Oval 180">
              <a:extLst>
                <a:ext uri="{FF2B5EF4-FFF2-40B4-BE49-F238E27FC236}">
                  <a16:creationId xmlns:a16="http://schemas.microsoft.com/office/drawing/2014/main" id="{CFF9A017-0C27-6258-DBAC-F21918D30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" y="1695"/>
              <a:ext cx="870" cy="637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0380" name="Rectangle 181">
              <a:extLst>
                <a:ext uri="{FF2B5EF4-FFF2-40B4-BE49-F238E27FC236}">
                  <a16:creationId xmlns:a16="http://schemas.microsoft.com/office/drawing/2014/main" id="{366F6B64-0F82-6E2A-D172-4A3DF8113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" y="1808"/>
              <a:ext cx="55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200" b="1" err="1">
                  <a:solidFill>
                    <a:srgbClr val="000000"/>
                  </a:solidFill>
                </a:rPr>
                <a:t>Actual</a:t>
              </a:r>
              <a:r>
                <a:rPr lang="sv-SE" sz="1200" b="1">
                  <a:solidFill>
                    <a:srgbClr val="000000"/>
                  </a:solidFill>
                </a:rPr>
                <a:t> </a:t>
              </a:r>
              <a:r>
                <a:rPr lang="sv-SE" sz="1200" b="1" err="1">
                  <a:solidFill>
                    <a:srgbClr val="000000"/>
                  </a:solidFill>
                </a:rPr>
                <a:t>value</a:t>
              </a:r>
              <a:endParaRPr lang="sv-SE" sz="28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  <p:sp>
          <p:nvSpPr>
            <p:cNvPr id="10381" name="Rectangle 182">
              <a:extLst>
                <a:ext uri="{FF2B5EF4-FFF2-40B4-BE49-F238E27FC236}">
                  <a16:creationId xmlns:a16="http://schemas.microsoft.com/office/drawing/2014/main" id="{22A3C7AF-3A2C-F420-6F07-F3503A45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950"/>
              <a:ext cx="6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0" hangingPunct="0"/>
              <a:r>
                <a:rPr lang="sv-SE" sz="1100">
                  <a:solidFill>
                    <a:srgbClr val="000000"/>
                  </a:solidFill>
                </a:rPr>
                <a:t>(</a:t>
              </a:r>
              <a:r>
                <a:rPr lang="sv-SE" sz="1100" err="1">
                  <a:solidFill>
                    <a:srgbClr val="000000"/>
                  </a:solidFill>
                </a:rPr>
                <a:t>Updated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every</a:t>
              </a:r>
              <a:r>
                <a:rPr lang="sv-SE" sz="1100">
                  <a:solidFill>
                    <a:srgbClr val="000000"/>
                  </a:solidFill>
                </a:rPr>
                <a:t> </a:t>
              </a:r>
              <a:r>
                <a:rPr lang="sv-SE" sz="1100" err="1">
                  <a:solidFill>
                    <a:srgbClr val="000000"/>
                  </a:solidFill>
                </a:rPr>
                <a:t>week</a:t>
              </a:r>
              <a:r>
                <a:rPr lang="sv-SE" sz="1100">
                  <a:solidFill>
                    <a:srgbClr val="000000"/>
                  </a:solidFill>
                </a:rPr>
                <a:t> or </a:t>
              </a:r>
              <a:r>
                <a:rPr lang="sv-SE" sz="1100" err="1">
                  <a:solidFill>
                    <a:srgbClr val="000000"/>
                  </a:solidFill>
                </a:rPr>
                <a:t>biweekly</a:t>
              </a:r>
              <a:r>
                <a:rPr lang="sv-SE" sz="1100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0382" name="Line 183">
              <a:extLst>
                <a:ext uri="{FF2B5EF4-FFF2-40B4-BE49-F238E27FC236}">
                  <a16:creationId xmlns:a16="http://schemas.microsoft.com/office/drawing/2014/main" id="{F49E12EE-8AFE-8CAF-611A-4BF628883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2030"/>
              <a:ext cx="315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55480" name="Oval 184">
            <a:extLst>
              <a:ext uri="{FF2B5EF4-FFF2-40B4-BE49-F238E27FC236}">
                <a16:creationId xmlns:a16="http://schemas.microsoft.com/office/drawing/2014/main" id="{0613AE41-3389-8EDD-7886-02797C9EF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1" y="3466602"/>
            <a:ext cx="1985963" cy="1041400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sv-SE"/>
          </a:p>
        </p:txBody>
      </p:sp>
      <p:grpSp>
        <p:nvGrpSpPr>
          <p:cNvPr id="10367" name="Group 186">
            <a:extLst>
              <a:ext uri="{FF2B5EF4-FFF2-40B4-BE49-F238E27FC236}">
                <a16:creationId xmlns:a16="http://schemas.microsoft.com/office/drawing/2014/main" id="{5208B331-5C47-C3E2-FA36-CF7C8C1DBFEA}"/>
              </a:ext>
            </a:extLst>
          </p:cNvPr>
          <p:cNvGrpSpPr>
            <a:grpSpLocks/>
          </p:cNvGrpSpPr>
          <p:nvPr/>
        </p:nvGrpSpPr>
        <p:grpSpPr bwMode="auto">
          <a:xfrm>
            <a:off x="561967" y="1611179"/>
            <a:ext cx="4257684" cy="1095375"/>
            <a:chOff x="-699" y="643"/>
            <a:chExt cx="3053" cy="690"/>
          </a:xfrm>
        </p:grpSpPr>
        <p:grpSp>
          <p:nvGrpSpPr>
            <p:cNvPr id="10369" name="Group 187">
              <a:extLst>
                <a:ext uri="{FF2B5EF4-FFF2-40B4-BE49-F238E27FC236}">
                  <a16:creationId xmlns:a16="http://schemas.microsoft.com/office/drawing/2014/main" id="{9F837AC3-091A-01AA-12B9-4DDAE667C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699" y="643"/>
              <a:ext cx="1669" cy="690"/>
              <a:chOff x="-699" y="643"/>
              <a:chExt cx="1669" cy="690"/>
            </a:xfrm>
          </p:grpSpPr>
          <p:sp>
            <p:nvSpPr>
              <p:cNvPr id="10375" name="Oval 188">
                <a:extLst>
                  <a:ext uri="{FF2B5EF4-FFF2-40B4-BE49-F238E27FC236}">
                    <a16:creationId xmlns:a16="http://schemas.microsoft.com/office/drawing/2014/main" id="{A24E4FC0-3EF4-FC24-DCE0-9AB02C237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99" y="643"/>
                <a:ext cx="1034" cy="690"/>
              </a:xfrm>
              <a:prstGeom prst="ellipse">
                <a:avLst/>
              </a:pr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76" name="Rectangle 189">
                <a:extLst>
                  <a:ext uri="{FF2B5EF4-FFF2-40B4-BE49-F238E27FC236}">
                    <a16:creationId xmlns:a16="http://schemas.microsoft.com/office/drawing/2014/main" id="{4249AB8E-8CDC-5F12-1054-33680500E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509" y="815"/>
                <a:ext cx="70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sv-SE" sz="1200" b="1" err="1">
                    <a:solidFill>
                      <a:srgbClr val="000000"/>
                    </a:solidFill>
                  </a:rPr>
                  <a:t>Measurement</a:t>
                </a:r>
                <a:endParaRPr lang="sv-SE" sz="1200" b="1">
                  <a:solidFill>
                    <a:srgbClr val="000000"/>
                  </a:solidFill>
                </a:endParaRPr>
              </a:p>
              <a:p>
                <a:pPr eaLnBrk="0" hangingPunct="0"/>
                <a:r>
                  <a:rPr lang="sv-SE" sz="1100">
                    <a:solidFill>
                      <a:srgbClr val="000000"/>
                    </a:solidFill>
                  </a:rPr>
                  <a:t>(</a:t>
                </a:r>
                <a:r>
                  <a:rPr lang="sv-SE" sz="1100" err="1">
                    <a:solidFill>
                      <a:srgbClr val="000000"/>
                    </a:solidFill>
                  </a:rPr>
                  <a:t>What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  <a:r>
                  <a:rPr lang="sv-SE" sz="1100" err="1">
                    <a:solidFill>
                      <a:srgbClr val="000000"/>
                    </a:solidFill>
                  </a:rPr>
                  <a:t>shall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  <a:r>
                  <a:rPr lang="sv-SE" sz="1100" err="1">
                    <a:solidFill>
                      <a:srgbClr val="000000"/>
                    </a:solidFill>
                  </a:rPr>
                  <a:t>we</a:t>
                </a:r>
                <a:r>
                  <a:rPr lang="sv-SE" sz="1100">
                    <a:solidFill>
                      <a:srgbClr val="000000"/>
                    </a:solidFill>
                  </a:rPr>
                  <a:t> </a:t>
                </a:r>
              </a:p>
              <a:p>
                <a:pPr eaLnBrk="0" hangingPunct="0"/>
                <a:r>
                  <a:rPr lang="sv-SE" sz="1100" err="1">
                    <a:solidFill>
                      <a:srgbClr val="000000"/>
                    </a:solidFill>
                  </a:rPr>
                  <a:t>measure</a:t>
                </a:r>
                <a:r>
                  <a:rPr lang="sv-SE" sz="1100">
                    <a:solidFill>
                      <a:srgbClr val="000000"/>
                    </a:solidFill>
                  </a:rPr>
                  <a:t>?)</a:t>
                </a:r>
                <a:endParaRPr lang="sv-SE" sz="2800" b="1">
                  <a:solidFill>
                    <a:schemeClr val="tx2"/>
                  </a:solidFill>
                  <a:latin typeface="Verdana" pitchFamily="34" charset="0"/>
                </a:endParaRPr>
              </a:p>
            </p:txBody>
          </p:sp>
          <p:sp>
            <p:nvSpPr>
              <p:cNvPr id="10378" name="Rectangle 191">
                <a:extLst>
                  <a:ext uri="{FF2B5EF4-FFF2-40B4-BE49-F238E27FC236}">
                    <a16:creationId xmlns:a16="http://schemas.microsoft.com/office/drawing/2014/main" id="{5ACB2CD6-873F-D948-7E33-6C8DAB0AD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1029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endParaRPr lang="nl-NL" sz="2800" b="1">
                  <a:solidFill>
                    <a:schemeClr val="tx2"/>
                  </a:solidFill>
                  <a:latin typeface="Verdana" pitchFamily="34" charset="0"/>
                </a:endParaRPr>
              </a:p>
            </p:txBody>
          </p:sp>
        </p:grpSp>
        <p:grpSp>
          <p:nvGrpSpPr>
            <p:cNvPr id="10372" name="Group 194">
              <a:extLst>
                <a:ext uri="{FF2B5EF4-FFF2-40B4-BE49-F238E27FC236}">
                  <a16:creationId xmlns:a16="http://schemas.microsoft.com/office/drawing/2014/main" id="{545713D8-0469-75B5-86D7-C84F791C8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" y="649"/>
              <a:ext cx="2061" cy="169"/>
              <a:chOff x="293" y="649"/>
              <a:chExt cx="2061" cy="169"/>
            </a:xfrm>
          </p:grpSpPr>
          <p:sp>
            <p:nvSpPr>
              <p:cNvPr id="10373" name="Line 195">
                <a:extLst>
                  <a:ext uri="{FF2B5EF4-FFF2-40B4-BE49-F238E27FC236}">
                    <a16:creationId xmlns:a16="http://schemas.microsoft.com/office/drawing/2014/main" id="{5134A613-57B5-CADC-9967-1B8F02579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" y="649"/>
                <a:ext cx="700" cy="16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374" name="Freeform 196">
                <a:extLst>
                  <a:ext uri="{FF2B5EF4-FFF2-40B4-BE49-F238E27FC236}">
                    <a16:creationId xmlns:a16="http://schemas.microsoft.com/office/drawing/2014/main" id="{E350CBD8-2107-3520-C931-87840C3D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705"/>
                <a:ext cx="86" cy="69"/>
              </a:xfrm>
              <a:custGeom>
                <a:avLst/>
                <a:gdLst>
                  <a:gd name="T0" fmla="*/ 22 w 86"/>
                  <a:gd name="T1" fmla="*/ 69 h 69"/>
                  <a:gd name="T2" fmla="*/ 86 w 86"/>
                  <a:gd name="T3" fmla="*/ 7 h 69"/>
                  <a:gd name="T4" fmla="*/ 0 w 86"/>
                  <a:gd name="T5" fmla="*/ 0 h 69"/>
                  <a:gd name="T6" fmla="*/ 22 w 86"/>
                  <a:gd name="T7" fmla="*/ 69 h 6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69">
                    <a:moveTo>
                      <a:pt x="22" y="69"/>
                    </a:moveTo>
                    <a:lnTo>
                      <a:pt x="86" y="7"/>
                    </a:lnTo>
                    <a:lnTo>
                      <a:pt x="0" y="0"/>
                    </a:lnTo>
                    <a:lnTo>
                      <a:pt x="22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sv-SE"/>
              </a:p>
            </p:txBody>
          </p:sp>
        </p:grpSp>
      </p:grpSp>
      <p:sp>
        <p:nvSpPr>
          <p:cNvPr id="55494" name="Rectangle 198">
            <a:extLst>
              <a:ext uri="{FF2B5EF4-FFF2-40B4-BE49-F238E27FC236}">
                <a16:creationId xmlns:a16="http://schemas.microsoft.com/office/drawing/2014/main" id="{C4CA1F0F-98EC-4C06-1E65-93656AD28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173" y="3637436"/>
            <a:ext cx="1709738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sv-SE" sz="1200" b="1" err="1">
                <a:solidFill>
                  <a:srgbClr val="000000"/>
                </a:solidFill>
              </a:rPr>
              <a:t>Critical</a:t>
            </a:r>
            <a:r>
              <a:rPr lang="sv-SE" sz="1200" b="1">
                <a:solidFill>
                  <a:srgbClr val="000000"/>
                </a:solidFill>
              </a:rPr>
              <a:t> </a:t>
            </a:r>
            <a:r>
              <a:rPr lang="sv-SE" sz="1200" b="1" err="1">
                <a:solidFill>
                  <a:srgbClr val="000000"/>
                </a:solidFill>
              </a:rPr>
              <a:t>line</a:t>
            </a:r>
            <a:endParaRPr lang="sv-SE" sz="1200" b="1">
              <a:solidFill>
                <a:srgbClr val="000000"/>
              </a:solidFill>
            </a:endParaRPr>
          </a:p>
          <a:p>
            <a:pPr eaLnBrk="0" hangingPunct="0"/>
            <a:r>
              <a:rPr lang="sv-SE" sz="1200" b="1" err="1">
                <a:solidFill>
                  <a:srgbClr val="000000"/>
                </a:solidFill>
              </a:rPr>
              <a:t>Planned</a:t>
            </a:r>
            <a:r>
              <a:rPr lang="sv-SE" sz="1200" b="1">
                <a:solidFill>
                  <a:srgbClr val="000000"/>
                </a:solidFill>
              </a:rPr>
              <a:t> </a:t>
            </a:r>
            <a:r>
              <a:rPr lang="sv-SE" sz="1200" b="1" err="1">
                <a:solidFill>
                  <a:srgbClr val="000000"/>
                </a:solidFill>
              </a:rPr>
              <a:t>development</a:t>
            </a:r>
            <a:br>
              <a:rPr lang="sv-SE" sz="1200" b="1">
                <a:solidFill>
                  <a:srgbClr val="000000"/>
                </a:solidFill>
              </a:rPr>
            </a:b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95" name="Rectangle 199">
            <a:extLst>
              <a:ext uri="{FF2B5EF4-FFF2-40B4-BE49-F238E27FC236}">
                <a16:creationId xmlns:a16="http://schemas.microsoft.com/office/drawing/2014/main" id="{F52AE642-7A51-339C-74DF-F5BD4025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644" y="4094773"/>
            <a:ext cx="14335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sv-SE" sz="1100">
                <a:solidFill>
                  <a:srgbClr val="000000"/>
                </a:solidFill>
              </a:rPr>
              <a:t>(</a:t>
            </a:r>
            <a:r>
              <a:rPr lang="sv-SE" sz="1100" err="1">
                <a:solidFill>
                  <a:srgbClr val="000000"/>
                </a:solidFill>
              </a:rPr>
              <a:t>Linear</a:t>
            </a:r>
            <a:r>
              <a:rPr lang="sv-SE" sz="1100">
                <a:solidFill>
                  <a:srgbClr val="000000"/>
                </a:solidFill>
              </a:rPr>
              <a:t> or </a:t>
            </a:r>
            <a:r>
              <a:rPr lang="sv-SE" sz="1100" err="1">
                <a:solidFill>
                  <a:srgbClr val="000000"/>
                </a:solidFill>
              </a:rPr>
              <a:t>Variable</a:t>
            </a:r>
            <a:r>
              <a:rPr lang="sv-SE" sz="1100">
                <a:solidFill>
                  <a:srgbClr val="000000"/>
                </a:solidFill>
              </a:rPr>
              <a:t>)</a:t>
            </a:r>
            <a:endParaRPr lang="sv-SE" sz="28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496" name="Line 200">
            <a:extLst>
              <a:ext uri="{FF2B5EF4-FFF2-40B4-BE49-F238E27FC236}">
                <a16:creationId xmlns:a16="http://schemas.microsoft.com/office/drawing/2014/main" id="{ECF71DB1-B4F5-A5AA-7DA5-791B04418B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3713" y="3374528"/>
            <a:ext cx="698500" cy="276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517" name="Rectangle 221">
            <a:extLst>
              <a:ext uri="{FF2B5EF4-FFF2-40B4-BE49-F238E27FC236}">
                <a16:creationId xmlns:a16="http://schemas.microsoft.com/office/drawing/2014/main" id="{81FC4E6D-F9B1-D1E4-C1D7-23E098152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5" y="2774452"/>
            <a:ext cx="3142114" cy="844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5518" name="Rectangle 222">
            <a:extLst>
              <a:ext uri="{FF2B5EF4-FFF2-40B4-BE49-F238E27FC236}">
                <a16:creationId xmlns:a16="http://schemas.microsoft.com/office/drawing/2014/main" id="{E07AE201-1BDD-606C-003F-D092B91B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2796678"/>
            <a:ext cx="14081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sv-SE" sz="1600" b="1" err="1">
                <a:solidFill>
                  <a:srgbClr val="000000"/>
                </a:solidFill>
              </a:rPr>
              <a:t>Desired</a:t>
            </a:r>
            <a:r>
              <a:rPr lang="sv-SE" sz="1600" b="1">
                <a:solidFill>
                  <a:srgbClr val="000000"/>
                </a:solidFill>
              </a:rPr>
              <a:t> State</a:t>
            </a:r>
            <a:endParaRPr lang="sv-SE" sz="2800" b="1" i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10344" name="Rectangle 223">
            <a:extLst>
              <a:ext uri="{FF2B5EF4-FFF2-40B4-BE49-F238E27FC236}">
                <a16:creationId xmlns:a16="http://schemas.microsoft.com/office/drawing/2014/main" id="{7E8AC6EB-F199-A1DB-3E61-13FB0DD72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6" y="3060203"/>
            <a:ext cx="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endParaRPr lang="en-GB" sz="3200" b="1">
              <a:solidFill>
                <a:schemeClr val="tx2"/>
              </a:solidFill>
              <a:latin typeface="Verdana" pitchFamily="34" charset="0"/>
            </a:endParaRPr>
          </a:p>
        </p:txBody>
      </p:sp>
      <p:sp>
        <p:nvSpPr>
          <p:cNvPr id="55520" name="Rectangle 224">
            <a:extLst>
              <a:ext uri="{FF2B5EF4-FFF2-40B4-BE49-F238E27FC236}">
                <a16:creationId xmlns:a16="http://schemas.microsoft.com/office/drawing/2014/main" id="{C83FDC37-00D5-C4A3-4542-C6E11CF6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792" y="3105725"/>
            <a:ext cx="30723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sv-SE" sz="1200" b="1" err="1"/>
              <a:t>Our</a:t>
            </a:r>
            <a:r>
              <a:rPr lang="sv-SE" sz="1200" b="1"/>
              <a:t> </a:t>
            </a:r>
            <a:r>
              <a:rPr lang="sv-SE" sz="1200" b="1" err="1"/>
              <a:t>sales</a:t>
            </a:r>
            <a:r>
              <a:rPr lang="sv-SE" sz="1200" b="1"/>
              <a:t> </a:t>
            </a:r>
            <a:r>
              <a:rPr lang="sv-SE" sz="1200" b="1" err="1"/>
              <a:t>people</a:t>
            </a:r>
            <a:r>
              <a:rPr lang="sv-SE" sz="1200" b="1"/>
              <a:t> </a:t>
            </a:r>
            <a:r>
              <a:rPr lang="sv-SE" sz="1200" b="1" err="1"/>
              <a:t>are</a:t>
            </a:r>
            <a:r>
              <a:rPr lang="sv-SE" sz="1200" b="1"/>
              <a:t> </a:t>
            </a:r>
            <a:r>
              <a:rPr lang="sv-SE" sz="1200" b="1" err="1"/>
              <a:t>spending</a:t>
            </a:r>
            <a:r>
              <a:rPr lang="sv-SE" sz="1200" b="1"/>
              <a:t> </a:t>
            </a:r>
            <a:r>
              <a:rPr lang="sv-SE" sz="1200" b="1" err="1"/>
              <a:t>more</a:t>
            </a:r>
            <a:r>
              <a:rPr lang="sv-SE" sz="1200" b="1"/>
              <a:t> </a:t>
            </a:r>
            <a:r>
              <a:rPr lang="sv-SE" sz="1200" b="1" err="1"/>
              <a:t>time</a:t>
            </a:r>
            <a:r>
              <a:rPr lang="sv-SE" sz="1200" b="1"/>
              <a:t> at the </a:t>
            </a:r>
            <a:r>
              <a:rPr lang="sv-SE" sz="1200" b="1" err="1"/>
              <a:t>customer</a:t>
            </a:r>
            <a:endParaRPr lang="sv-SE" sz="2800" b="1">
              <a:latin typeface="Verdana" pitchFamily="34" charset="0"/>
            </a:endParaRPr>
          </a:p>
        </p:txBody>
      </p:sp>
      <p:grpSp>
        <p:nvGrpSpPr>
          <p:cNvPr id="55521" name="Group 225">
            <a:extLst>
              <a:ext uri="{FF2B5EF4-FFF2-40B4-BE49-F238E27FC236}">
                <a16:creationId xmlns:a16="http://schemas.microsoft.com/office/drawing/2014/main" id="{367E3BDC-ADC0-2231-2B88-837695A6ADAB}"/>
              </a:ext>
            </a:extLst>
          </p:cNvPr>
          <p:cNvGrpSpPr>
            <a:grpSpLocks/>
          </p:cNvGrpSpPr>
          <p:nvPr/>
        </p:nvGrpSpPr>
        <p:grpSpPr bwMode="auto">
          <a:xfrm>
            <a:off x="7961313" y="1964828"/>
            <a:ext cx="3134176" cy="677863"/>
            <a:chOff x="4596" y="712"/>
            <a:chExt cx="1497" cy="427"/>
          </a:xfrm>
          <a:solidFill>
            <a:schemeClr val="accent4"/>
          </a:solidFill>
        </p:grpSpPr>
        <p:sp>
          <p:nvSpPr>
            <p:cNvPr id="10348" name="Rectangle 226">
              <a:extLst>
                <a:ext uri="{FF2B5EF4-FFF2-40B4-BE49-F238E27FC236}">
                  <a16:creationId xmlns:a16="http://schemas.microsoft.com/office/drawing/2014/main" id="{D222E842-94D6-6913-A5BC-41EAF07BC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712"/>
              <a:ext cx="1497" cy="4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sv-SE"/>
            </a:p>
          </p:txBody>
        </p:sp>
        <p:sp>
          <p:nvSpPr>
            <p:cNvPr id="10349" name="Rectangle 227">
              <a:extLst>
                <a:ext uri="{FF2B5EF4-FFF2-40B4-BE49-F238E27FC236}">
                  <a16:creationId xmlns:a16="http://schemas.microsoft.com/office/drawing/2014/main" id="{806341BA-9FA6-13CD-ED05-9C1C26A2D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726"/>
              <a:ext cx="737" cy="1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sv-SE" sz="1600" b="1">
                  <a:solidFill>
                    <a:srgbClr val="000000"/>
                  </a:solidFill>
                </a:rPr>
                <a:t>Team focus : </a:t>
              </a:r>
              <a:endParaRPr lang="sv-SE" sz="3200" b="1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sp>
        <p:nvSpPr>
          <p:cNvPr id="55524" name="Rectangle 228">
            <a:extLst>
              <a:ext uri="{FF2B5EF4-FFF2-40B4-BE49-F238E27FC236}">
                <a16:creationId xmlns:a16="http://schemas.microsoft.com/office/drawing/2014/main" id="{6F6B60BA-0C37-229A-E3AD-6BA1522C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248990"/>
            <a:ext cx="300992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sv-SE" sz="1400" b="1">
                <a:solidFill>
                  <a:schemeClr val="bg1"/>
                </a:solidFill>
              </a:rPr>
              <a:t>To </a:t>
            </a:r>
            <a:r>
              <a:rPr lang="sv-SE" sz="1400" b="1" err="1">
                <a:solidFill>
                  <a:schemeClr val="bg1"/>
                </a:solidFill>
              </a:rPr>
              <a:t>become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more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customer</a:t>
            </a:r>
            <a:r>
              <a:rPr lang="sv-SE" sz="1400" b="1">
                <a:solidFill>
                  <a:schemeClr val="bg1"/>
                </a:solidFill>
              </a:rPr>
              <a:t> </a:t>
            </a:r>
            <a:r>
              <a:rPr lang="sv-SE" sz="1400" b="1" err="1">
                <a:solidFill>
                  <a:schemeClr val="bg1"/>
                </a:solidFill>
              </a:rPr>
              <a:t>focused</a:t>
            </a:r>
            <a:endParaRPr lang="sv-SE" sz="2800" b="1">
              <a:solidFill>
                <a:schemeClr val="bg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520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57A71D2-9741-4FD3-B6A8-1978AE9A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Progress </a:t>
            </a:r>
            <a:r>
              <a:rPr lang="sv-SE" dirty="0" err="1"/>
              <a:t>Measure</a:t>
            </a:r>
            <a:r>
              <a:rPr lang="sv-SE" dirty="0"/>
              <a:t> (PDCA)</a:t>
            </a: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D355A1C0-170B-4A0D-934B-8407223C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Integral Management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DD62585-2AA0-4FCD-9836-3EA315C8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45303-2AAE-45D1-913A-B06AE6474513}" type="slidenum">
              <a:rPr lang="sv-SE" smtClean="0"/>
              <a:t>5</a:t>
            </a:fld>
            <a:endParaRPr lang="sv-SE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ABD3875-7061-4D35-98E6-33354AFC3D31}"/>
              </a:ext>
            </a:extLst>
          </p:cNvPr>
          <p:cNvSpPr/>
          <p:nvPr/>
        </p:nvSpPr>
        <p:spPr>
          <a:xfrm>
            <a:off x="371477" y="1730139"/>
            <a:ext cx="11393802" cy="447063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9" name="Platshållare för innehåll 8">
            <a:extLst>
              <a:ext uri="{FF2B5EF4-FFF2-40B4-BE49-F238E27FC236}">
                <a16:creationId xmlns:a16="http://schemas.microsoft.com/office/drawing/2014/main" id="{10995381-4931-4B5E-8A73-F32E266EF662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71475" y="1743076"/>
          <a:ext cx="11376000" cy="4485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>
                  <a:extLst>
                    <a:ext uri="{9D8B030D-6E8A-4147-A177-3AD203B41FA5}">
                      <a16:colId xmlns:a16="http://schemas.microsoft.com/office/drawing/2014/main" val="348127369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14304515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34827581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09762844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10845357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33503875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0228251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09563065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89002215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9560241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146131555"/>
                    </a:ext>
                  </a:extLst>
                </a:gridCol>
              </a:tblGrid>
              <a:tr h="703992">
                <a:tc>
                  <a:txBody>
                    <a:bodyPr/>
                    <a:lstStyle/>
                    <a:p>
                      <a:r>
                        <a:rPr lang="sv-SE" sz="1400" dirty="0" err="1"/>
                        <a:t>Your</a:t>
                      </a:r>
                      <a:r>
                        <a:rPr lang="sv-SE" sz="1400" dirty="0"/>
                        <a:t> Best </a:t>
                      </a:r>
                      <a:r>
                        <a:rPr lang="sv-SE" sz="1400" dirty="0" err="1"/>
                        <a:t>Contributions</a:t>
                      </a:r>
                      <a:endParaRPr lang="sv-SE" sz="1400"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PLAN: </a:t>
                      </a:r>
                      <a:r>
                        <a:rPr lang="sv-SE" sz="1400" err="1"/>
                        <a:t>Analyze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what</a:t>
                      </a:r>
                      <a:r>
                        <a:rPr lang="sv-SE" sz="1400"/>
                        <a:t> is </a:t>
                      </a:r>
                      <a:r>
                        <a:rPr lang="sv-SE" sz="1400" err="1"/>
                        <a:t>needed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DO:  </a:t>
                      </a:r>
                      <a:r>
                        <a:rPr lang="sv-SE" sz="1400" err="1"/>
                        <a:t>Implement</a:t>
                      </a:r>
                      <a:r>
                        <a:rPr lang="sv-SE" sz="1400"/>
                        <a:t> - </a:t>
                      </a:r>
                      <a:r>
                        <a:rPr lang="sv-SE" sz="1400" err="1"/>
                        <a:t>take</a:t>
                      </a:r>
                      <a:r>
                        <a:rPr lang="sv-SE" sz="1400"/>
                        <a:t> action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CHECK: Does it </a:t>
                      </a:r>
                      <a:r>
                        <a:rPr lang="sv-SE" sz="1400" err="1"/>
                        <a:t>work</a:t>
                      </a:r>
                      <a:r>
                        <a:rPr lang="sv-SE" sz="1400"/>
                        <a:t>?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ACT: </a:t>
                      </a:r>
                      <a:r>
                        <a:rPr lang="sv-SE" sz="1400" err="1"/>
                        <a:t>Evaluate</a:t>
                      </a:r>
                      <a:r>
                        <a:rPr lang="sv-SE" sz="1400"/>
                        <a:t>, and </a:t>
                      </a:r>
                      <a:r>
                        <a:rPr lang="sv-SE" sz="1400" err="1"/>
                        <a:t>improve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400"/>
                        <a:t>PROGRESS: </a:t>
                      </a:r>
                      <a:r>
                        <a:rPr lang="sv-SE" sz="1400" err="1"/>
                        <a:t>Degree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of</a:t>
                      </a:r>
                      <a:r>
                        <a:rPr lang="sv-SE" sz="1400"/>
                        <a:t> </a:t>
                      </a:r>
                      <a:r>
                        <a:rPr lang="sv-SE" sz="1400" err="1"/>
                        <a:t>completion</a:t>
                      </a:r>
                      <a:endParaRPr lang="sv-SE" sz="1400"/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889497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Xxxxxxxxxxxx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779523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Yyyyyyyyyyyy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940160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Zzzzzzzzzzzz</a:t>
                      </a:r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>
                          <a:solidFill>
                            <a:srgbClr val="FF0000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879048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128671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131627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677021"/>
                  </a:ext>
                </a:extLst>
              </a:tr>
              <a:tr h="536244">
                <a:tc>
                  <a:txBody>
                    <a:bodyPr/>
                    <a:lstStyle/>
                    <a:p>
                      <a:r>
                        <a:rPr lang="sv-SE" err="1"/>
                        <a:t>When</a:t>
                      </a:r>
                      <a:r>
                        <a:rPr lang="sv-SE"/>
                        <a:t> all </a:t>
                      </a:r>
                      <a:r>
                        <a:rPr lang="sv-SE" err="1"/>
                        <a:t>of</a:t>
                      </a:r>
                      <a:r>
                        <a:rPr lang="sv-SE"/>
                        <a:t> it is </a:t>
                      </a:r>
                      <a:r>
                        <a:rPr lang="sv-SE" err="1"/>
                        <a:t>complete</a:t>
                      </a:r>
                      <a:r>
                        <a:rPr lang="sv-SE"/>
                        <a:t> =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sv-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210427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1D43924B-9D2F-4E3A-9A76-104E24D10CCA}"/>
              </a:ext>
            </a:extLst>
          </p:cNvPr>
          <p:cNvSpPr txBox="1">
            <a:spLocks/>
          </p:cNvSpPr>
          <p:nvPr/>
        </p:nvSpPr>
        <p:spPr>
          <a:xfrm>
            <a:off x="539750" y="118808"/>
            <a:ext cx="3168047" cy="5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#0</a:t>
            </a:r>
          </a:p>
        </p:txBody>
      </p:sp>
    </p:spTree>
    <p:extLst>
      <p:ext uri="{BB962C8B-B14F-4D97-AF65-F5344CB8AC3E}">
        <p14:creationId xmlns:p14="http://schemas.microsoft.com/office/powerpoint/2010/main" val="223619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0EB5D9E-0BC0-0054-DED2-80CBA6A288E0}"/>
              </a:ext>
            </a:extLst>
          </p:cNvPr>
          <p:cNvSpPr txBox="1">
            <a:spLocks/>
          </p:cNvSpPr>
          <p:nvPr/>
        </p:nvSpPr>
        <p:spPr>
          <a:xfrm>
            <a:off x="631065" y="489511"/>
            <a:ext cx="3168047" cy="5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  <a:highlight>
                  <a:srgbClr val="FFFF00"/>
                </a:highlight>
                <a:ea typeface="ＭＳ Ｐゴシック" pitchFamily="-65" charset="-128"/>
                <a:cs typeface="ＭＳ Ｐゴシック" pitchFamily="-65" charset="-128"/>
              </a:rPr>
              <a:t>Tracking toolkit #3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BBAA8695-124E-5FE3-52BE-FE9AB7413221}"/>
              </a:ext>
            </a:extLst>
          </p:cNvPr>
          <p:cNvSpPr txBox="1"/>
          <p:nvPr/>
        </p:nvSpPr>
        <p:spPr>
          <a:xfrm>
            <a:off x="631065" y="1429554"/>
            <a:ext cx="8194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Any relevant existing KPI that will provide lagging confirmation that Best Contribution work has been effective and you can see a breakthrough in a lagging KPI.</a:t>
            </a:r>
          </a:p>
          <a:p>
            <a:endParaRPr lang="en-GB" dirty="0"/>
          </a:p>
          <a:p>
            <a:r>
              <a:rPr lang="en-GB" dirty="0"/>
              <a:t>In the toolkit this will simple be viewed through a link/address to the correct internal KPI-library.</a:t>
            </a:r>
          </a:p>
        </p:txBody>
      </p:sp>
    </p:spTree>
    <p:extLst>
      <p:ext uri="{BB962C8B-B14F-4D97-AF65-F5344CB8AC3E}">
        <p14:creationId xmlns:p14="http://schemas.microsoft.com/office/powerpoint/2010/main" val="73026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ruta 2">
            <a:extLst>
              <a:ext uri="{FF2B5EF4-FFF2-40B4-BE49-F238E27FC236}">
                <a16:creationId xmlns:a16="http://schemas.microsoft.com/office/drawing/2014/main" id="{A5A85634-1FCB-D18B-CDC8-D572A8F4B41A}"/>
              </a:ext>
            </a:extLst>
          </p:cNvPr>
          <p:cNvSpPr txBox="1"/>
          <p:nvPr/>
        </p:nvSpPr>
        <p:spPr>
          <a:xfrm>
            <a:off x="903767" y="740233"/>
            <a:ext cx="8394779" cy="820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ÖNSKAD ADDERAD FUNKTIONALITET i PRIO ORDNING</a:t>
            </a:r>
          </a:p>
          <a:p>
            <a:endParaRPr lang="sv-SE" sz="1600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Knapp som väcker IntegChatte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Då matas Integ i RunTime med alla Teamets data från Toolkit (Integ har access till kontext)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Integ ska kunna lyssna på allt som sägs (typ Co-pilot)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Formuleringsstöd på begäran (Främst Action Plan + Desired State)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Möjlighet att skriva in förslaget direkt i Toolkit (Måste dock justeras/godkännas av ansvarig)</a:t>
            </a:r>
          </a:p>
          <a:p>
            <a:pPr lvl="1"/>
            <a:endParaRPr lang="sv-SE" sz="1100" b="1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På fråga från teamet/enskilda Users ska IntegChatte kunna: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Summera dagens möte samt lyfta fram och erkänna framsteg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Summera vilka framsteg "företaget" gör kopplat till strategiska fokuseringar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Ge teamet en eller två reflektionsfrågor inför punkten "Learnings" på agendan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Kunna hänvisa/tipsa om andra team som jobbar med snarlika frågor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>
              <a:highlight>
                <a:srgbClr val="00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sv-SE" sz="1100" b="1" noProof="1">
                <a:highlight>
                  <a:srgbClr val="00FF00"/>
                </a:highlight>
              </a:rPr>
              <a:t>Uppdatera och ladda upp Lokomotivmål + Newsflash + Strategiskt Resonemang (Sköts av kundens SuperUser)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>
                <a:highlight>
                  <a:srgbClr val="00FF00"/>
                </a:highlight>
              </a:rPr>
              <a:t>Kontentan av Strategiskt Resonemang (Var 6:e månad)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>
                <a:highlight>
                  <a:srgbClr val="00FF00"/>
                </a:highlight>
              </a:rPr>
              <a:t>Uppdaterat Stragiskt Fokuserat Lokomotivmål (Varje månad eller oftare)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342900" indent="-342900">
              <a:buFont typeface="+mj-lt"/>
              <a:buAutoNum type="arabicPeriod"/>
            </a:pPr>
            <a:r>
              <a:rPr lang="sv-SE" sz="1100" b="1" noProof="1"/>
              <a:t>Löpande datainsamling under mötet som stöd till vitalitet och framdrift (Ej prio nu, men låt oss ta höjd för dessa redan nu)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deltagare (%) som ger egna muntliga bidrag under mötet = indikator #1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tillfällen då en deltagare bygger vidare på en kollegas inspel = indikator #2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perspektivkrockar som landar i samsyn= indikator #3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"action steps" som bockas av + adderas = indikator #4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Bekräftad samsyn om Bästa Bidrag, Mål och Desired State #5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kollegiala erkännanden = indikator #6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Hög närvaro = indikator #7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....</a:t>
            </a:r>
          </a:p>
          <a:p>
            <a:pPr lvl="1"/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"action steps"  som glider bortom ursprunglig färdigtid = vitalitetssänke #1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perspektivkrockar som lämnar känslor av frustration och friktion = vitalitetssänke #2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Antal signaler som indikerar att mötet/frågorna som diskuteras inte känns vikiga/angelägna = vitalitetssänke #3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Hög frånvaro (%) = vitalitetssänke #4 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100" noProof="1"/>
              <a:t>....</a:t>
            </a:r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endParaRPr lang="sv-SE" sz="11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sv-SE" sz="1400" noProof="1"/>
          </a:p>
          <a:p>
            <a:pPr marL="800100" lvl="1" indent="-342900">
              <a:buFont typeface="+mj-lt"/>
              <a:buAutoNum type="alphaLcParenR"/>
            </a:pPr>
            <a:endParaRPr lang="en-GB" sz="1400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800100" lvl="1" indent="-342900">
              <a:buFont typeface="+mj-lt"/>
              <a:buAutoNum type="alphaLcParenR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694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269F9C470146948A9AE22C25D54A289" ma:contentTypeVersion="11" ma:contentTypeDescription="Skapa ett nytt dokument." ma:contentTypeScope="" ma:versionID="26bab6cb366aff0dee7096d55240a9bd">
  <xsd:schema xmlns:xsd="http://www.w3.org/2001/XMLSchema" xmlns:xs="http://www.w3.org/2001/XMLSchema" xmlns:p="http://schemas.microsoft.com/office/2006/metadata/properties" xmlns:ns2="77c72c74-dd67-4d37-bbd3-386608852789" xmlns:ns3="e19948cb-67d9-4653-a9a4-fa6e2206334a" targetNamespace="http://schemas.microsoft.com/office/2006/metadata/properties" ma:root="true" ma:fieldsID="263339743fb18ef0a2b2975491b2409a" ns2:_="" ns3:_="">
    <xsd:import namespace="77c72c74-dd67-4d37-bbd3-386608852789"/>
    <xsd:import namespace="e19948cb-67d9-4653-a9a4-fa6e22063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72c74-dd67-4d37-bbd3-3866088527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27c33e8c-a19b-4969-83de-fb79209d4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948cb-67d9-4653-a9a4-fa6e2206334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9813579-33a4-442e-9d78-9389b5abc4e5}" ma:internalName="TaxCatchAll" ma:showField="CatchAllData" ma:web="e19948cb-67d9-4653-a9a4-fa6e22063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c72c74-dd67-4d37-bbd3-386608852789">
      <Terms xmlns="http://schemas.microsoft.com/office/infopath/2007/PartnerControls"/>
    </lcf76f155ced4ddcb4097134ff3c332f>
    <TaxCatchAll xmlns="e19948cb-67d9-4653-a9a4-fa6e2206334a" xsi:nil="true"/>
  </documentManagement>
</p:properties>
</file>

<file path=customXml/itemProps1.xml><?xml version="1.0" encoding="utf-8"?>
<ds:datastoreItem xmlns:ds="http://schemas.openxmlformats.org/officeDocument/2006/customXml" ds:itemID="{4045104B-807B-4258-976E-E13EB50BDA7E}"/>
</file>

<file path=customXml/itemProps2.xml><?xml version="1.0" encoding="utf-8"?>
<ds:datastoreItem xmlns:ds="http://schemas.openxmlformats.org/officeDocument/2006/customXml" ds:itemID="{07CE7F2D-A4B8-408B-B38B-52399B298333}"/>
</file>

<file path=customXml/itemProps3.xml><?xml version="1.0" encoding="utf-8"?>
<ds:datastoreItem xmlns:ds="http://schemas.openxmlformats.org/officeDocument/2006/customXml" ds:itemID="{D399E678-9E7F-4733-957E-F593171AF3E7}"/>
</file>

<file path=docProps/app.xml><?xml version="1.0" encoding="utf-8"?>
<Properties xmlns="http://schemas.openxmlformats.org/officeDocument/2006/extended-properties" xmlns:vt="http://schemas.openxmlformats.org/officeDocument/2006/docPropsVTypes">
  <TotalTime>3048</TotalTime>
  <Words>1173</Words>
  <Application>Microsoft Macintosh PowerPoint</Application>
  <PresentationFormat>Bredbild</PresentationFormat>
  <Paragraphs>208</Paragraphs>
  <Slides>7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4" baseType="lpstr">
      <vt:lpstr>ＭＳ Ｐゴシック</vt:lpstr>
      <vt:lpstr>Aptos</vt:lpstr>
      <vt:lpstr>Aptos Display</vt:lpstr>
      <vt:lpstr>Arial</vt:lpstr>
      <vt:lpstr>Geneva</vt:lpstr>
      <vt:lpstr>Verdana</vt:lpstr>
      <vt:lpstr>Office-tema</vt:lpstr>
      <vt:lpstr>PowerPoint-presentation</vt:lpstr>
      <vt:lpstr>PowerPoint-presentation</vt:lpstr>
      <vt:lpstr>Action Plan</vt:lpstr>
      <vt:lpstr>Tracking toolkit #1</vt:lpstr>
      <vt:lpstr>Progress Measure (PDCA)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Lasse Ramquist</dc:creator>
  <cp:lastModifiedBy>Lasse Ramquist</cp:lastModifiedBy>
  <cp:revision>1</cp:revision>
  <dcterms:created xsi:type="dcterms:W3CDTF">2026-01-24T06:28:45Z</dcterms:created>
  <dcterms:modified xsi:type="dcterms:W3CDTF">2026-01-26T09:17:00Z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0x0101001269F9C470146948A9AE22C25D54A289</vt:lpwstr>
  </property>
</Properties>
</file>
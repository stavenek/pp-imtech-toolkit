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147477004" r:id="rId2"/>
    <p:sldId id="2147477001" r:id="rId3"/>
    <p:sldId id="2147477002" r:id="rId4"/>
    <p:sldId id="256" r:id="rId5"/>
    <p:sldId id="2147476980" r:id="rId6"/>
    <p:sldId id="2147477000" r:id="rId7"/>
    <p:sldId id="383" r:id="rId8"/>
    <p:sldId id="2147477005" r:id="rId9"/>
    <p:sldId id="2147477003" r:id="rId10"/>
    <p:sldId id="2147476973" r:id="rId11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487DD4-64D1-694E-8DCC-96C7316AB518}" v="66" dt="2026-01-25T15:24:42.8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64"/>
    <p:restoredTop sz="94675"/>
  </p:normalViewPr>
  <p:slideViewPr>
    <p:cSldViewPr snapToGrid="0">
      <p:cViewPr>
        <p:scale>
          <a:sx n="65" d="100"/>
          <a:sy n="65" d="100"/>
        </p:scale>
        <p:origin x="2680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902-2AFD-A042-9F5F-9BBECE0D5ACE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6B5833-97D8-F649-B055-18885FEE3F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6936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9CA2F-2F53-468D-C7BA-CAC049779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C277E653-412B-7482-642A-705F4547BEF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3663" y="744538"/>
            <a:ext cx="6615112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3F636286-0CC2-EFAA-60E6-011354B20E6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906463" y="4714875"/>
            <a:ext cx="4984750" cy="44688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272" tIns="46136" rIns="92272" bIns="46136"/>
          <a:lstStyle/>
          <a:p>
            <a:endParaRPr lang="nl-NL">
              <a:ea typeface="Geneva"/>
              <a:cs typeface="Geneva"/>
            </a:endParaRPr>
          </a:p>
        </p:txBody>
      </p:sp>
    </p:spTree>
    <p:extLst>
      <p:ext uri="{BB962C8B-B14F-4D97-AF65-F5344CB8AC3E}">
        <p14:creationId xmlns:p14="http://schemas.microsoft.com/office/powerpoint/2010/main" val="1729354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9CD586-C145-4C08-8ECD-C931AA628107}" type="slidenum">
              <a:rPr lang="sv-SE" smtClean="0"/>
              <a:t>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59903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744FE-41B7-D12C-AC9B-8F4246B55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4D5F9240-B07C-C67C-883E-E7C7D3700B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41D04746-FBCA-48EA-773C-8A7240E47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 </a:t>
            </a:r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893F1FF9-E6A5-82AA-1B92-4A09C71597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9CD586-C145-4C08-8ECD-C931AA628107}" type="slidenum">
              <a:rPr lang="sv-SE" smtClean="0"/>
              <a:t>10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08012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C8BC5A1-081E-C29C-0DDE-DF377944E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F9AC9F61-630A-3232-DEA6-420D2BA28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  <a:endParaRPr lang="en-GB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310C618-6986-E34B-F422-46EE88BCC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D72D-FA8D-BA44-8CE2-A70F0A2EE892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1E882C1-CF1E-2DCF-760F-A22723554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32CD2FD-286B-7BAB-87F5-F40FE837F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BA17-0C38-544D-96CD-B75DCD323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7702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F7D80C7-B260-AF9C-F410-4B56467B3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24C309C-9E18-6AFE-87F8-8B537CBFA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4F2520A3-ED76-68DB-CAF6-F4CD221C2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D72D-FA8D-BA44-8CE2-A70F0A2EE892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17B4EEA-4A3D-9B46-5499-D017A0A63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4B2ED98-8B76-F81E-53AE-637C38FCF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BA17-0C38-544D-96CD-B75DCD323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9158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26C13D2-35CA-15F1-5C97-CC8E01FE7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D9C518FB-49CB-234D-DE65-910FD94B7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4F9A7569-0292-41E3-2D0C-35EEDDAEE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D72D-FA8D-BA44-8CE2-A70F0A2EE892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52B4B227-2D9F-5CE6-F568-500474BC2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3CC5E2D-AC8A-CFE6-90FC-9D17D35B1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BA17-0C38-544D-96CD-B75DCD323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7195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AB76505-1E4E-AF11-A712-ADC0FC1FC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ACEB99B-A6D0-3F54-27B4-9CF3BCF89D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9FBAFB0B-A0C3-2BC2-FE74-DFB201285F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6B1178D5-190B-AF89-9F17-3AB5EEC74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D72D-FA8D-BA44-8CE2-A70F0A2EE892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E15D32A6-3CC5-7CDD-7463-8D13FA23C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33CC04A6-774D-6975-20DE-AA1C57F5A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BA17-0C38-544D-96CD-B75DCD323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257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A5BBDF4-45B7-354E-C0EA-1C40A4C72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67FC4EED-3037-CA2B-3410-2DC34A7BA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241E450E-EAE4-AAA8-4CF6-71341BE345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986362AB-1A83-97F8-412E-34C94E1FA3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4EAFB8A5-C8F5-21A0-B1DF-E51B7AA7AF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DC0BE3D4-03A0-5CEF-FDA4-1BD8E23E8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D72D-FA8D-BA44-8CE2-A70F0A2EE892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9AF4EFCF-3CB1-1609-2CA7-1E7970477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C5B78FD7-E213-4D58-3917-0A193D185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BA17-0C38-544D-96CD-B75DCD323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46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EF810A8-0D3B-86BD-717D-581623605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AFD6C063-4F1D-ECDA-328C-9AD2F2E1A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D72D-FA8D-BA44-8CE2-A70F0A2EE892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E152A79F-B79A-95FA-B51C-93C7DAABA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65229C92-4F0D-BEC5-4495-F8956B343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BA17-0C38-544D-96CD-B75DCD323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7601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F8121F0E-DF66-8526-A954-CD49F0C48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D72D-FA8D-BA44-8CE2-A70F0A2EE892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F440C3D0-4EDF-2E6E-91AB-FEAF8D84E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2AAC7E11-4C6A-EEDC-2EE5-3E85C8E2F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BA17-0C38-544D-96CD-B75DCD323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8662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1F83369-3259-FD0B-6384-029595C72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13ED788-4AD3-8365-169B-E6F653583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8C99B7FA-1FC3-CB37-EDB8-A29250B3D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E0CFEDE4-AB2A-681F-811C-720DED92D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D72D-FA8D-BA44-8CE2-A70F0A2EE892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A952F51E-CB74-CC78-8695-8BE911A53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EBDC4BC2-E4D3-199B-3C41-45DD6DEA6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BA17-0C38-544D-96CD-B75DCD323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798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8262D9F-2AE1-B698-CC1B-11F1F0048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76BB1DC5-3F0A-03E4-720F-1E81E6C10A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88D04B14-A3A0-D11E-4BC9-44BA277CD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B96D7569-A27D-D149-A214-9C118D843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D72D-FA8D-BA44-8CE2-A70F0A2EE892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1CA0C977-73E7-3C56-59A9-DE086C5A1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18B60921-EFE7-7459-B95E-6D3FFA1B8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BA17-0C38-544D-96CD-B75DCD323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0163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E53B3A8-1805-1B4B-F2CF-1FC36D725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7D652C92-8A91-ACA5-DBA0-E419B87F1A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8B0AAEE-E1D1-B467-83E0-68FCD193A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D72D-FA8D-BA44-8CE2-A70F0A2EE892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FF8630F-9521-4D96-1F03-5DA8114D0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5F7ED78-77F9-EEFE-9C08-C29407FBA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BA17-0C38-544D-96CD-B75DCD323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6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245DC78D-F199-300F-A564-360B9B852C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9EAA58BF-D150-79F2-2AFB-3B624EBE6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EC063A90-606B-157F-4BC5-D98C1E67E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D72D-FA8D-BA44-8CE2-A70F0A2EE892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A130438A-0AB3-201D-545D-D378818CE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6C80D4B3-1E5C-1F26-32A0-1F569BC0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BA17-0C38-544D-96CD-B75DCD323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06431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ubrik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8" name="Platshållare för datum 7"/>
          <p:cNvSpPr>
            <a:spLocks noGrp="1"/>
          </p:cNvSpPr>
          <p:nvPr>
            <p:ph type="dt" sz="half" idx="10"/>
          </p:nvPr>
        </p:nvSpPr>
        <p:spPr>
          <a:xfrm>
            <a:off x="8115301" y="6501099"/>
            <a:ext cx="2705100" cy="147415"/>
          </a:xfrm>
          <a:prstGeom prst="rect">
            <a:avLst/>
          </a:prstGeom>
        </p:spPr>
        <p:txBody>
          <a:bodyPr/>
          <a:lstStyle/>
          <a:p>
            <a:r>
              <a:rPr lang="sv-SE"/>
              <a:t>2017-05-24</a:t>
            </a:r>
          </a:p>
        </p:txBody>
      </p:sp>
      <p:sp>
        <p:nvSpPr>
          <p:cNvPr id="9" name="Platshållare för sidfot 8"/>
          <p:cNvSpPr>
            <a:spLocks noGrp="1"/>
          </p:cNvSpPr>
          <p:nvPr>
            <p:ph type="ftr" sz="quarter" idx="11"/>
          </p:nvPr>
        </p:nvSpPr>
        <p:spPr>
          <a:xfrm>
            <a:off x="539750" y="6501099"/>
            <a:ext cx="5446713" cy="147415"/>
          </a:xfrm>
          <a:prstGeom prst="rect">
            <a:avLst/>
          </a:prstGeom>
        </p:spPr>
        <p:txBody>
          <a:bodyPr/>
          <a:lstStyle/>
          <a:p>
            <a:r>
              <a:rPr lang="sv-SE"/>
              <a:t>Integral Management</a:t>
            </a:r>
          </a:p>
        </p:txBody>
      </p:sp>
      <p:sp>
        <p:nvSpPr>
          <p:cNvPr id="10" name="Platshållare för bildnumm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45303-2AAE-45D1-913A-B06AE6474513}" type="slidenum">
              <a:rPr lang="sv-SE" smtClean="0"/>
              <a:t>‹#›</a:t>
            </a:fld>
            <a:endParaRPr lang="sv-SE"/>
          </a:p>
        </p:txBody>
      </p:sp>
      <p:sp>
        <p:nvSpPr>
          <p:cNvPr id="4" name="Platshållare för innehåll 3"/>
          <p:cNvSpPr>
            <a:spLocks noGrp="1"/>
          </p:cNvSpPr>
          <p:nvPr>
            <p:ph sz="quarter" idx="13"/>
          </p:nvPr>
        </p:nvSpPr>
        <p:spPr>
          <a:xfrm>
            <a:off x="371476" y="1742536"/>
            <a:ext cx="9505769" cy="4458238"/>
          </a:xfrm>
        </p:spPr>
        <p:txBody>
          <a:bodyPr/>
          <a:lstStyle/>
          <a:p>
            <a:pPr lvl="0"/>
            <a:r>
              <a:rPr lang="sv-SE"/>
              <a:t>Redigera format för bakgrundstext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2130665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vå kolum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6B25631-0701-40C3-A2E5-991715C62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633590"/>
            <a:ext cx="10280650" cy="490869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4DD60AF-FC73-41DA-8ECD-F5290F6D9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717" y="2028826"/>
            <a:ext cx="5430838" cy="428783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0976B228-402E-404C-A134-9A6A7E7BB3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15301" y="6501099"/>
            <a:ext cx="2705100" cy="147415"/>
          </a:xfrm>
          <a:prstGeom prst="rect">
            <a:avLst/>
          </a:prstGeom>
        </p:spPr>
        <p:txBody>
          <a:bodyPr/>
          <a:lstStyle/>
          <a:p>
            <a:fld id="{A741F192-FB5B-4412-821C-F5368E27214F}" type="datetime1">
              <a:rPr lang="sv-SE" smtClean="0"/>
              <a:t>2026-01-24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094C615-7E13-4A8A-90D6-32013DC87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9750" y="6501099"/>
            <a:ext cx="5446713" cy="14741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Detta är en presentationstitel</a:t>
            </a:r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C085466-4788-495F-AA4A-842866450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t>‹#›</a:t>
            </a:fld>
            <a:endParaRPr lang="sv-SE"/>
          </a:p>
        </p:txBody>
      </p:sp>
      <p:sp>
        <p:nvSpPr>
          <p:cNvPr id="7" name="Platshållare för innehåll 2">
            <a:extLst>
              <a:ext uri="{FF2B5EF4-FFF2-40B4-BE49-F238E27FC236}">
                <a16:creationId xmlns:a16="http://schemas.microsoft.com/office/drawing/2014/main" id="{0DF0C10C-F6BB-2EBB-68A7-E6BA2FC2179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21413" y="2028826"/>
            <a:ext cx="5430838" cy="42878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1" name="Platshållare för text 7">
            <a:extLst>
              <a:ext uri="{FF2B5EF4-FFF2-40B4-BE49-F238E27FC236}">
                <a16:creationId xmlns:a16="http://schemas.microsoft.com/office/drawing/2014/main" id="{CE25B8E2-356A-ACE3-2B7C-31330E8C7E4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9750" y="1585913"/>
            <a:ext cx="5429250" cy="274637"/>
          </a:xfrm>
          <a:prstGeom prst="callout1">
            <a:avLst>
              <a:gd name="adj1" fmla="val 100951"/>
              <a:gd name="adj2" fmla="val 100031"/>
              <a:gd name="adj3" fmla="val 100293"/>
              <a:gd name="adj4" fmla="val 32"/>
            </a:avLst>
          </a:prstGeom>
          <a:ln w="12700"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indent="0">
              <a:buNone/>
              <a:defRPr sz="1600" b="1" cap="all" baseline="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2" name="Platshållare för text 7">
            <a:extLst>
              <a:ext uri="{FF2B5EF4-FFF2-40B4-BE49-F238E27FC236}">
                <a16:creationId xmlns:a16="http://schemas.microsoft.com/office/drawing/2014/main" id="{7DD70C6B-4F70-1D49-7106-05D97192473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22207" y="1585913"/>
            <a:ext cx="5429250" cy="274637"/>
          </a:xfrm>
          <a:prstGeom prst="callout1">
            <a:avLst>
              <a:gd name="adj1" fmla="val 100951"/>
              <a:gd name="adj2" fmla="val 100031"/>
              <a:gd name="adj3" fmla="val 100293"/>
              <a:gd name="adj4" fmla="val 32"/>
            </a:avLst>
          </a:prstGeom>
          <a:ln w="12700"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indent="0">
              <a:buNone/>
              <a:defRPr sz="1600" b="1" cap="all" baseline="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2360097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364E0FD7-F916-8D93-AB65-D9D39B10A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39530082-312D-9BE0-95E3-49903764D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CD001DB-42F8-2CC6-57A6-AABEC99DFF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18D72D-FA8D-BA44-8CE2-A70F0A2EE892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2FD02C03-9D61-80AB-A8AD-648CF657A9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BF114137-2B34-802B-48DA-9E7EDE478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F4BA17-0C38-544D-96CD-B75DCD323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7258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ruta 3">
            <a:extLst>
              <a:ext uri="{FF2B5EF4-FFF2-40B4-BE49-F238E27FC236}">
                <a16:creationId xmlns:a16="http://schemas.microsoft.com/office/drawing/2014/main" id="{68402E25-56DC-84B3-7F1B-E35DA5786F92}"/>
              </a:ext>
            </a:extLst>
          </p:cNvPr>
          <p:cNvSpPr txBox="1"/>
          <p:nvPr/>
        </p:nvSpPr>
        <p:spPr>
          <a:xfrm>
            <a:off x="903768" y="946297"/>
            <a:ext cx="6698512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BASE FUNCTIONALITY</a:t>
            </a:r>
          </a:p>
          <a:p>
            <a:endParaRPr lang="sv-SE" noProof="1"/>
          </a:p>
          <a:p>
            <a:pPr marL="342900" indent="-342900">
              <a:buFont typeface="+mj-lt"/>
              <a:buAutoNum type="arabicPeriod"/>
            </a:pPr>
            <a:r>
              <a:rPr lang="sv-SE" sz="1600" b="1" noProof="1"/>
              <a:t>Admin levels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600" noProof="1"/>
              <a:t>Super User/Admin hos Integ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600" noProof="1"/>
              <a:t>Super User/Admin hos kund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600" noProof="1"/>
              <a:t>Team Leader Invites Team Member through e-mail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600" noProof="1"/>
              <a:t>Team Members can:</a:t>
            </a:r>
          </a:p>
          <a:p>
            <a:pPr marL="1257300" lvl="2" indent="-342900">
              <a:buFont typeface="+mj-lt"/>
              <a:buAutoNum type="alphaLcParenR"/>
            </a:pPr>
            <a:r>
              <a:rPr lang="sv-SE" sz="1600" noProof="1"/>
              <a:t>Read and navigate whole Toolkit</a:t>
            </a:r>
          </a:p>
          <a:p>
            <a:pPr marL="1257300" lvl="2" indent="-342900">
              <a:buFont typeface="+mj-lt"/>
              <a:buAutoNum type="alphaLcParenR"/>
            </a:pPr>
            <a:r>
              <a:rPr lang="sv-SE" sz="1600" noProof="1"/>
              <a:t>Change text in Action Plan (only own action steps)</a:t>
            </a:r>
          </a:p>
          <a:p>
            <a:pPr marL="1257300" lvl="2" indent="-342900">
              <a:buFont typeface="+mj-lt"/>
              <a:buAutoNum type="alphaLcParenR"/>
            </a:pPr>
            <a:r>
              <a:rPr lang="sv-SE" sz="1600" noProof="1"/>
              <a:t>Add new actions steps for themselves</a:t>
            </a:r>
          </a:p>
          <a:p>
            <a:pPr marL="1257300" lvl="2" indent="-342900">
              <a:buFont typeface="+mj-lt"/>
              <a:buAutoNum type="alphaLcParenR"/>
            </a:pPr>
            <a:r>
              <a:rPr lang="sv-SE" sz="1600" noProof="1"/>
              <a:t>Add new data to team metrics</a:t>
            </a:r>
          </a:p>
          <a:p>
            <a:pPr marL="1257300" lvl="2" indent="-342900">
              <a:buFont typeface="+mj-lt"/>
              <a:buAutoNum type="alphaLcParenR"/>
            </a:pPr>
            <a:r>
              <a:rPr lang="sv-SE" sz="1600" noProof="1"/>
              <a:t>Add Teamdocuments </a:t>
            </a:r>
          </a:p>
          <a:p>
            <a:pPr marL="342900" indent="-342900">
              <a:buFont typeface="+mj-lt"/>
              <a:buAutoNum type="arabicPeriod"/>
            </a:pPr>
            <a:endParaRPr lang="sv-SE" sz="1600" noProof="1"/>
          </a:p>
          <a:p>
            <a:pPr marL="342900" indent="-342900">
              <a:buFont typeface="+mj-lt"/>
              <a:buAutoNum type="arabicPeriod"/>
            </a:pPr>
            <a:r>
              <a:rPr lang="sv-SE" sz="1600" b="1" noProof="1"/>
              <a:t>User Interface 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600" noProof="1"/>
              <a:t>Visually attractive – fun to work in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600" noProof="1"/>
              <a:t>Easy and intuitive navigation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600" noProof="1"/>
              <a:t>Should feel like our own toolbox – not a control instrument</a:t>
            </a:r>
          </a:p>
          <a:p>
            <a:pPr lvl="1"/>
            <a:endParaRPr lang="en-GB" sz="1600" dirty="0"/>
          </a:p>
          <a:p>
            <a:pPr marL="342900" indent="-342900">
              <a:buFont typeface="+mj-lt"/>
              <a:buAutoNum type="arabicPeriod"/>
            </a:pPr>
            <a:r>
              <a:rPr lang="sv-SE" sz="1600" b="1" noProof="1"/>
              <a:t>Robust and low cost to run, support sustain and maintain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600" noProof="1"/>
              <a:t>Easy to install in customer digital environment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600" noProof="1"/>
              <a:t>Adjustable to different customer needs </a:t>
            </a:r>
            <a:endParaRPr lang="en-GB" sz="1600" dirty="0"/>
          </a:p>
          <a:p>
            <a:pPr marL="800100" lvl="1" indent="-342900">
              <a:buFont typeface="+mj-lt"/>
              <a:buAutoNum type="alphaLcParenR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3581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7AD72A9-8FA1-6901-3271-05A69D5D2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Dashboard </a:t>
            </a:r>
            <a:r>
              <a:rPr lang="en-GB" dirty="0">
                <a:highlight>
                  <a:srgbClr val="FFFF00"/>
                </a:highlight>
              </a:rPr>
              <a:t>(for individual User</a:t>
            </a:r>
            <a:r>
              <a:rPr lang="en-GB" dirty="0"/>
              <a:t>)</a:t>
            </a:r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34C566D7-23B0-EEDA-C5F7-360FDD65B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196" y="1690688"/>
            <a:ext cx="7772400" cy="3953414"/>
          </a:xfrm>
          <a:prstGeom prst="rect">
            <a:avLst/>
          </a:prstGeom>
        </p:spPr>
      </p:pic>
      <p:sp>
        <p:nvSpPr>
          <p:cNvPr id="4" name="Pratbubbla till höger 3">
            <a:extLst>
              <a:ext uri="{FF2B5EF4-FFF2-40B4-BE49-F238E27FC236}">
                <a16:creationId xmlns:a16="http://schemas.microsoft.com/office/drawing/2014/main" id="{90352074-126C-8855-4E0C-EA3B40C115AC}"/>
              </a:ext>
            </a:extLst>
          </p:cNvPr>
          <p:cNvSpPr/>
          <p:nvPr/>
        </p:nvSpPr>
        <p:spPr>
          <a:xfrm rot="10800000">
            <a:off x="9370825" y="2309185"/>
            <a:ext cx="2239928" cy="457200"/>
          </a:xfrm>
          <a:prstGeom prst="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800" dirty="0"/>
          </a:p>
        </p:txBody>
      </p:sp>
      <p:sp>
        <p:nvSpPr>
          <p:cNvPr id="5" name="textruta 4">
            <a:extLst>
              <a:ext uri="{FF2B5EF4-FFF2-40B4-BE49-F238E27FC236}">
                <a16:creationId xmlns:a16="http://schemas.microsoft.com/office/drawing/2014/main" id="{7DA57A28-0BBD-3885-5A3C-F737C976109B}"/>
              </a:ext>
            </a:extLst>
          </p:cNvPr>
          <p:cNvSpPr txBox="1"/>
          <p:nvPr/>
        </p:nvSpPr>
        <p:spPr>
          <a:xfrm>
            <a:off x="10185991" y="2353118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>
                <a:solidFill>
                  <a:schemeClr val="bg1"/>
                </a:solidFill>
              </a:rPr>
              <a:t>Change to text + link:</a:t>
            </a:r>
          </a:p>
          <a:p>
            <a:r>
              <a:rPr lang="en-GB" sz="900" dirty="0">
                <a:solidFill>
                  <a:schemeClr val="bg1"/>
                </a:solidFill>
              </a:rPr>
              <a:t>Strategic Focus &amp; Progress</a:t>
            </a:r>
          </a:p>
        </p:txBody>
      </p:sp>
      <p:sp>
        <p:nvSpPr>
          <p:cNvPr id="6" name="Pratbubbla till höger 5">
            <a:extLst>
              <a:ext uri="{FF2B5EF4-FFF2-40B4-BE49-F238E27FC236}">
                <a16:creationId xmlns:a16="http://schemas.microsoft.com/office/drawing/2014/main" id="{8CA51FCA-2CBA-2D57-4A22-980A9BF3FA32}"/>
              </a:ext>
            </a:extLst>
          </p:cNvPr>
          <p:cNvSpPr/>
          <p:nvPr/>
        </p:nvSpPr>
        <p:spPr>
          <a:xfrm rot="10800000">
            <a:off x="9346014" y="4135551"/>
            <a:ext cx="2239928" cy="457200"/>
          </a:xfrm>
          <a:prstGeom prst="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800" dirty="0"/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70D7B0F3-C736-52D0-8AD1-357004A93181}"/>
              </a:ext>
            </a:extLst>
          </p:cNvPr>
          <p:cNvSpPr txBox="1"/>
          <p:nvPr/>
        </p:nvSpPr>
        <p:spPr>
          <a:xfrm>
            <a:off x="10185991" y="4150912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bg1"/>
                </a:solidFill>
              </a:rPr>
              <a:t>Tool to design metrics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bg1"/>
                </a:solidFill>
              </a:rPr>
              <a:t>Links to existing KPI</a:t>
            </a:r>
          </a:p>
        </p:txBody>
      </p:sp>
    </p:spTree>
    <p:extLst>
      <p:ext uri="{BB962C8B-B14F-4D97-AF65-F5344CB8AC3E}">
        <p14:creationId xmlns:p14="http://schemas.microsoft.com/office/powerpoint/2010/main" val="3312266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objekt 2">
            <a:extLst>
              <a:ext uri="{FF2B5EF4-FFF2-40B4-BE49-F238E27FC236}">
                <a16:creationId xmlns:a16="http://schemas.microsoft.com/office/drawing/2014/main" id="{0A2959FA-F228-02FA-3284-CCB0FD6DD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02" y="1219909"/>
            <a:ext cx="7772400" cy="3992879"/>
          </a:xfrm>
          <a:prstGeom prst="rect">
            <a:avLst/>
          </a:prstGeom>
        </p:spPr>
      </p:pic>
      <p:sp>
        <p:nvSpPr>
          <p:cNvPr id="5" name="Pratbubbla till höger 4">
            <a:extLst>
              <a:ext uri="{FF2B5EF4-FFF2-40B4-BE49-F238E27FC236}">
                <a16:creationId xmlns:a16="http://schemas.microsoft.com/office/drawing/2014/main" id="{27FD7CB6-E63C-AD1A-FCD2-BF0BCE1E9833}"/>
              </a:ext>
            </a:extLst>
          </p:cNvPr>
          <p:cNvSpPr/>
          <p:nvPr/>
        </p:nvSpPr>
        <p:spPr>
          <a:xfrm rot="10800000">
            <a:off x="7392965" y="1993530"/>
            <a:ext cx="2239928" cy="457200"/>
          </a:xfrm>
          <a:prstGeom prst="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800" dirty="0"/>
          </a:p>
        </p:txBody>
      </p:sp>
      <p:sp>
        <p:nvSpPr>
          <p:cNvPr id="6" name="textruta 5">
            <a:extLst>
              <a:ext uri="{FF2B5EF4-FFF2-40B4-BE49-F238E27FC236}">
                <a16:creationId xmlns:a16="http://schemas.microsoft.com/office/drawing/2014/main" id="{791655D7-8194-F889-F4B9-AC1C4A5ED631}"/>
              </a:ext>
            </a:extLst>
          </p:cNvPr>
          <p:cNvSpPr txBox="1"/>
          <p:nvPr/>
        </p:nvSpPr>
        <p:spPr>
          <a:xfrm>
            <a:off x="8404151" y="1993530"/>
            <a:ext cx="100219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>
                <a:solidFill>
                  <a:schemeClr val="bg1"/>
                </a:solidFill>
              </a:rPr>
              <a:t>Admin functions</a:t>
            </a:r>
          </a:p>
        </p:txBody>
      </p:sp>
    </p:spTree>
    <p:extLst>
      <p:ext uri="{BB962C8B-B14F-4D97-AF65-F5344CB8AC3E}">
        <p14:creationId xmlns:p14="http://schemas.microsoft.com/office/powerpoint/2010/main" val="1935750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DE5FC0C-CB62-B11F-99D2-D3EC33A65B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86A47419-4756-475C-C4CF-880D3E2DE2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latshållare för bild 11">
            <a:extLst>
              <a:ext uri="{FF2B5EF4-FFF2-40B4-BE49-F238E27FC236}">
                <a16:creationId xmlns:a16="http://schemas.microsoft.com/office/drawing/2014/main" id="{687212C4-429F-2C07-4831-E1B4FD68F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49" y="322729"/>
            <a:ext cx="11542387" cy="5945714"/>
          </a:xfrm>
          <a:prstGeom prst="rect">
            <a:avLst/>
          </a:prstGeom>
          <a:noFill/>
        </p:spPr>
      </p:pic>
      <p:sp>
        <p:nvSpPr>
          <p:cNvPr id="5" name="Pratbubbla till höger 4">
            <a:extLst>
              <a:ext uri="{FF2B5EF4-FFF2-40B4-BE49-F238E27FC236}">
                <a16:creationId xmlns:a16="http://schemas.microsoft.com/office/drawing/2014/main" id="{12A5ADC6-FB16-4CBF-B43F-248A24D3605B}"/>
              </a:ext>
            </a:extLst>
          </p:cNvPr>
          <p:cNvSpPr/>
          <p:nvPr/>
        </p:nvSpPr>
        <p:spPr>
          <a:xfrm>
            <a:off x="-1499191" y="1275908"/>
            <a:ext cx="2227521" cy="538716"/>
          </a:xfrm>
          <a:prstGeom prst="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800" dirty="0"/>
              <a:t>Change to: "Where are we headed and why?"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dirty="0"/>
              <a:t>Strategic Focus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dirty="0"/>
              <a:t>How are we doing?</a:t>
            </a:r>
          </a:p>
        </p:txBody>
      </p:sp>
      <p:sp>
        <p:nvSpPr>
          <p:cNvPr id="6" name="Pratbubbla till höger 5">
            <a:extLst>
              <a:ext uri="{FF2B5EF4-FFF2-40B4-BE49-F238E27FC236}">
                <a16:creationId xmlns:a16="http://schemas.microsoft.com/office/drawing/2014/main" id="{BCEAB027-5DE8-C80F-5A2F-7611ABBB3EA5}"/>
              </a:ext>
            </a:extLst>
          </p:cNvPr>
          <p:cNvSpPr/>
          <p:nvPr/>
        </p:nvSpPr>
        <p:spPr>
          <a:xfrm>
            <a:off x="-1637413" y="1896139"/>
            <a:ext cx="2365744" cy="457200"/>
          </a:xfrm>
          <a:prstGeom prst="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800" dirty="0"/>
              <a:t>Change to: </a:t>
            </a:r>
          </a:p>
          <a:p>
            <a:r>
              <a:rPr lang="en-GB" sz="800" dirty="0"/>
              <a:t>"What are we aiming for?"</a:t>
            </a:r>
          </a:p>
        </p:txBody>
      </p:sp>
      <p:sp>
        <p:nvSpPr>
          <p:cNvPr id="8" name="Pratbubbla till höger 7">
            <a:extLst>
              <a:ext uri="{FF2B5EF4-FFF2-40B4-BE49-F238E27FC236}">
                <a16:creationId xmlns:a16="http://schemas.microsoft.com/office/drawing/2014/main" id="{45D09D0D-1067-7927-40A7-1C00ED55D51C}"/>
              </a:ext>
            </a:extLst>
          </p:cNvPr>
          <p:cNvSpPr/>
          <p:nvPr/>
        </p:nvSpPr>
        <p:spPr>
          <a:xfrm>
            <a:off x="-1275907" y="2395871"/>
            <a:ext cx="1982975" cy="457200"/>
          </a:xfrm>
          <a:prstGeom prst="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800" dirty="0"/>
              <a:t>Change to: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dirty="0"/>
              <a:t>Our Desired state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dirty="0"/>
              <a:t>Our Goals and Metrics</a:t>
            </a:r>
          </a:p>
        </p:txBody>
      </p:sp>
      <p:sp>
        <p:nvSpPr>
          <p:cNvPr id="9" name="Pratbubbla till höger 8">
            <a:extLst>
              <a:ext uri="{FF2B5EF4-FFF2-40B4-BE49-F238E27FC236}">
                <a16:creationId xmlns:a16="http://schemas.microsoft.com/office/drawing/2014/main" id="{F9FAA22D-04F5-B05A-443E-4D9A8F731998}"/>
              </a:ext>
            </a:extLst>
          </p:cNvPr>
          <p:cNvSpPr/>
          <p:nvPr/>
        </p:nvSpPr>
        <p:spPr>
          <a:xfrm>
            <a:off x="-1254645" y="3267739"/>
            <a:ext cx="1982975" cy="457200"/>
          </a:xfrm>
          <a:prstGeom prst="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800" dirty="0"/>
              <a:t>Change to: </a:t>
            </a:r>
          </a:p>
          <a:p>
            <a:r>
              <a:rPr lang="en-GB" sz="800" dirty="0"/>
              <a:t>Team Documents</a:t>
            </a:r>
          </a:p>
        </p:txBody>
      </p:sp>
      <p:cxnSp>
        <p:nvCxnSpPr>
          <p:cNvPr id="11" name="Rak 10">
            <a:extLst>
              <a:ext uri="{FF2B5EF4-FFF2-40B4-BE49-F238E27FC236}">
                <a16:creationId xmlns:a16="http://schemas.microsoft.com/office/drawing/2014/main" id="{A46D432D-C0A1-6285-6AE9-B53ED6D0EC00}"/>
              </a:ext>
            </a:extLst>
          </p:cNvPr>
          <p:cNvCxnSpPr>
            <a:cxnSpLocks/>
          </p:cNvCxnSpPr>
          <p:nvPr/>
        </p:nvCxnSpPr>
        <p:spPr>
          <a:xfrm>
            <a:off x="855920" y="3496339"/>
            <a:ext cx="9728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ak 13">
            <a:extLst>
              <a:ext uri="{FF2B5EF4-FFF2-40B4-BE49-F238E27FC236}">
                <a16:creationId xmlns:a16="http://schemas.microsoft.com/office/drawing/2014/main" id="{0B57A5CB-E57C-758E-EE7D-8BE9EE207BF6}"/>
              </a:ext>
            </a:extLst>
          </p:cNvPr>
          <p:cNvCxnSpPr>
            <a:cxnSpLocks/>
          </p:cNvCxnSpPr>
          <p:nvPr/>
        </p:nvCxnSpPr>
        <p:spPr>
          <a:xfrm>
            <a:off x="707068" y="2723707"/>
            <a:ext cx="9728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Rak 14">
            <a:extLst>
              <a:ext uri="{FF2B5EF4-FFF2-40B4-BE49-F238E27FC236}">
                <a16:creationId xmlns:a16="http://schemas.microsoft.com/office/drawing/2014/main" id="{8DE54EB4-CA5A-1189-1510-07A33D5C9602}"/>
              </a:ext>
            </a:extLst>
          </p:cNvPr>
          <p:cNvCxnSpPr>
            <a:cxnSpLocks/>
          </p:cNvCxnSpPr>
          <p:nvPr/>
        </p:nvCxnSpPr>
        <p:spPr>
          <a:xfrm>
            <a:off x="728330" y="2587255"/>
            <a:ext cx="9728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Rak 15">
            <a:extLst>
              <a:ext uri="{FF2B5EF4-FFF2-40B4-BE49-F238E27FC236}">
                <a16:creationId xmlns:a16="http://schemas.microsoft.com/office/drawing/2014/main" id="{148758B0-4707-0FCF-C794-AAAB77BBE226}"/>
              </a:ext>
            </a:extLst>
          </p:cNvPr>
          <p:cNvCxnSpPr>
            <a:cxnSpLocks/>
          </p:cNvCxnSpPr>
          <p:nvPr/>
        </p:nvCxnSpPr>
        <p:spPr>
          <a:xfrm>
            <a:off x="749592" y="2440171"/>
            <a:ext cx="9728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Rak 16">
            <a:extLst>
              <a:ext uri="{FF2B5EF4-FFF2-40B4-BE49-F238E27FC236}">
                <a16:creationId xmlns:a16="http://schemas.microsoft.com/office/drawing/2014/main" id="{AA14305E-ABD8-A795-7020-BBDFDB960021}"/>
              </a:ext>
            </a:extLst>
          </p:cNvPr>
          <p:cNvCxnSpPr>
            <a:cxnSpLocks/>
          </p:cNvCxnSpPr>
          <p:nvPr/>
        </p:nvCxnSpPr>
        <p:spPr>
          <a:xfrm>
            <a:off x="3753293" y="3429000"/>
            <a:ext cx="62732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ratbubbla till höger 21">
            <a:extLst>
              <a:ext uri="{FF2B5EF4-FFF2-40B4-BE49-F238E27FC236}">
                <a16:creationId xmlns:a16="http://schemas.microsoft.com/office/drawing/2014/main" id="{0F9945D2-BA70-3837-CDEF-C3C747709190}"/>
              </a:ext>
            </a:extLst>
          </p:cNvPr>
          <p:cNvSpPr/>
          <p:nvPr/>
        </p:nvSpPr>
        <p:spPr>
          <a:xfrm>
            <a:off x="-1286539" y="737193"/>
            <a:ext cx="2004237" cy="457200"/>
          </a:xfrm>
          <a:prstGeom prst="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800" dirty="0"/>
              <a:t>Change to: </a:t>
            </a:r>
          </a:p>
          <a:p>
            <a:r>
              <a:rPr lang="en-GB" sz="800" dirty="0"/>
              <a:t>"Teamwork Agenda"</a:t>
            </a:r>
          </a:p>
        </p:txBody>
      </p:sp>
      <p:sp>
        <p:nvSpPr>
          <p:cNvPr id="23" name="Pratbubbla till höger 22">
            <a:extLst>
              <a:ext uri="{FF2B5EF4-FFF2-40B4-BE49-F238E27FC236}">
                <a16:creationId xmlns:a16="http://schemas.microsoft.com/office/drawing/2014/main" id="{9B537A4A-460B-1DB1-4E89-75E421340405}"/>
              </a:ext>
            </a:extLst>
          </p:cNvPr>
          <p:cNvSpPr/>
          <p:nvPr/>
        </p:nvSpPr>
        <p:spPr>
          <a:xfrm>
            <a:off x="-1499191" y="3877339"/>
            <a:ext cx="2216889" cy="457200"/>
          </a:xfrm>
          <a:prstGeom prst="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800" dirty="0"/>
              <a:t>Change to: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dirty="0"/>
              <a:t>Our Learnings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dirty="0"/>
              <a:t>Our Teamwork Rules</a:t>
            </a:r>
          </a:p>
        </p:txBody>
      </p:sp>
      <p:cxnSp>
        <p:nvCxnSpPr>
          <p:cNvPr id="24" name="Rak 23">
            <a:extLst>
              <a:ext uri="{FF2B5EF4-FFF2-40B4-BE49-F238E27FC236}">
                <a16:creationId xmlns:a16="http://schemas.microsoft.com/office/drawing/2014/main" id="{178F6965-C1B2-8BE5-3317-A5EFE13DC2E4}"/>
              </a:ext>
            </a:extLst>
          </p:cNvPr>
          <p:cNvCxnSpPr>
            <a:cxnSpLocks/>
          </p:cNvCxnSpPr>
          <p:nvPr/>
        </p:nvCxnSpPr>
        <p:spPr>
          <a:xfrm>
            <a:off x="728330" y="3935819"/>
            <a:ext cx="164272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Rak 24">
            <a:extLst>
              <a:ext uri="{FF2B5EF4-FFF2-40B4-BE49-F238E27FC236}">
                <a16:creationId xmlns:a16="http://schemas.microsoft.com/office/drawing/2014/main" id="{D4C17A4B-3746-5245-8B59-EA9DBAED826E}"/>
              </a:ext>
            </a:extLst>
          </p:cNvPr>
          <p:cNvCxnSpPr>
            <a:cxnSpLocks/>
          </p:cNvCxnSpPr>
          <p:nvPr/>
        </p:nvCxnSpPr>
        <p:spPr>
          <a:xfrm>
            <a:off x="728330" y="1674630"/>
            <a:ext cx="9728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Rak 27">
            <a:extLst>
              <a:ext uri="{FF2B5EF4-FFF2-40B4-BE49-F238E27FC236}">
                <a16:creationId xmlns:a16="http://schemas.microsoft.com/office/drawing/2014/main" id="{1578308E-1D19-0D7E-2BC7-28B7BB977F87}"/>
              </a:ext>
            </a:extLst>
          </p:cNvPr>
          <p:cNvCxnSpPr>
            <a:cxnSpLocks/>
          </p:cNvCxnSpPr>
          <p:nvPr/>
        </p:nvCxnSpPr>
        <p:spPr>
          <a:xfrm>
            <a:off x="3439632" y="4219353"/>
            <a:ext cx="83465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Rak 29">
            <a:extLst>
              <a:ext uri="{FF2B5EF4-FFF2-40B4-BE49-F238E27FC236}">
                <a16:creationId xmlns:a16="http://schemas.microsoft.com/office/drawing/2014/main" id="{DE41FA7C-8DB8-F648-9612-9CE676EA85C2}"/>
              </a:ext>
            </a:extLst>
          </p:cNvPr>
          <p:cNvCxnSpPr>
            <a:cxnSpLocks/>
          </p:cNvCxnSpPr>
          <p:nvPr/>
        </p:nvCxnSpPr>
        <p:spPr>
          <a:xfrm>
            <a:off x="3253563" y="4850218"/>
            <a:ext cx="112705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8513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24D18-7699-A51C-7A60-76A0074F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5C4215BD-9218-3984-8021-565FCAF8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AE086683-F536-42AB-ABBC-F4803DFE8DBC}" type="slidenum">
              <a:rPr lang="sv-SE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sv-SE"/>
          </a:p>
        </p:txBody>
      </p:sp>
      <p:sp>
        <p:nvSpPr>
          <p:cNvPr id="13" name="Rubrik 12">
            <a:extLst>
              <a:ext uri="{FF2B5EF4-FFF2-40B4-BE49-F238E27FC236}">
                <a16:creationId xmlns:a16="http://schemas.microsoft.com/office/drawing/2014/main" id="{C51759AF-76AD-D3F8-1E14-6D777629E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655" y="227584"/>
            <a:ext cx="10515600" cy="783406"/>
          </a:xfrm>
        </p:spPr>
        <p:txBody>
          <a:bodyPr/>
          <a:lstStyle/>
          <a:p>
            <a:r>
              <a:rPr lang="en-GB" dirty="0"/>
              <a:t>Action plan</a:t>
            </a:r>
          </a:p>
        </p:txBody>
      </p:sp>
      <p:grpSp>
        <p:nvGrpSpPr>
          <p:cNvPr id="7" name="Group 3">
            <a:extLst>
              <a:ext uri="{FF2B5EF4-FFF2-40B4-BE49-F238E27FC236}">
                <a16:creationId xmlns:a16="http://schemas.microsoft.com/office/drawing/2014/main" id="{935735F4-6E12-1097-0B71-96C8A51B3E2B}"/>
              </a:ext>
            </a:extLst>
          </p:cNvPr>
          <p:cNvGrpSpPr>
            <a:grpSpLocks/>
          </p:cNvGrpSpPr>
          <p:nvPr/>
        </p:nvGrpSpPr>
        <p:grpSpPr bwMode="auto">
          <a:xfrm>
            <a:off x="370995" y="1546148"/>
            <a:ext cx="11394283" cy="4760384"/>
            <a:chOff x="175" y="711"/>
            <a:chExt cx="5389" cy="3237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BC8B53B1-C04B-E3B2-77CA-696E3EAAF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" y="1264"/>
              <a:ext cx="5368" cy="26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 dirty="0"/>
            </a:p>
          </p:txBody>
        </p:sp>
        <p:sp>
          <p:nvSpPr>
            <p:cNvPr id="9" name="Line 5">
              <a:extLst>
                <a:ext uri="{FF2B5EF4-FFF2-40B4-BE49-F238E27FC236}">
                  <a16:creationId xmlns:a16="http://schemas.microsoft.com/office/drawing/2014/main" id="{0D7C317A-2DD7-1E38-4BD4-169E92FD7C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" y="1482"/>
              <a:ext cx="536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0" name="Line 6">
              <a:extLst>
                <a:ext uri="{FF2B5EF4-FFF2-40B4-BE49-F238E27FC236}">
                  <a16:creationId xmlns:a16="http://schemas.microsoft.com/office/drawing/2014/main" id="{20E7F188-11FF-0015-DDEB-1DDBEAE6BB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" y="1674"/>
              <a:ext cx="536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8EBE74E2-A0C3-CDFF-5CBF-930CE00D01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" y="1866"/>
              <a:ext cx="536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5" name="Line 8">
              <a:extLst>
                <a:ext uri="{FF2B5EF4-FFF2-40B4-BE49-F238E27FC236}">
                  <a16:creationId xmlns:a16="http://schemas.microsoft.com/office/drawing/2014/main" id="{8CF62B0C-9440-9BDD-2D54-6EB62E87B7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" y="2058"/>
              <a:ext cx="536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6" name="Line 9">
              <a:extLst>
                <a:ext uri="{FF2B5EF4-FFF2-40B4-BE49-F238E27FC236}">
                  <a16:creationId xmlns:a16="http://schemas.microsoft.com/office/drawing/2014/main" id="{C4E5318B-E92E-54B3-2DB0-F09154E063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" y="2250"/>
              <a:ext cx="536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7" name="Line 10">
              <a:extLst>
                <a:ext uri="{FF2B5EF4-FFF2-40B4-BE49-F238E27FC236}">
                  <a16:creationId xmlns:a16="http://schemas.microsoft.com/office/drawing/2014/main" id="{287F244D-1EFA-7757-6DF0-F3F1B7A5D2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" y="2442"/>
              <a:ext cx="536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8" name="Line 11">
              <a:extLst>
                <a:ext uri="{FF2B5EF4-FFF2-40B4-BE49-F238E27FC236}">
                  <a16:creationId xmlns:a16="http://schemas.microsoft.com/office/drawing/2014/main" id="{CCB49372-A2DC-D0C7-9AE8-9C80DEC751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" y="2634"/>
              <a:ext cx="536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9" name="Line 12">
              <a:extLst>
                <a:ext uri="{FF2B5EF4-FFF2-40B4-BE49-F238E27FC236}">
                  <a16:creationId xmlns:a16="http://schemas.microsoft.com/office/drawing/2014/main" id="{A24C69B6-B0D6-5351-7CF0-DE83BECAB0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" y="2826"/>
              <a:ext cx="536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0" name="Line 13">
              <a:extLst>
                <a:ext uri="{FF2B5EF4-FFF2-40B4-BE49-F238E27FC236}">
                  <a16:creationId xmlns:a16="http://schemas.microsoft.com/office/drawing/2014/main" id="{78C3E90D-DDD6-8470-8817-660A17CACA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" y="3018"/>
              <a:ext cx="536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1" name="Line 14">
              <a:extLst>
                <a:ext uri="{FF2B5EF4-FFF2-40B4-BE49-F238E27FC236}">
                  <a16:creationId xmlns:a16="http://schemas.microsoft.com/office/drawing/2014/main" id="{C990B8C8-58A5-03C5-E810-0CFC245CC1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" y="3210"/>
              <a:ext cx="536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2" name="Line 15">
              <a:extLst>
                <a:ext uri="{FF2B5EF4-FFF2-40B4-BE49-F238E27FC236}">
                  <a16:creationId xmlns:a16="http://schemas.microsoft.com/office/drawing/2014/main" id="{D8B5B9E3-8155-C2CC-4BFC-ABEEFF7445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" y="3402"/>
              <a:ext cx="536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3" name="Line 16">
              <a:extLst>
                <a:ext uri="{FF2B5EF4-FFF2-40B4-BE49-F238E27FC236}">
                  <a16:creationId xmlns:a16="http://schemas.microsoft.com/office/drawing/2014/main" id="{B7256999-09E5-3147-E1FF-DF4231963F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" y="3594"/>
              <a:ext cx="536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4" name="Line 17">
              <a:extLst>
                <a:ext uri="{FF2B5EF4-FFF2-40B4-BE49-F238E27FC236}">
                  <a16:creationId xmlns:a16="http://schemas.microsoft.com/office/drawing/2014/main" id="{12CBBC9F-68EB-0491-614C-69FB914280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" y="3786"/>
              <a:ext cx="536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5" name="Line 18">
              <a:extLst>
                <a:ext uri="{FF2B5EF4-FFF2-40B4-BE49-F238E27FC236}">
                  <a16:creationId xmlns:a16="http://schemas.microsoft.com/office/drawing/2014/main" id="{FA2272C8-539F-2395-3D35-500A2A5F0F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4" y="1264"/>
              <a:ext cx="1" cy="26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6" name="Line 19">
              <a:extLst>
                <a:ext uri="{FF2B5EF4-FFF2-40B4-BE49-F238E27FC236}">
                  <a16:creationId xmlns:a16="http://schemas.microsoft.com/office/drawing/2014/main" id="{670A6DD5-AE7F-F2A8-3C43-AEDA706C71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3" y="1264"/>
              <a:ext cx="1" cy="26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7" name="Line 20">
              <a:extLst>
                <a:ext uri="{FF2B5EF4-FFF2-40B4-BE49-F238E27FC236}">
                  <a16:creationId xmlns:a16="http://schemas.microsoft.com/office/drawing/2014/main" id="{77892BB8-6709-BD92-68E2-FFA16D09C4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" y="1264"/>
              <a:ext cx="1" cy="26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8" name="Line 21">
              <a:extLst>
                <a:ext uri="{FF2B5EF4-FFF2-40B4-BE49-F238E27FC236}">
                  <a16:creationId xmlns:a16="http://schemas.microsoft.com/office/drawing/2014/main" id="{F9E81F02-F238-2EE6-FE2B-DF94165532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1264"/>
              <a:ext cx="1" cy="26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9" name="Rectangle 22">
              <a:extLst>
                <a:ext uri="{FF2B5EF4-FFF2-40B4-BE49-F238E27FC236}">
                  <a16:creationId xmlns:a16="http://schemas.microsoft.com/office/drawing/2014/main" id="{CB00637B-DF0A-3EA5-7259-CFC1701CBA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" y="1297"/>
              <a:ext cx="1248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sv-SE" sz="1100" b="1" noProof="1"/>
                <a:t>What is needed and why</a:t>
              </a:r>
              <a:r>
                <a:rPr lang="sv-SE" sz="1100" b="1" dirty="0"/>
                <a:t>?</a:t>
              </a:r>
            </a:p>
          </p:txBody>
        </p:sp>
        <p:sp>
          <p:nvSpPr>
            <p:cNvPr id="30" name="Rectangle 23">
              <a:extLst>
                <a:ext uri="{FF2B5EF4-FFF2-40B4-BE49-F238E27FC236}">
                  <a16:creationId xmlns:a16="http://schemas.microsoft.com/office/drawing/2014/main" id="{BAC8ECFA-C92F-037D-3AC2-AF74EEAAB9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0" y="1296"/>
              <a:ext cx="1258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sv-SE" sz="1100" b="1" dirty="0"/>
                <a:t>Actions? </a:t>
              </a:r>
              <a:r>
                <a:rPr lang="sv-SE" sz="1100" b="1" dirty="0" err="1"/>
                <a:t>Next</a:t>
              </a:r>
              <a:r>
                <a:rPr lang="sv-SE" sz="1100" b="1" dirty="0"/>
                <a:t> steps?</a:t>
              </a:r>
              <a:endParaRPr sz="1100" noProof="1"/>
            </a:p>
          </p:txBody>
        </p:sp>
        <p:sp>
          <p:nvSpPr>
            <p:cNvPr id="31" name="Rectangle 24">
              <a:extLst>
                <a:ext uri="{FF2B5EF4-FFF2-40B4-BE49-F238E27FC236}">
                  <a16:creationId xmlns:a16="http://schemas.microsoft.com/office/drawing/2014/main" id="{8CE3E171-956C-74FA-1BBC-C36CF3157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8" y="1304"/>
              <a:ext cx="1266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sv-SE" sz="1100" b="1" noProof="1"/>
                <a:t>Responsible</a:t>
              </a:r>
              <a:r>
                <a:rPr lang="sv-SE" sz="1100" b="1" dirty="0"/>
                <a:t>?              Support from?</a:t>
              </a:r>
              <a:endParaRPr sz="1100" noProof="1"/>
            </a:p>
          </p:txBody>
        </p:sp>
        <p:sp>
          <p:nvSpPr>
            <p:cNvPr id="32" name="Rectangle 25">
              <a:extLst>
                <a:ext uri="{FF2B5EF4-FFF2-40B4-BE49-F238E27FC236}">
                  <a16:creationId xmlns:a16="http://schemas.microsoft.com/office/drawing/2014/main" id="{A849E534-C4E2-23E1-7D55-44E5DA9D90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8" y="1300"/>
              <a:ext cx="1262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sv-SE" sz="1100" b="1" dirty="0"/>
                <a:t>To be </a:t>
              </a:r>
              <a:r>
                <a:rPr lang="sv-SE" sz="1100" b="1" dirty="0" err="1"/>
                <a:t>done</a:t>
              </a:r>
              <a:r>
                <a:rPr lang="sv-SE" sz="1100" b="1" dirty="0"/>
                <a:t> by? </a:t>
              </a:r>
              <a:endParaRPr sz="1100" noProof="1"/>
            </a:p>
          </p:txBody>
        </p:sp>
        <p:sp>
          <p:nvSpPr>
            <p:cNvPr id="33" name="Rectangle 26">
              <a:extLst>
                <a:ext uri="{FF2B5EF4-FFF2-40B4-BE49-F238E27FC236}">
                  <a16:creationId xmlns:a16="http://schemas.microsoft.com/office/drawing/2014/main" id="{2EBB2E0A-10CA-0F13-FB75-E98D52141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9" y="1301"/>
              <a:ext cx="423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sv-SE" sz="1100" b="1" noProof="1"/>
                <a:t>Comments</a:t>
              </a:r>
              <a:endParaRPr sz="1100" noProof="1"/>
            </a:p>
          </p:txBody>
        </p:sp>
        <p:sp>
          <p:nvSpPr>
            <p:cNvPr id="34" name="Rectangle 27">
              <a:extLst>
                <a:ext uri="{FF2B5EF4-FFF2-40B4-BE49-F238E27FC236}">
                  <a16:creationId xmlns:a16="http://schemas.microsoft.com/office/drawing/2014/main" id="{1CB72BEA-5773-6813-BC88-855851B54E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" y="711"/>
              <a:ext cx="1049" cy="45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Aft>
                  <a:spcPct val="40000"/>
                </a:spcAft>
              </a:pPr>
              <a:r>
                <a:rPr lang="sv-SE" sz="1000" noProof="1"/>
                <a:t>Best Contribution/Assignment:</a:t>
              </a:r>
              <a:endParaRPr sz="1000" noProof="1"/>
            </a:p>
            <a:p>
              <a:pPr>
                <a:spcAft>
                  <a:spcPct val="40000"/>
                </a:spcAft>
              </a:pPr>
              <a:r>
                <a:rPr lang="sv-SE" sz="1000" dirty="0" err="1"/>
                <a:t>Desired</a:t>
              </a:r>
              <a:r>
                <a:rPr lang="sv-SE" sz="1000" dirty="0"/>
                <a:t> State</a:t>
              </a:r>
              <a:r>
                <a:rPr lang="sv-SE" sz="1000" noProof="1"/>
                <a:t> &amp; Completion Rate %:</a:t>
              </a:r>
            </a:p>
            <a:p>
              <a:pPr>
                <a:spcAft>
                  <a:spcPct val="40000"/>
                </a:spcAft>
              </a:pPr>
              <a:r>
                <a:rPr lang="sv-SE" sz="1000" noProof="1"/>
                <a:t>Metric and Goal:</a:t>
              </a:r>
              <a:endParaRPr sz="1000" noProof="1"/>
            </a:p>
          </p:txBody>
        </p:sp>
        <p:sp>
          <p:nvSpPr>
            <p:cNvPr id="2" name="Line 21">
              <a:extLst>
                <a:ext uri="{FF2B5EF4-FFF2-40B4-BE49-F238E27FC236}">
                  <a16:creationId xmlns:a16="http://schemas.microsoft.com/office/drawing/2014/main" id="{861CD5CC-AC04-D10D-E784-DAFF9B5194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64" y="1264"/>
              <a:ext cx="1" cy="26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" name="Line 20">
              <a:extLst>
                <a:ext uri="{FF2B5EF4-FFF2-40B4-BE49-F238E27FC236}">
                  <a16:creationId xmlns:a16="http://schemas.microsoft.com/office/drawing/2014/main" id="{B57D8AF0-F30F-7B9E-5BC9-556F01F59D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2" y="1264"/>
              <a:ext cx="1" cy="26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2" name="Rectangle 26">
              <a:extLst>
                <a:ext uri="{FF2B5EF4-FFF2-40B4-BE49-F238E27FC236}">
                  <a16:creationId xmlns:a16="http://schemas.microsoft.com/office/drawing/2014/main" id="{2274B7E6-6D1C-9333-2085-2D12DE1FF3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6" y="1299"/>
              <a:ext cx="284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sv-SE" sz="1100" b="1" noProof="1"/>
                <a:t>Status</a:t>
              </a:r>
              <a:endParaRPr sz="1100" noProof="1"/>
            </a:p>
          </p:txBody>
        </p:sp>
        <p:sp>
          <p:nvSpPr>
            <p:cNvPr id="14" name="Line 21">
              <a:extLst>
                <a:ext uri="{FF2B5EF4-FFF2-40B4-BE49-F238E27FC236}">
                  <a16:creationId xmlns:a16="http://schemas.microsoft.com/office/drawing/2014/main" id="{B90CBC3C-41EE-C0B4-81A2-8F059A08F2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1" y="1264"/>
              <a:ext cx="1" cy="26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8" name="Line 21">
              <a:extLst>
                <a:ext uri="{FF2B5EF4-FFF2-40B4-BE49-F238E27FC236}">
                  <a16:creationId xmlns:a16="http://schemas.microsoft.com/office/drawing/2014/main" id="{D46FA4E9-D8FF-B2D1-ECAF-D69437F888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43" y="1264"/>
              <a:ext cx="1" cy="26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9" name="Rectangle 26">
              <a:extLst>
                <a:ext uri="{FF2B5EF4-FFF2-40B4-BE49-F238E27FC236}">
                  <a16:creationId xmlns:a16="http://schemas.microsoft.com/office/drawing/2014/main" id="{23AEC462-1882-3A7A-CDFA-9AE1446C6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7" y="1291"/>
              <a:ext cx="269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sv-SE" sz="1100" b="1" noProof="1"/>
                <a:t>Notify</a:t>
              </a:r>
              <a:endParaRPr sz="1100" noProof="1"/>
            </a:p>
          </p:txBody>
        </p:sp>
        <p:sp>
          <p:nvSpPr>
            <p:cNvPr id="40" name="Rectangle 26">
              <a:extLst>
                <a:ext uri="{FF2B5EF4-FFF2-40B4-BE49-F238E27FC236}">
                  <a16:creationId xmlns:a16="http://schemas.microsoft.com/office/drawing/2014/main" id="{49670B71-6F92-580E-4C68-E9953351E9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5" y="1232"/>
              <a:ext cx="315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sv-SE" sz="1100" b="1" noProof="1"/>
                <a:t>Archive</a:t>
              </a:r>
            </a:p>
            <a:p>
              <a:pPr algn="ctr"/>
              <a:r>
                <a:rPr lang="sv-SE" sz="1100" b="1" noProof="1"/>
                <a:t>Delete</a:t>
              </a:r>
              <a:endParaRPr sz="1100" noProof="1"/>
            </a:p>
          </p:txBody>
        </p:sp>
        <p:sp>
          <p:nvSpPr>
            <p:cNvPr id="42" name="Rectangle 22">
              <a:extLst>
                <a:ext uri="{FF2B5EF4-FFF2-40B4-BE49-F238E27FC236}">
                  <a16:creationId xmlns:a16="http://schemas.microsoft.com/office/drawing/2014/main" id="{0FBB2AF6-FADC-CBCC-9BC0-9107B687A0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" y="1514"/>
              <a:ext cx="1248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sv-SE" sz="1100" b="1" i="1" noProof="1">
                  <a:highlight>
                    <a:srgbClr val="FFFF00"/>
                  </a:highlight>
                </a:rPr>
                <a:t>Main problem or improvement area</a:t>
              </a:r>
              <a:endParaRPr lang="sv-SE" sz="1100" b="1" i="1" dirty="0">
                <a:highlight>
                  <a:srgbClr val="FFFF00"/>
                </a:highlight>
              </a:endParaRPr>
            </a:p>
          </p:txBody>
        </p:sp>
        <p:sp>
          <p:nvSpPr>
            <p:cNvPr id="43" name="Rectangle 23">
              <a:extLst>
                <a:ext uri="{FF2B5EF4-FFF2-40B4-BE49-F238E27FC236}">
                  <a16:creationId xmlns:a16="http://schemas.microsoft.com/office/drawing/2014/main" id="{C7D83B7A-8D30-168B-077B-AECCB013D5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" y="1487"/>
              <a:ext cx="1258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sv-SE" sz="1100" b="1" dirty="0">
                  <a:highlight>
                    <a:srgbClr val="FFFF00"/>
                  </a:highlight>
                </a:rPr>
                <a:t>Action step #1 </a:t>
              </a:r>
              <a:endParaRPr sz="1100" noProof="1">
                <a:highlight>
                  <a:srgbClr val="FFFF00"/>
                </a:highlight>
              </a:endParaRPr>
            </a:p>
          </p:txBody>
        </p:sp>
        <p:sp>
          <p:nvSpPr>
            <p:cNvPr id="44" name="Rectangle 23">
              <a:extLst>
                <a:ext uri="{FF2B5EF4-FFF2-40B4-BE49-F238E27FC236}">
                  <a16:creationId xmlns:a16="http://schemas.microsoft.com/office/drawing/2014/main" id="{96666FDC-23F0-8E62-1767-74F8297C8B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" y="1690"/>
              <a:ext cx="1258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sv-SE" sz="1100" b="1" dirty="0">
                  <a:highlight>
                    <a:srgbClr val="FFFF00"/>
                  </a:highlight>
                </a:rPr>
                <a:t>Action step #2 </a:t>
              </a:r>
              <a:endParaRPr sz="1100" noProof="1">
                <a:highlight>
                  <a:srgbClr val="FFFF00"/>
                </a:highlight>
              </a:endParaRPr>
            </a:p>
          </p:txBody>
        </p:sp>
        <p:sp>
          <p:nvSpPr>
            <p:cNvPr id="45" name="Rectangle 23">
              <a:extLst>
                <a:ext uri="{FF2B5EF4-FFF2-40B4-BE49-F238E27FC236}">
                  <a16:creationId xmlns:a16="http://schemas.microsoft.com/office/drawing/2014/main" id="{F25612D2-85D0-E3D0-6592-827B0083F1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" y="1893"/>
              <a:ext cx="1258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sv-SE" sz="1100" b="1" dirty="0">
                  <a:highlight>
                    <a:srgbClr val="FFFF00"/>
                  </a:highlight>
                </a:rPr>
                <a:t>Action step #3 </a:t>
              </a:r>
              <a:endParaRPr sz="1100" noProof="1">
                <a:highlight>
                  <a:srgbClr val="FFFF00"/>
                </a:highlight>
              </a:endParaRPr>
            </a:p>
          </p:txBody>
        </p:sp>
        <p:sp>
          <p:nvSpPr>
            <p:cNvPr id="46" name="Rectangle 23">
              <a:extLst>
                <a:ext uri="{FF2B5EF4-FFF2-40B4-BE49-F238E27FC236}">
                  <a16:creationId xmlns:a16="http://schemas.microsoft.com/office/drawing/2014/main" id="{3E24A550-D6F8-9232-265D-0A38484E1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" y="2096"/>
              <a:ext cx="1258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sv-SE" sz="1100" b="1" dirty="0">
                  <a:highlight>
                    <a:srgbClr val="FFFF00"/>
                  </a:highlight>
                </a:rPr>
                <a:t>Action step #4 </a:t>
              </a:r>
              <a:endParaRPr sz="1100" noProof="1">
                <a:highlight>
                  <a:srgbClr val="FFFF00"/>
                </a:highlight>
              </a:endParaRPr>
            </a:p>
          </p:txBody>
        </p:sp>
        <p:sp>
          <p:nvSpPr>
            <p:cNvPr id="47" name="Rectangle 23">
              <a:extLst>
                <a:ext uri="{FF2B5EF4-FFF2-40B4-BE49-F238E27FC236}">
                  <a16:creationId xmlns:a16="http://schemas.microsoft.com/office/drawing/2014/main" id="{A1DD631F-CFB4-8618-1BCF-7CC1CF9D6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" y="2270"/>
              <a:ext cx="1258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sv-SE" sz="1100" b="1" dirty="0" err="1">
                  <a:highlight>
                    <a:srgbClr val="FFFF00"/>
                  </a:highlight>
                </a:rPr>
                <a:t>Until</a:t>
              </a:r>
              <a:r>
                <a:rPr lang="sv-SE" sz="1100" b="1" dirty="0">
                  <a:highlight>
                    <a:srgbClr val="FFFF00"/>
                  </a:highlight>
                </a:rPr>
                <a:t> </a:t>
              </a:r>
              <a:r>
                <a:rPr lang="sv-SE" sz="1100" b="1" dirty="0" err="1">
                  <a:highlight>
                    <a:srgbClr val="FFFF00"/>
                  </a:highlight>
                </a:rPr>
                <a:t>complete</a:t>
              </a:r>
              <a:r>
                <a:rPr lang="sv-SE" sz="1100" b="1" dirty="0">
                  <a:highlight>
                    <a:srgbClr val="FFFF00"/>
                  </a:highlight>
                </a:rPr>
                <a:t>...</a:t>
              </a:r>
              <a:endParaRPr sz="1100" noProof="1">
                <a:highlight>
                  <a:srgbClr val="FFFF00"/>
                </a:highlight>
              </a:endParaRPr>
            </a:p>
          </p:txBody>
        </p:sp>
        <p:sp>
          <p:nvSpPr>
            <p:cNvPr id="51" name="Rectangle 23">
              <a:extLst>
                <a:ext uri="{FF2B5EF4-FFF2-40B4-BE49-F238E27FC236}">
                  <a16:creationId xmlns:a16="http://schemas.microsoft.com/office/drawing/2014/main" id="{21D5D852-CB62-233C-1E4E-D0855ACA44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6" y="1495"/>
              <a:ext cx="1258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sv-SE" sz="1100" b="1" dirty="0">
                  <a:highlight>
                    <a:srgbClr val="FFFF00"/>
                  </a:highlight>
                </a:rPr>
                <a:t>For action step #1 </a:t>
              </a:r>
              <a:endParaRPr sz="1100" noProof="1">
                <a:highlight>
                  <a:srgbClr val="FFFF00"/>
                </a:highlight>
              </a:endParaRPr>
            </a:p>
          </p:txBody>
        </p:sp>
        <p:sp>
          <p:nvSpPr>
            <p:cNvPr id="52" name="Rectangle 23">
              <a:extLst>
                <a:ext uri="{FF2B5EF4-FFF2-40B4-BE49-F238E27FC236}">
                  <a16:creationId xmlns:a16="http://schemas.microsoft.com/office/drawing/2014/main" id="{20490E6D-28FB-2007-7D1E-9A2455649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0" y="1677"/>
              <a:ext cx="1258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sv-SE" sz="1100" b="1" dirty="0">
                  <a:highlight>
                    <a:srgbClr val="FFFF00"/>
                  </a:highlight>
                </a:rPr>
                <a:t>For action step #2 </a:t>
              </a:r>
              <a:endParaRPr sz="1100" noProof="1">
                <a:highlight>
                  <a:srgbClr val="FFFF00"/>
                </a:highlight>
              </a:endParaRPr>
            </a:p>
          </p:txBody>
        </p:sp>
      </p:grpSp>
      <p:sp>
        <p:nvSpPr>
          <p:cNvPr id="41" name="textruta 40">
            <a:extLst>
              <a:ext uri="{FF2B5EF4-FFF2-40B4-BE49-F238E27FC236}">
                <a16:creationId xmlns:a16="http://schemas.microsoft.com/office/drawing/2014/main" id="{B352FB0F-EE58-CAC2-E5AC-3DB9FF7BAB0B}"/>
              </a:ext>
            </a:extLst>
          </p:cNvPr>
          <p:cNvSpPr txBox="1"/>
          <p:nvPr/>
        </p:nvSpPr>
        <p:spPr>
          <a:xfrm>
            <a:off x="404825" y="1149228"/>
            <a:ext cx="2724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>
                <a:highlight>
                  <a:srgbClr val="FFFF00"/>
                </a:highlight>
              </a:rPr>
              <a:t>Actionplan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 err="1">
                <a:highlight>
                  <a:srgbClr val="FFFF00"/>
                </a:highlight>
              </a:rPr>
              <a:t>är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 err="1">
                <a:highlight>
                  <a:srgbClr val="FFFF00"/>
                </a:highlight>
              </a:rPr>
              <a:t>kopplad</a:t>
            </a:r>
            <a:r>
              <a:rPr lang="en-GB" dirty="0">
                <a:highlight>
                  <a:srgbClr val="FFFF00"/>
                </a:highlight>
              </a:rPr>
              <a:t> till:</a:t>
            </a:r>
          </a:p>
        </p:txBody>
      </p:sp>
      <p:cxnSp>
        <p:nvCxnSpPr>
          <p:cNvPr id="49" name="Rak pil 48">
            <a:extLst>
              <a:ext uri="{FF2B5EF4-FFF2-40B4-BE49-F238E27FC236}">
                <a16:creationId xmlns:a16="http://schemas.microsoft.com/office/drawing/2014/main" id="{6B0AC2AB-376E-A93A-F2CF-47D9413F6C4D}"/>
              </a:ext>
            </a:extLst>
          </p:cNvPr>
          <p:cNvCxnSpPr>
            <a:cxnSpLocks/>
          </p:cNvCxnSpPr>
          <p:nvPr/>
        </p:nvCxnSpPr>
        <p:spPr>
          <a:xfrm flipH="1" flipV="1">
            <a:off x="2216082" y="3036161"/>
            <a:ext cx="1050499" cy="8604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5005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2A98E-2B8C-908A-332A-0A72843A4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F112899-0F1B-A51D-D848-394AD1454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98292"/>
            <a:ext cx="3168047" cy="53841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chemeClr val="tx2"/>
                </a:solidFill>
                <a:highlight>
                  <a:srgbClr val="FFFF00"/>
                </a:highlight>
                <a:ea typeface="ＭＳ Ｐゴシック" pitchFamily="-65" charset="-128"/>
                <a:cs typeface="ＭＳ Ｐゴシック" pitchFamily="-65" charset="-128"/>
              </a:rPr>
              <a:t>Tracking toolkit #1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CB1359BF-9442-317E-DECA-A444F27C7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3351" y="2053727"/>
            <a:ext cx="5070475" cy="4116388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endParaRPr lang="en-GB"/>
          </a:p>
        </p:txBody>
      </p:sp>
      <p:sp>
        <p:nvSpPr>
          <p:cNvPr id="10244" name="Line 4">
            <a:extLst>
              <a:ext uri="{FF2B5EF4-FFF2-40B4-BE49-F238E27FC236}">
                <a16:creationId xmlns:a16="http://schemas.microsoft.com/office/drawing/2014/main" id="{F801013F-7D0B-DB31-5520-D90DF9A8AAE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3351" y="5754191"/>
            <a:ext cx="507047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45" name="Line 5">
            <a:extLst>
              <a:ext uri="{FF2B5EF4-FFF2-40B4-BE49-F238E27FC236}">
                <a16:creationId xmlns:a16="http://schemas.microsoft.com/office/drawing/2014/main" id="{ECC9A8C3-D5B0-8F51-B92D-71B0246A77D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3351" y="5349377"/>
            <a:ext cx="507047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46" name="Line 6">
            <a:extLst>
              <a:ext uri="{FF2B5EF4-FFF2-40B4-BE49-F238E27FC236}">
                <a16:creationId xmlns:a16="http://schemas.microsoft.com/office/drawing/2014/main" id="{AB2C60AE-FA5F-F30E-E7C0-3C85BB62E829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3351" y="4933452"/>
            <a:ext cx="507047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47" name="Line 7">
            <a:extLst>
              <a:ext uri="{FF2B5EF4-FFF2-40B4-BE49-F238E27FC236}">
                <a16:creationId xmlns:a16="http://schemas.microsoft.com/office/drawing/2014/main" id="{B0359DE1-9F71-7939-3953-A89E0D7F1EF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3351" y="4528641"/>
            <a:ext cx="507047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48" name="Line 8">
            <a:extLst>
              <a:ext uri="{FF2B5EF4-FFF2-40B4-BE49-F238E27FC236}">
                <a16:creationId xmlns:a16="http://schemas.microsoft.com/office/drawing/2014/main" id="{F3E548ED-463D-75F6-C648-BC9C342AD3F9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3351" y="4112716"/>
            <a:ext cx="507047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49" name="Line 9">
            <a:extLst>
              <a:ext uri="{FF2B5EF4-FFF2-40B4-BE49-F238E27FC236}">
                <a16:creationId xmlns:a16="http://schemas.microsoft.com/office/drawing/2014/main" id="{B2DE53CF-2C67-5D70-60AE-60640348768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3351" y="3695202"/>
            <a:ext cx="507047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50" name="Line 10">
            <a:extLst>
              <a:ext uri="{FF2B5EF4-FFF2-40B4-BE49-F238E27FC236}">
                <a16:creationId xmlns:a16="http://schemas.microsoft.com/office/drawing/2014/main" id="{646DFD9D-8364-A75E-CD36-C0F0E2A05E8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3351" y="3290391"/>
            <a:ext cx="507047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51" name="Line 11">
            <a:extLst>
              <a:ext uri="{FF2B5EF4-FFF2-40B4-BE49-F238E27FC236}">
                <a16:creationId xmlns:a16="http://schemas.microsoft.com/office/drawing/2014/main" id="{31E7BAC0-1C81-6597-FAFF-9AA1658F0BD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3351" y="2874466"/>
            <a:ext cx="507047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52" name="Line 12">
            <a:extLst>
              <a:ext uri="{FF2B5EF4-FFF2-40B4-BE49-F238E27FC236}">
                <a16:creationId xmlns:a16="http://schemas.microsoft.com/office/drawing/2014/main" id="{52BBA2B2-E284-DF0C-5853-CAE1C818277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3351" y="2469652"/>
            <a:ext cx="507047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53" name="Line 13">
            <a:extLst>
              <a:ext uri="{FF2B5EF4-FFF2-40B4-BE49-F238E27FC236}">
                <a16:creationId xmlns:a16="http://schemas.microsoft.com/office/drawing/2014/main" id="{0B8A2D37-2C77-2563-4712-A4C11A5540DE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3351" y="2053727"/>
            <a:ext cx="507047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54" name="Rectangle 14">
            <a:extLst>
              <a:ext uri="{FF2B5EF4-FFF2-40B4-BE49-F238E27FC236}">
                <a16:creationId xmlns:a16="http://schemas.microsoft.com/office/drawing/2014/main" id="{AB60C038-036A-B581-D5F7-F9152C2F8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3351" y="2053727"/>
            <a:ext cx="5070475" cy="4116388"/>
          </a:xfrm>
          <a:prstGeom prst="rect">
            <a:avLst/>
          </a:prstGeom>
          <a:noFill/>
          <a:ln w="11113">
            <a:solidFill>
              <a:srgbClr val="808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55" name="Line 15">
            <a:extLst>
              <a:ext uri="{FF2B5EF4-FFF2-40B4-BE49-F238E27FC236}">
                <a16:creationId xmlns:a16="http://schemas.microsoft.com/office/drawing/2014/main" id="{C41990E3-6264-92A3-A048-EBDC5D28B9D9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3350" y="2053727"/>
            <a:ext cx="1588" cy="41163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56" name="Line 16">
            <a:extLst>
              <a:ext uri="{FF2B5EF4-FFF2-40B4-BE49-F238E27FC236}">
                <a16:creationId xmlns:a16="http://schemas.microsoft.com/office/drawing/2014/main" id="{33649EB7-D14B-7AE1-78F6-BAF245129FF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4776" y="6170116"/>
            <a:ext cx="2857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57" name="Line 17">
            <a:extLst>
              <a:ext uri="{FF2B5EF4-FFF2-40B4-BE49-F238E27FC236}">
                <a16:creationId xmlns:a16="http://schemas.microsoft.com/office/drawing/2014/main" id="{A83CFB47-8F80-B268-ABC2-3E9A07467D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4776" y="5754191"/>
            <a:ext cx="2857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58" name="Line 18">
            <a:extLst>
              <a:ext uri="{FF2B5EF4-FFF2-40B4-BE49-F238E27FC236}">
                <a16:creationId xmlns:a16="http://schemas.microsoft.com/office/drawing/2014/main" id="{C141E02D-3364-9466-43F1-F3875D68F4C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4776" y="5349377"/>
            <a:ext cx="2857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59" name="Line 19">
            <a:extLst>
              <a:ext uri="{FF2B5EF4-FFF2-40B4-BE49-F238E27FC236}">
                <a16:creationId xmlns:a16="http://schemas.microsoft.com/office/drawing/2014/main" id="{AF75F213-BEF1-A529-EFC3-EBE8EB897C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4776" y="4933452"/>
            <a:ext cx="2857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60" name="Line 20">
            <a:extLst>
              <a:ext uri="{FF2B5EF4-FFF2-40B4-BE49-F238E27FC236}">
                <a16:creationId xmlns:a16="http://schemas.microsoft.com/office/drawing/2014/main" id="{768463A0-ABCE-8865-87AF-1E82BA65550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4776" y="4528641"/>
            <a:ext cx="2857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61" name="Line 21">
            <a:extLst>
              <a:ext uri="{FF2B5EF4-FFF2-40B4-BE49-F238E27FC236}">
                <a16:creationId xmlns:a16="http://schemas.microsoft.com/office/drawing/2014/main" id="{3873461A-454E-E271-5014-84B16D0FFF7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4776" y="4112716"/>
            <a:ext cx="2857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62" name="Line 22">
            <a:extLst>
              <a:ext uri="{FF2B5EF4-FFF2-40B4-BE49-F238E27FC236}">
                <a16:creationId xmlns:a16="http://schemas.microsoft.com/office/drawing/2014/main" id="{2DFF1600-239E-26E5-3957-2329DE812D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4776" y="3695202"/>
            <a:ext cx="2857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63" name="Line 23">
            <a:extLst>
              <a:ext uri="{FF2B5EF4-FFF2-40B4-BE49-F238E27FC236}">
                <a16:creationId xmlns:a16="http://schemas.microsoft.com/office/drawing/2014/main" id="{1CDEDAF7-9E6E-4466-8E8E-9C911E375BE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4776" y="3290391"/>
            <a:ext cx="2857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64" name="Line 24">
            <a:extLst>
              <a:ext uri="{FF2B5EF4-FFF2-40B4-BE49-F238E27FC236}">
                <a16:creationId xmlns:a16="http://schemas.microsoft.com/office/drawing/2014/main" id="{39F2DE3E-1F82-183A-07CC-7187C92E5B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1914" y="2882402"/>
            <a:ext cx="2857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65" name="Line 25">
            <a:extLst>
              <a:ext uri="{FF2B5EF4-FFF2-40B4-BE49-F238E27FC236}">
                <a16:creationId xmlns:a16="http://schemas.microsoft.com/office/drawing/2014/main" id="{723BCFA9-FEDA-3801-B6DC-57A1636B79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4776" y="2469652"/>
            <a:ext cx="2857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66" name="Line 26">
            <a:extLst>
              <a:ext uri="{FF2B5EF4-FFF2-40B4-BE49-F238E27FC236}">
                <a16:creationId xmlns:a16="http://schemas.microsoft.com/office/drawing/2014/main" id="{C538D98F-4B25-1965-D527-131A3409D04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4776" y="2053727"/>
            <a:ext cx="2857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67" name="Line 27">
            <a:extLst>
              <a:ext uri="{FF2B5EF4-FFF2-40B4-BE49-F238E27FC236}">
                <a16:creationId xmlns:a16="http://schemas.microsoft.com/office/drawing/2014/main" id="{D7C8730D-EBF9-FE5D-8EFE-D0BAB46BADC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3351" y="6170116"/>
            <a:ext cx="507047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68" name="Line 28">
            <a:extLst>
              <a:ext uri="{FF2B5EF4-FFF2-40B4-BE49-F238E27FC236}">
                <a16:creationId xmlns:a16="http://schemas.microsoft.com/office/drawing/2014/main" id="{70E93405-326A-F314-F65C-459B017FC7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73350" y="6170116"/>
            <a:ext cx="1588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69" name="Line 29">
            <a:extLst>
              <a:ext uri="{FF2B5EF4-FFF2-40B4-BE49-F238E27FC236}">
                <a16:creationId xmlns:a16="http://schemas.microsoft.com/office/drawing/2014/main" id="{C86E848D-EF3F-81F5-4480-E86C49842C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73375" y="6170116"/>
            <a:ext cx="1588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70" name="Line 30">
            <a:extLst>
              <a:ext uri="{FF2B5EF4-FFF2-40B4-BE49-F238E27FC236}">
                <a16:creationId xmlns:a16="http://schemas.microsoft.com/office/drawing/2014/main" id="{7E4994BC-CE8C-2DBF-EB23-22CAFFAB99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81339" y="6170116"/>
            <a:ext cx="1587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71" name="Line 31">
            <a:extLst>
              <a:ext uri="{FF2B5EF4-FFF2-40B4-BE49-F238E27FC236}">
                <a16:creationId xmlns:a16="http://schemas.microsoft.com/office/drawing/2014/main" id="{B927C88C-8198-B806-2181-BEF4F73BF3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9775" y="6170116"/>
            <a:ext cx="1588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72" name="Line 32">
            <a:extLst>
              <a:ext uri="{FF2B5EF4-FFF2-40B4-BE49-F238E27FC236}">
                <a16:creationId xmlns:a16="http://schemas.microsoft.com/office/drawing/2014/main" id="{DC940371-AA49-B581-5D86-A29E71F863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89325" y="6170116"/>
            <a:ext cx="1588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73" name="Line 33">
            <a:extLst>
              <a:ext uri="{FF2B5EF4-FFF2-40B4-BE49-F238E27FC236}">
                <a16:creationId xmlns:a16="http://schemas.microsoft.com/office/drawing/2014/main" id="{471793A2-BA3D-9146-892D-77436766CD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87764" y="6170116"/>
            <a:ext cx="1587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74" name="Line 34">
            <a:extLst>
              <a:ext uri="{FF2B5EF4-FFF2-40B4-BE49-F238E27FC236}">
                <a16:creationId xmlns:a16="http://schemas.microsoft.com/office/drawing/2014/main" id="{05F94741-3770-2934-A2BC-14657FA29F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87788" y="6170116"/>
            <a:ext cx="0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75" name="Line 35">
            <a:extLst>
              <a:ext uri="{FF2B5EF4-FFF2-40B4-BE49-F238E27FC236}">
                <a16:creationId xmlns:a16="http://schemas.microsoft.com/office/drawing/2014/main" id="{9F79BF4C-3E41-8803-17C7-BBEC7146A3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95750" y="6170116"/>
            <a:ext cx="1588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76" name="Line 36">
            <a:extLst>
              <a:ext uri="{FF2B5EF4-FFF2-40B4-BE49-F238E27FC236}">
                <a16:creationId xmlns:a16="http://schemas.microsoft.com/office/drawing/2014/main" id="{E44906C5-91FB-AED6-6D03-F689CB638F3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94189" y="6170116"/>
            <a:ext cx="1587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77" name="Line 37">
            <a:extLst>
              <a:ext uri="{FF2B5EF4-FFF2-40B4-BE49-F238E27FC236}">
                <a16:creationId xmlns:a16="http://schemas.microsoft.com/office/drawing/2014/main" id="{2E4226AB-52CA-4B49-FAE8-B27266CBCA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03739" y="6170116"/>
            <a:ext cx="1587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78" name="Line 38">
            <a:extLst>
              <a:ext uri="{FF2B5EF4-FFF2-40B4-BE49-F238E27FC236}">
                <a16:creationId xmlns:a16="http://schemas.microsoft.com/office/drawing/2014/main" id="{662E5153-0299-980F-A215-E108083474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00589" y="6170116"/>
            <a:ext cx="1587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79" name="Line 39">
            <a:extLst>
              <a:ext uri="{FF2B5EF4-FFF2-40B4-BE49-F238E27FC236}">
                <a16:creationId xmlns:a16="http://schemas.microsoft.com/office/drawing/2014/main" id="{7497FC09-27BD-6863-E1A0-2DA361FFB1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99025" y="6170116"/>
            <a:ext cx="1588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80" name="Line 40">
            <a:extLst>
              <a:ext uri="{FF2B5EF4-FFF2-40B4-BE49-F238E27FC236}">
                <a16:creationId xmlns:a16="http://schemas.microsoft.com/office/drawing/2014/main" id="{9F355A3C-E71B-9393-D0DC-9A743A155F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08575" y="6170116"/>
            <a:ext cx="1588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81" name="Line 41">
            <a:extLst>
              <a:ext uri="{FF2B5EF4-FFF2-40B4-BE49-F238E27FC236}">
                <a16:creationId xmlns:a16="http://schemas.microsoft.com/office/drawing/2014/main" id="{DD0CD854-604B-081D-3AA4-08E48C8BD3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07014" y="6170116"/>
            <a:ext cx="1587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82" name="Line 42">
            <a:extLst>
              <a:ext uri="{FF2B5EF4-FFF2-40B4-BE49-F238E27FC236}">
                <a16:creationId xmlns:a16="http://schemas.microsoft.com/office/drawing/2014/main" id="{15CE45FD-9E4E-3FB8-A26F-7BCF1BDBB0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16564" y="6170116"/>
            <a:ext cx="1587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83" name="Line 43">
            <a:extLst>
              <a:ext uri="{FF2B5EF4-FFF2-40B4-BE49-F238E27FC236}">
                <a16:creationId xmlns:a16="http://schemas.microsoft.com/office/drawing/2014/main" id="{B8436CC2-7ECA-C3D9-AA95-C9F70800C5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15000" y="6170116"/>
            <a:ext cx="1588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84" name="Line 44">
            <a:extLst>
              <a:ext uri="{FF2B5EF4-FFF2-40B4-BE49-F238E27FC236}">
                <a16:creationId xmlns:a16="http://schemas.microsoft.com/office/drawing/2014/main" id="{17DD7141-15BF-C48B-6974-D40B63F14C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13439" y="6170116"/>
            <a:ext cx="1587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85" name="Line 45">
            <a:extLst>
              <a:ext uri="{FF2B5EF4-FFF2-40B4-BE49-F238E27FC236}">
                <a16:creationId xmlns:a16="http://schemas.microsoft.com/office/drawing/2014/main" id="{41D47C18-88F2-EB5E-D681-287744727D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22989" y="6170116"/>
            <a:ext cx="1587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86" name="Line 46">
            <a:extLst>
              <a:ext uri="{FF2B5EF4-FFF2-40B4-BE49-F238E27FC236}">
                <a16:creationId xmlns:a16="http://schemas.microsoft.com/office/drawing/2014/main" id="{A1BC5AC7-D753-D0A6-5C61-8C7CDA8E84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1425" y="6170116"/>
            <a:ext cx="1588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87" name="Line 47">
            <a:extLst>
              <a:ext uri="{FF2B5EF4-FFF2-40B4-BE49-F238E27FC236}">
                <a16:creationId xmlns:a16="http://schemas.microsoft.com/office/drawing/2014/main" id="{160FC58E-282B-1CE0-7985-715B9FDC03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30975" y="6170116"/>
            <a:ext cx="0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88" name="Line 48">
            <a:extLst>
              <a:ext uri="{FF2B5EF4-FFF2-40B4-BE49-F238E27FC236}">
                <a16:creationId xmlns:a16="http://schemas.microsoft.com/office/drawing/2014/main" id="{C7B3AF7C-4DDC-8733-53B7-4E5AF1F774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29414" y="6170116"/>
            <a:ext cx="1587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89" name="Line 49">
            <a:extLst>
              <a:ext uri="{FF2B5EF4-FFF2-40B4-BE49-F238E27FC236}">
                <a16:creationId xmlns:a16="http://schemas.microsoft.com/office/drawing/2014/main" id="{EFFBDA4B-0078-44C3-E319-5D9D662C63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27850" y="6170116"/>
            <a:ext cx="1588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90" name="Line 50">
            <a:extLst>
              <a:ext uri="{FF2B5EF4-FFF2-40B4-BE49-F238E27FC236}">
                <a16:creationId xmlns:a16="http://schemas.microsoft.com/office/drawing/2014/main" id="{B81D680C-446C-2688-E5A8-630796A56F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37400" y="6170116"/>
            <a:ext cx="0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91" name="Line 51">
            <a:extLst>
              <a:ext uri="{FF2B5EF4-FFF2-40B4-BE49-F238E27FC236}">
                <a16:creationId xmlns:a16="http://schemas.microsoft.com/office/drawing/2014/main" id="{24ACAE8E-9ED0-3FE5-D34D-32AFAA908A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35839" y="6170116"/>
            <a:ext cx="1587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92" name="Line 52">
            <a:extLst>
              <a:ext uri="{FF2B5EF4-FFF2-40B4-BE49-F238E27FC236}">
                <a16:creationId xmlns:a16="http://schemas.microsoft.com/office/drawing/2014/main" id="{0E36E6F3-89C2-7AE7-6A12-3F3036C469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43800" y="6170116"/>
            <a:ext cx="1588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93" name="Line 53">
            <a:extLst>
              <a:ext uri="{FF2B5EF4-FFF2-40B4-BE49-F238E27FC236}">
                <a16:creationId xmlns:a16="http://schemas.microsoft.com/office/drawing/2014/main" id="{881A920D-E575-79F1-AB71-7D67B28E41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43825" y="6170116"/>
            <a:ext cx="1588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grpSp>
        <p:nvGrpSpPr>
          <p:cNvPr id="55350" name="Group 54">
            <a:extLst>
              <a:ext uri="{FF2B5EF4-FFF2-40B4-BE49-F238E27FC236}">
                <a16:creationId xmlns:a16="http://schemas.microsoft.com/office/drawing/2014/main" id="{28C96FFB-92D5-88E4-1114-010FCA0ADA9F}"/>
              </a:ext>
            </a:extLst>
          </p:cNvPr>
          <p:cNvGrpSpPr>
            <a:grpSpLocks/>
          </p:cNvGrpSpPr>
          <p:nvPr/>
        </p:nvGrpSpPr>
        <p:grpSpPr bwMode="auto">
          <a:xfrm>
            <a:off x="2792413" y="2514103"/>
            <a:ext cx="4851400" cy="1952625"/>
            <a:chOff x="905" y="1202"/>
            <a:chExt cx="3464" cy="1230"/>
          </a:xfrm>
        </p:grpSpPr>
        <p:sp>
          <p:nvSpPr>
            <p:cNvPr id="10447" name="Line 55">
              <a:extLst>
                <a:ext uri="{FF2B5EF4-FFF2-40B4-BE49-F238E27FC236}">
                  <a16:creationId xmlns:a16="http://schemas.microsoft.com/office/drawing/2014/main" id="{8FCD5731-911E-B479-2C69-C32C25F6A1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05" y="2209"/>
              <a:ext cx="278" cy="223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48" name="Line 56">
              <a:extLst>
                <a:ext uri="{FF2B5EF4-FFF2-40B4-BE49-F238E27FC236}">
                  <a16:creationId xmlns:a16="http://schemas.microsoft.com/office/drawing/2014/main" id="{AD628757-A08A-B613-F111-59C5F9248B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83" y="2112"/>
              <a:ext cx="142" cy="97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49" name="Line 57">
              <a:extLst>
                <a:ext uri="{FF2B5EF4-FFF2-40B4-BE49-F238E27FC236}">
                  <a16:creationId xmlns:a16="http://schemas.microsoft.com/office/drawing/2014/main" id="{F0868585-9BDF-D8D4-B832-9A8A77CEDF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25" y="2002"/>
              <a:ext cx="149" cy="110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50" name="Line 58">
              <a:extLst>
                <a:ext uri="{FF2B5EF4-FFF2-40B4-BE49-F238E27FC236}">
                  <a16:creationId xmlns:a16="http://schemas.microsoft.com/office/drawing/2014/main" id="{386A1FCA-5E2F-D619-47C6-FFE8E5D638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74" y="1898"/>
              <a:ext cx="142" cy="104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51" name="Line 59">
              <a:extLst>
                <a:ext uri="{FF2B5EF4-FFF2-40B4-BE49-F238E27FC236}">
                  <a16:creationId xmlns:a16="http://schemas.microsoft.com/office/drawing/2014/main" id="{B72C071F-B5B0-4E80-E9A0-A348541BCB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6" y="1898"/>
              <a:ext cx="149" cy="48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52" name="Line 60">
              <a:extLst>
                <a:ext uri="{FF2B5EF4-FFF2-40B4-BE49-F238E27FC236}">
                  <a16:creationId xmlns:a16="http://schemas.microsoft.com/office/drawing/2014/main" id="{91701924-791D-D7CA-86A2-638228281B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65" y="1774"/>
              <a:ext cx="142" cy="172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53" name="Line 61">
              <a:extLst>
                <a:ext uri="{FF2B5EF4-FFF2-40B4-BE49-F238E27FC236}">
                  <a16:creationId xmlns:a16="http://schemas.microsoft.com/office/drawing/2014/main" id="{226DDBAF-9796-26D8-40F0-F4130A4DF7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7" y="1774"/>
              <a:ext cx="141" cy="290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54" name="Line 62">
              <a:extLst>
                <a:ext uri="{FF2B5EF4-FFF2-40B4-BE49-F238E27FC236}">
                  <a16:creationId xmlns:a16="http://schemas.microsoft.com/office/drawing/2014/main" id="{8C10EFEF-679F-68F6-0D40-25A7696B61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48" y="1946"/>
              <a:ext cx="149" cy="118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55" name="Line 63">
              <a:extLst>
                <a:ext uri="{FF2B5EF4-FFF2-40B4-BE49-F238E27FC236}">
                  <a16:creationId xmlns:a16="http://schemas.microsoft.com/office/drawing/2014/main" id="{1604F7A7-20CF-3D67-50DB-B60037F67C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97" y="1857"/>
              <a:ext cx="142" cy="89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56" name="Line 64">
              <a:extLst>
                <a:ext uri="{FF2B5EF4-FFF2-40B4-BE49-F238E27FC236}">
                  <a16:creationId xmlns:a16="http://schemas.microsoft.com/office/drawing/2014/main" id="{F5F9D2C8-2844-3F9C-1A71-F9FCCE059C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9" y="1857"/>
              <a:ext cx="245" cy="167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57" name="Line 65">
              <a:extLst>
                <a:ext uri="{FF2B5EF4-FFF2-40B4-BE49-F238E27FC236}">
                  <a16:creationId xmlns:a16="http://schemas.microsoft.com/office/drawing/2014/main" id="{FF285A00-3FE0-17BE-CB8B-DAF4CBF1E7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84" y="1560"/>
              <a:ext cx="188" cy="464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58" name="Line 66">
              <a:extLst>
                <a:ext uri="{FF2B5EF4-FFF2-40B4-BE49-F238E27FC236}">
                  <a16:creationId xmlns:a16="http://schemas.microsoft.com/office/drawing/2014/main" id="{61A661E2-8BF8-A6D9-E943-15521157BD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2" y="1560"/>
              <a:ext cx="149" cy="90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59" name="Line 67">
              <a:extLst>
                <a:ext uri="{FF2B5EF4-FFF2-40B4-BE49-F238E27FC236}">
                  <a16:creationId xmlns:a16="http://schemas.microsoft.com/office/drawing/2014/main" id="{58AA1E27-67A3-15B0-B9DE-C9EB55989A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1" y="1650"/>
              <a:ext cx="142" cy="41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60" name="Line 68">
              <a:extLst>
                <a:ext uri="{FF2B5EF4-FFF2-40B4-BE49-F238E27FC236}">
                  <a16:creationId xmlns:a16="http://schemas.microsoft.com/office/drawing/2014/main" id="{AD7EE798-2554-C17F-4A77-6FDD655B6C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3" y="1691"/>
              <a:ext cx="149" cy="1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61" name="Line 69">
              <a:extLst>
                <a:ext uri="{FF2B5EF4-FFF2-40B4-BE49-F238E27FC236}">
                  <a16:creationId xmlns:a16="http://schemas.microsoft.com/office/drawing/2014/main" id="{D1D8B198-E7CD-869C-1D31-F6F6D72169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12" y="1602"/>
              <a:ext cx="142" cy="89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62" name="Line 70">
              <a:extLst>
                <a:ext uri="{FF2B5EF4-FFF2-40B4-BE49-F238E27FC236}">
                  <a16:creationId xmlns:a16="http://schemas.microsoft.com/office/drawing/2014/main" id="{F0799D78-1C81-B1CD-85A2-564801EC07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4" y="1602"/>
              <a:ext cx="142" cy="27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63" name="Line 71">
              <a:extLst>
                <a:ext uri="{FF2B5EF4-FFF2-40B4-BE49-F238E27FC236}">
                  <a16:creationId xmlns:a16="http://schemas.microsoft.com/office/drawing/2014/main" id="{3C9A72E1-BAAF-CD49-711B-2415FDBEDB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6" y="1560"/>
              <a:ext cx="149" cy="69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64" name="Line 72">
              <a:extLst>
                <a:ext uri="{FF2B5EF4-FFF2-40B4-BE49-F238E27FC236}">
                  <a16:creationId xmlns:a16="http://schemas.microsoft.com/office/drawing/2014/main" id="{D225EF18-98A1-2FA1-1E8F-4C1AEDA4F9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5" y="1429"/>
              <a:ext cx="142" cy="131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65" name="Line 73">
              <a:extLst>
                <a:ext uri="{FF2B5EF4-FFF2-40B4-BE49-F238E27FC236}">
                  <a16:creationId xmlns:a16="http://schemas.microsoft.com/office/drawing/2014/main" id="{0AD47216-7129-8A26-07C6-15C1729992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7" y="1429"/>
              <a:ext cx="149" cy="221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66" name="Line 74">
              <a:extLst>
                <a:ext uri="{FF2B5EF4-FFF2-40B4-BE49-F238E27FC236}">
                  <a16:creationId xmlns:a16="http://schemas.microsoft.com/office/drawing/2014/main" id="{7044C3A7-5962-04D7-0D5C-1E553AA13E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6" y="1560"/>
              <a:ext cx="142" cy="90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67" name="Line 75">
              <a:extLst>
                <a:ext uri="{FF2B5EF4-FFF2-40B4-BE49-F238E27FC236}">
                  <a16:creationId xmlns:a16="http://schemas.microsoft.com/office/drawing/2014/main" id="{1B70F670-5FC0-D90A-132C-30A78AAB7E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78" y="1491"/>
              <a:ext cx="142" cy="69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68" name="Line 76">
              <a:extLst>
                <a:ext uri="{FF2B5EF4-FFF2-40B4-BE49-F238E27FC236}">
                  <a16:creationId xmlns:a16="http://schemas.microsoft.com/office/drawing/2014/main" id="{D9A2067C-FC70-A51A-EAF7-3C2B23BD31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0" y="1202"/>
              <a:ext cx="149" cy="289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</p:grpSp>
      <p:grpSp>
        <p:nvGrpSpPr>
          <p:cNvPr id="55373" name="Group 77">
            <a:extLst>
              <a:ext uri="{FF2B5EF4-FFF2-40B4-BE49-F238E27FC236}">
                <a16:creationId xmlns:a16="http://schemas.microsoft.com/office/drawing/2014/main" id="{695D0BDF-D1F9-0C25-1272-F68245B49E4F}"/>
              </a:ext>
            </a:extLst>
          </p:cNvPr>
          <p:cNvGrpSpPr>
            <a:grpSpLocks/>
          </p:cNvGrpSpPr>
          <p:nvPr/>
        </p:nvGrpSpPr>
        <p:grpSpPr bwMode="auto">
          <a:xfrm rot="-247562">
            <a:off x="2716213" y="2877640"/>
            <a:ext cx="4813300" cy="1441450"/>
            <a:chOff x="892" y="1471"/>
            <a:chExt cx="3477" cy="1000"/>
          </a:xfrm>
        </p:grpSpPr>
        <p:sp>
          <p:nvSpPr>
            <p:cNvPr id="10422" name="Line 78">
              <a:extLst>
                <a:ext uri="{FF2B5EF4-FFF2-40B4-BE49-F238E27FC236}">
                  <a16:creationId xmlns:a16="http://schemas.microsoft.com/office/drawing/2014/main" id="{7D339F30-45D2-0F7B-C3F2-8BDC0B8343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54" y="1719"/>
              <a:ext cx="142" cy="41"/>
            </a:xfrm>
            <a:prstGeom prst="line">
              <a:avLst/>
            </a:prstGeom>
            <a:noFill/>
            <a:ln w="22225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23" name="Line 79">
              <a:extLst>
                <a:ext uri="{FF2B5EF4-FFF2-40B4-BE49-F238E27FC236}">
                  <a16:creationId xmlns:a16="http://schemas.microsoft.com/office/drawing/2014/main" id="{23886771-801F-7B7D-9239-140966316C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87" y="1595"/>
              <a:ext cx="149" cy="41"/>
            </a:xfrm>
            <a:prstGeom prst="line">
              <a:avLst/>
            </a:prstGeom>
            <a:noFill/>
            <a:ln w="22225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grpSp>
          <p:nvGrpSpPr>
            <p:cNvPr id="10424" name="Group 80">
              <a:extLst>
                <a:ext uri="{FF2B5EF4-FFF2-40B4-BE49-F238E27FC236}">
                  <a16:creationId xmlns:a16="http://schemas.microsoft.com/office/drawing/2014/main" id="{77B732FE-1ED8-2FCF-64AB-B427411A7D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92" y="1471"/>
              <a:ext cx="3477" cy="1000"/>
              <a:chOff x="892" y="1471"/>
              <a:chExt cx="3477" cy="1000"/>
            </a:xfrm>
          </p:grpSpPr>
          <p:sp>
            <p:nvSpPr>
              <p:cNvPr id="10425" name="Line 81">
                <a:extLst>
                  <a:ext uri="{FF2B5EF4-FFF2-40B4-BE49-F238E27FC236}">
                    <a16:creationId xmlns:a16="http://schemas.microsoft.com/office/drawing/2014/main" id="{60726184-282C-4E1C-D9D2-F209615201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92" y="2429"/>
                <a:ext cx="149" cy="42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26" name="Line 82">
                <a:extLst>
                  <a:ext uri="{FF2B5EF4-FFF2-40B4-BE49-F238E27FC236}">
                    <a16:creationId xmlns:a16="http://schemas.microsoft.com/office/drawing/2014/main" id="{6DDBFC0E-4879-CB08-2ED1-6E024EF7FD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41" y="2388"/>
                <a:ext cx="142" cy="41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27" name="Line 83">
                <a:extLst>
                  <a:ext uri="{FF2B5EF4-FFF2-40B4-BE49-F238E27FC236}">
                    <a16:creationId xmlns:a16="http://schemas.microsoft.com/office/drawing/2014/main" id="{1F880835-4796-33C7-585A-02E1AA1AD5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83" y="2346"/>
                <a:ext cx="142" cy="42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28" name="Line 84">
                <a:extLst>
                  <a:ext uri="{FF2B5EF4-FFF2-40B4-BE49-F238E27FC236}">
                    <a16:creationId xmlns:a16="http://schemas.microsoft.com/office/drawing/2014/main" id="{32FE12C6-A91D-6542-99A7-7E163607EF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25" y="2305"/>
                <a:ext cx="149" cy="41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29" name="Line 85">
                <a:extLst>
                  <a:ext uri="{FF2B5EF4-FFF2-40B4-BE49-F238E27FC236}">
                    <a16:creationId xmlns:a16="http://schemas.microsoft.com/office/drawing/2014/main" id="{51049535-3B4B-C3D3-AAB0-4B2D332B20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74" y="2264"/>
                <a:ext cx="142" cy="41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30" name="Line 86">
                <a:extLst>
                  <a:ext uri="{FF2B5EF4-FFF2-40B4-BE49-F238E27FC236}">
                    <a16:creationId xmlns:a16="http://schemas.microsoft.com/office/drawing/2014/main" id="{200F3522-F08A-93A6-148C-3568A5960B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16" y="2222"/>
                <a:ext cx="149" cy="42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31" name="Line 87">
                <a:extLst>
                  <a:ext uri="{FF2B5EF4-FFF2-40B4-BE49-F238E27FC236}">
                    <a16:creationId xmlns:a16="http://schemas.microsoft.com/office/drawing/2014/main" id="{D8BBE50E-C304-8140-E74D-363BC6AE01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65" y="2174"/>
                <a:ext cx="142" cy="48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32" name="Line 88">
                <a:extLst>
                  <a:ext uri="{FF2B5EF4-FFF2-40B4-BE49-F238E27FC236}">
                    <a16:creationId xmlns:a16="http://schemas.microsoft.com/office/drawing/2014/main" id="{158AFA8A-C9FE-EDCD-2227-61A0B557ED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07" y="2133"/>
                <a:ext cx="141" cy="41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33" name="Line 89">
                <a:extLst>
                  <a:ext uri="{FF2B5EF4-FFF2-40B4-BE49-F238E27FC236}">
                    <a16:creationId xmlns:a16="http://schemas.microsoft.com/office/drawing/2014/main" id="{0543747B-C9F7-B653-C3C3-2F26E2A337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48" y="2091"/>
                <a:ext cx="149" cy="42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34" name="Line 90">
                <a:extLst>
                  <a:ext uri="{FF2B5EF4-FFF2-40B4-BE49-F238E27FC236}">
                    <a16:creationId xmlns:a16="http://schemas.microsoft.com/office/drawing/2014/main" id="{1F15DB5B-7B2D-F6BA-262B-514A379D03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97" y="2050"/>
                <a:ext cx="142" cy="41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35" name="Line 91">
                <a:extLst>
                  <a:ext uri="{FF2B5EF4-FFF2-40B4-BE49-F238E27FC236}">
                    <a16:creationId xmlns:a16="http://schemas.microsoft.com/office/drawing/2014/main" id="{7B23CFFE-F9EF-9A1E-6EF1-72EBB42CDD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39" y="2009"/>
                <a:ext cx="149" cy="41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36" name="Line 92">
                <a:extLst>
                  <a:ext uri="{FF2B5EF4-FFF2-40B4-BE49-F238E27FC236}">
                    <a16:creationId xmlns:a16="http://schemas.microsoft.com/office/drawing/2014/main" id="{6552EFA7-2E5A-9A8F-B956-D7A1E080CA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88" y="1967"/>
                <a:ext cx="142" cy="42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37" name="Line 93">
                <a:extLst>
                  <a:ext uri="{FF2B5EF4-FFF2-40B4-BE49-F238E27FC236}">
                    <a16:creationId xmlns:a16="http://schemas.microsoft.com/office/drawing/2014/main" id="{DB79F43E-3B9E-27DD-9CB3-8859543FD7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30" y="1926"/>
                <a:ext cx="142" cy="41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38" name="Line 94">
                <a:extLst>
                  <a:ext uri="{FF2B5EF4-FFF2-40B4-BE49-F238E27FC236}">
                    <a16:creationId xmlns:a16="http://schemas.microsoft.com/office/drawing/2014/main" id="{CE9D63E2-CAF6-80AC-1B30-9C2EA25A3F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72" y="1884"/>
                <a:ext cx="149" cy="42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39" name="Line 95">
                <a:extLst>
                  <a:ext uri="{FF2B5EF4-FFF2-40B4-BE49-F238E27FC236}">
                    <a16:creationId xmlns:a16="http://schemas.microsoft.com/office/drawing/2014/main" id="{CC7C5A1E-748D-0433-7FDE-04837537B4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21" y="1843"/>
                <a:ext cx="142" cy="41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40" name="Line 96">
                <a:extLst>
                  <a:ext uri="{FF2B5EF4-FFF2-40B4-BE49-F238E27FC236}">
                    <a16:creationId xmlns:a16="http://schemas.microsoft.com/office/drawing/2014/main" id="{4B7A522B-E9AC-4867-7C0C-3477293E54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63" y="1802"/>
                <a:ext cx="149" cy="41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41" name="Line 97">
                <a:extLst>
                  <a:ext uri="{FF2B5EF4-FFF2-40B4-BE49-F238E27FC236}">
                    <a16:creationId xmlns:a16="http://schemas.microsoft.com/office/drawing/2014/main" id="{7D0BF818-FCC1-62C0-9724-CAE2F5E9D6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12" y="1760"/>
                <a:ext cx="142" cy="42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42" name="Line 98">
                <a:extLst>
                  <a:ext uri="{FF2B5EF4-FFF2-40B4-BE49-F238E27FC236}">
                    <a16:creationId xmlns:a16="http://schemas.microsoft.com/office/drawing/2014/main" id="{8194F34A-0B77-4377-8662-499B5A3AE3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96" y="1677"/>
                <a:ext cx="149" cy="42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43" name="Line 99">
                <a:extLst>
                  <a:ext uri="{FF2B5EF4-FFF2-40B4-BE49-F238E27FC236}">
                    <a16:creationId xmlns:a16="http://schemas.microsoft.com/office/drawing/2014/main" id="{9169D69F-C512-D8E8-89B7-F2D1C0C4D7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45" y="1636"/>
                <a:ext cx="142" cy="41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44" name="Line 100">
                <a:extLst>
                  <a:ext uri="{FF2B5EF4-FFF2-40B4-BE49-F238E27FC236}">
                    <a16:creationId xmlns:a16="http://schemas.microsoft.com/office/drawing/2014/main" id="{110F102C-8DE5-57D8-BE78-EDDED0E40E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36" y="1553"/>
                <a:ext cx="142" cy="42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45" name="Line 101">
                <a:extLst>
                  <a:ext uri="{FF2B5EF4-FFF2-40B4-BE49-F238E27FC236}">
                    <a16:creationId xmlns:a16="http://schemas.microsoft.com/office/drawing/2014/main" id="{D6E02554-BCC3-5F94-3DF0-A798C1C2BC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78" y="1512"/>
                <a:ext cx="142" cy="41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46" name="Line 102">
                <a:extLst>
                  <a:ext uri="{FF2B5EF4-FFF2-40B4-BE49-F238E27FC236}">
                    <a16:creationId xmlns:a16="http://schemas.microsoft.com/office/drawing/2014/main" id="{80AE1527-9080-82B9-3CD1-CFE50F8908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20" y="1471"/>
                <a:ext cx="149" cy="41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</p:grpSp>
      </p:grpSp>
      <p:grpSp>
        <p:nvGrpSpPr>
          <p:cNvPr id="55399" name="Group 103">
            <a:extLst>
              <a:ext uri="{FF2B5EF4-FFF2-40B4-BE49-F238E27FC236}">
                <a16:creationId xmlns:a16="http://schemas.microsoft.com/office/drawing/2014/main" id="{D78A939F-8E4C-3A9B-67EB-AB7E735C5540}"/>
              </a:ext>
            </a:extLst>
          </p:cNvPr>
          <p:cNvGrpSpPr>
            <a:grpSpLocks/>
          </p:cNvGrpSpPr>
          <p:nvPr/>
        </p:nvGrpSpPr>
        <p:grpSpPr bwMode="auto">
          <a:xfrm>
            <a:off x="2665413" y="2666502"/>
            <a:ext cx="4870450" cy="1588"/>
            <a:chOff x="870" y="3838"/>
            <a:chExt cx="3477" cy="1"/>
          </a:xfrm>
        </p:grpSpPr>
        <p:sp>
          <p:nvSpPr>
            <p:cNvPr id="10398" name="Line 104">
              <a:extLst>
                <a:ext uri="{FF2B5EF4-FFF2-40B4-BE49-F238E27FC236}">
                  <a16:creationId xmlns:a16="http://schemas.microsoft.com/office/drawing/2014/main" id="{E08D2011-1F50-3BC0-72E3-26EE608364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" y="3838"/>
              <a:ext cx="149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399" name="Line 105">
              <a:extLst>
                <a:ext uri="{FF2B5EF4-FFF2-40B4-BE49-F238E27FC236}">
                  <a16:creationId xmlns:a16="http://schemas.microsoft.com/office/drawing/2014/main" id="{8AB899C4-7E52-260F-F2CA-0FCF3CDAA5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9" y="3838"/>
              <a:ext cx="142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00" name="Line 106">
              <a:extLst>
                <a:ext uri="{FF2B5EF4-FFF2-40B4-BE49-F238E27FC236}">
                  <a16:creationId xmlns:a16="http://schemas.microsoft.com/office/drawing/2014/main" id="{4E6494B7-BEC8-648B-7BE3-058A492950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1" y="3838"/>
              <a:ext cx="142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01" name="Line 107">
              <a:extLst>
                <a:ext uri="{FF2B5EF4-FFF2-40B4-BE49-F238E27FC236}">
                  <a16:creationId xmlns:a16="http://schemas.microsoft.com/office/drawing/2014/main" id="{D8029128-9F7F-6C22-7FFB-B360738457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3" y="3838"/>
              <a:ext cx="149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02" name="Line 108">
              <a:extLst>
                <a:ext uri="{FF2B5EF4-FFF2-40B4-BE49-F238E27FC236}">
                  <a16:creationId xmlns:a16="http://schemas.microsoft.com/office/drawing/2014/main" id="{B006D22B-398F-707C-AAB8-06BF6D8F53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2" y="3838"/>
              <a:ext cx="142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03" name="Line 109">
              <a:extLst>
                <a:ext uri="{FF2B5EF4-FFF2-40B4-BE49-F238E27FC236}">
                  <a16:creationId xmlns:a16="http://schemas.microsoft.com/office/drawing/2014/main" id="{1A365F22-C0B6-7547-9996-C06A530FC1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4" y="3838"/>
              <a:ext cx="149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04" name="Line 110">
              <a:extLst>
                <a:ext uri="{FF2B5EF4-FFF2-40B4-BE49-F238E27FC236}">
                  <a16:creationId xmlns:a16="http://schemas.microsoft.com/office/drawing/2014/main" id="{6F571893-DF82-39C4-6D6C-4482AB0D8E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3" y="3838"/>
              <a:ext cx="142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05" name="Line 111">
              <a:extLst>
                <a:ext uri="{FF2B5EF4-FFF2-40B4-BE49-F238E27FC236}">
                  <a16:creationId xmlns:a16="http://schemas.microsoft.com/office/drawing/2014/main" id="{577B9CDE-18BD-97B5-BE12-21E0C7EF30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5" y="3838"/>
              <a:ext cx="141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06" name="Line 112">
              <a:extLst>
                <a:ext uri="{FF2B5EF4-FFF2-40B4-BE49-F238E27FC236}">
                  <a16:creationId xmlns:a16="http://schemas.microsoft.com/office/drawing/2014/main" id="{775391CD-9725-8657-F80A-1FF0EB6F52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6" y="3838"/>
              <a:ext cx="149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07" name="Line 113">
              <a:extLst>
                <a:ext uri="{FF2B5EF4-FFF2-40B4-BE49-F238E27FC236}">
                  <a16:creationId xmlns:a16="http://schemas.microsoft.com/office/drawing/2014/main" id="{4BB3ECB4-54AF-ACFC-0F3D-F216B06FDE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5" y="3838"/>
              <a:ext cx="142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08" name="Line 114">
              <a:extLst>
                <a:ext uri="{FF2B5EF4-FFF2-40B4-BE49-F238E27FC236}">
                  <a16:creationId xmlns:a16="http://schemas.microsoft.com/office/drawing/2014/main" id="{898B72E7-094D-288D-0143-64ED3A4739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7" y="3838"/>
              <a:ext cx="149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09" name="Line 115">
              <a:extLst>
                <a:ext uri="{FF2B5EF4-FFF2-40B4-BE49-F238E27FC236}">
                  <a16:creationId xmlns:a16="http://schemas.microsoft.com/office/drawing/2014/main" id="{0B12714D-E668-DC48-2D89-93CCF19AC7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6" y="3838"/>
              <a:ext cx="142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10" name="Line 116">
              <a:extLst>
                <a:ext uri="{FF2B5EF4-FFF2-40B4-BE49-F238E27FC236}">
                  <a16:creationId xmlns:a16="http://schemas.microsoft.com/office/drawing/2014/main" id="{C84D7480-3E33-27EA-AB18-2A393B53AF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8" y="3838"/>
              <a:ext cx="142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11" name="Line 117">
              <a:extLst>
                <a:ext uri="{FF2B5EF4-FFF2-40B4-BE49-F238E27FC236}">
                  <a16:creationId xmlns:a16="http://schemas.microsoft.com/office/drawing/2014/main" id="{E504F632-E2AC-C8C8-55D8-4E298DD8AE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0" y="3838"/>
              <a:ext cx="149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12" name="Line 118">
              <a:extLst>
                <a:ext uri="{FF2B5EF4-FFF2-40B4-BE49-F238E27FC236}">
                  <a16:creationId xmlns:a16="http://schemas.microsoft.com/office/drawing/2014/main" id="{86D88ECD-9680-7134-1F84-0913FD4767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9" y="3838"/>
              <a:ext cx="142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13" name="Line 119">
              <a:extLst>
                <a:ext uri="{FF2B5EF4-FFF2-40B4-BE49-F238E27FC236}">
                  <a16:creationId xmlns:a16="http://schemas.microsoft.com/office/drawing/2014/main" id="{1BBA0766-816B-21B3-F9CD-C0F2C1AA1F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1" y="3838"/>
              <a:ext cx="149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14" name="Line 120">
              <a:extLst>
                <a:ext uri="{FF2B5EF4-FFF2-40B4-BE49-F238E27FC236}">
                  <a16:creationId xmlns:a16="http://schemas.microsoft.com/office/drawing/2014/main" id="{4C23BB4F-1A81-015E-B179-7F2B9E3B4C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0" y="3838"/>
              <a:ext cx="142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15" name="Line 121">
              <a:extLst>
                <a:ext uri="{FF2B5EF4-FFF2-40B4-BE49-F238E27FC236}">
                  <a16:creationId xmlns:a16="http://schemas.microsoft.com/office/drawing/2014/main" id="{1B6911E7-F679-B3D9-E5C5-7FE82E63CE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2" y="3838"/>
              <a:ext cx="142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16" name="Line 122">
              <a:extLst>
                <a:ext uri="{FF2B5EF4-FFF2-40B4-BE49-F238E27FC236}">
                  <a16:creationId xmlns:a16="http://schemas.microsoft.com/office/drawing/2014/main" id="{2993D0C6-2A50-16DB-84FF-A94BC6223A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4" y="3838"/>
              <a:ext cx="149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17" name="Line 123">
              <a:extLst>
                <a:ext uri="{FF2B5EF4-FFF2-40B4-BE49-F238E27FC236}">
                  <a16:creationId xmlns:a16="http://schemas.microsoft.com/office/drawing/2014/main" id="{459DE110-2E66-588B-3390-B9A5D2399B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3" y="3838"/>
              <a:ext cx="142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18" name="Line 124">
              <a:extLst>
                <a:ext uri="{FF2B5EF4-FFF2-40B4-BE49-F238E27FC236}">
                  <a16:creationId xmlns:a16="http://schemas.microsoft.com/office/drawing/2014/main" id="{D96B101C-4C76-14F2-32C8-C1F177DE08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5" y="3838"/>
              <a:ext cx="149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19" name="Line 125">
              <a:extLst>
                <a:ext uri="{FF2B5EF4-FFF2-40B4-BE49-F238E27FC236}">
                  <a16:creationId xmlns:a16="http://schemas.microsoft.com/office/drawing/2014/main" id="{8D742451-26B5-9143-86A6-F90AF35F23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4" y="3838"/>
              <a:ext cx="142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20" name="Line 126">
              <a:extLst>
                <a:ext uri="{FF2B5EF4-FFF2-40B4-BE49-F238E27FC236}">
                  <a16:creationId xmlns:a16="http://schemas.microsoft.com/office/drawing/2014/main" id="{CB38F582-DF71-AD49-844A-3B42A5FB5D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6" y="3838"/>
              <a:ext cx="142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21" name="Line 127">
              <a:extLst>
                <a:ext uri="{FF2B5EF4-FFF2-40B4-BE49-F238E27FC236}">
                  <a16:creationId xmlns:a16="http://schemas.microsoft.com/office/drawing/2014/main" id="{8211214C-65D4-C9D3-AF5F-0823990DA2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8" y="3838"/>
              <a:ext cx="149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</p:grpSp>
      <p:sp>
        <p:nvSpPr>
          <p:cNvPr id="55424" name="Rectangle 128">
            <a:extLst>
              <a:ext uri="{FF2B5EF4-FFF2-40B4-BE49-F238E27FC236}">
                <a16:creationId xmlns:a16="http://schemas.microsoft.com/office/drawing/2014/main" id="{978770A8-D31D-7638-0569-AFD38A654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2926" y="1375226"/>
            <a:ext cx="456535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1600" b="1" u="sng" err="1">
                <a:solidFill>
                  <a:srgbClr val="000000"/>
                </a:solidFill>
              </a:rPr>
              <a:t>Share</a:t>
            </a:r>
            <a:r>
              <a:rPr lang="sv-SE" sz="1600" b="1" u="sng">
                <a:solidFill>
                  <a:srgbClr val="000000"/>
                </a:solidFill>
              </a:rPr>
              <a:t>, </a:t>
            </a:r>
            <a:r>
              <a:rPr lang="sv-SE" sz="1600" b="1" u="sng" err="1">
                <a:solidFill>
                  <a:srgbClr val="000000"/>
                </a:solidFill>
              </a:rPr>
              <a:t>of</a:t>
            </a:r>
            <a:r>
              <a:rPr lang="sv-SE" sz="1600" b="1" u="sng">
                <a:solidFill>
                  <a:srgbClr val="000000"/>
                </a:solidFill>
              </a:rPr>
              <a:t> </a:t>
            </a:r>
            <a:r>
              <a:rPr lang="sv-SE" sz="1600" b="1" u="sng" err="1">
                <a:solidFill>
                  <a:srgbClr val="000000"/>
                </a:solidFill>
              </a:rPr>
              <a:t>worked</a:t>
            </a:r>
            <a:r>
              <a:rPr lang="sv-SE" sz="1600" b="1" u="sng">
                <a:solidFill>
                  <a:srgbClr val="000000"/>
                </a:solidFill>
              </a:rPr>
              <a:t> </a:t>
            </a:r>
            <a:r>
              <a:rPr lang="sv-SE" sz="1600" b="1" u="sng" err="1">
                <a:solidFill>
                  <a:srgbClr val="000000"/>
                </a:solidFill>
              </a:rPr>
              <a:t>hours</a:t>
            </a:r>
            <a:r>
              <a:rPr lang="sv-SE" sz="1600" b="1" u="sng">
                <a:solidFill>
                  <a:srgbClr val="000000"/>
                </a:solidFill>
              </a:rPr>
              <a:t>, </a:t>
            </a:r>
            <a:r>
              <a:rPr lang="sv-SE" sz="1600" b="1" u="sng" err="1">
                <a:solidFill>
                  <a:srgbClr val="000000"/>
                </a:solidFill>
              </a:rPr>
              <a:t>spent</a:t>
            </a:r>
            <a:r>
              <a:rPr lang="sv-SE" sz="1600" b="1" u="sng">
                <a:solidFill>
                  <a:srgbClr val="000000"/>
                </a:solidFill>
              </a:rPr>
              <a:t> </a:t>
            </a:r>
            <a:r>
              <a:rPr lang="sv-SE" sz="1600" b="1" u="sng" err="1">
                <a:solidFill>
                  <a:srgbClr val="000000"/>
                </a:solidFill>
              </a:rPr>
              <a:t>with</a:t>
            </a:r>
            <a:r>
              <a:rPr lang="sv-SE" sz="1600" b="1" u="sng">
                <a:solidFill>
                  <a:srgbClr val="000000"/>
                </a:solidFill>
              </a:rPr>
              <a:t> a </a:t>
            </a:r>
            <a:r>
              <a:rPr lang="sv-SE" sz="1600" b="1" u="sng" err="1">
                <a:solidFill>
                  <a:srgbClr val="000000"/>
                </a:solidFill>
              </a:rPr>
              <a:t>customer</a:t>
            </a:r>
            <a:endParaRPr lang="sv-SE" sz="3600" b="1" u="sng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298" name="Rectangle 129">
            <a:extLst>
              <a:ext uri="{FF2B5EF4-FFF2-40B4-BE49-F238E27FC236}">
                <a16:creationId xmlns:a16="http://schemas.microsoft.com/office/drawing/2014/main" id="{9B714CD1-9514-7A88-B8C7-AB3723008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5225" y="6093916"/>
            <a:ext cx="16671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0%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299" name="Rectangle 130">
            <a:extLst>
              <a:ext uri="{FF2B5EF4-FFF2-40B4-BE49-F238E27FC236}">
                <a16:creationId xmlns:a16="http://schemas.microsoft.com/office/drawing/2014/main" id="{E06C70B1-7A85-54D8-B2E8-2826ACC00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900" y="5677991"/>
            <a:ext cx="23083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10%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00" name="Rectangle 131">
            <a:extLst>
              <a:ext uri="{FF2B5EF4-FFF2-40B4-BE49-F238E27FC236}">
                <a16:creationId xmlns:a16="http://schemas.microsoft.com/office/drawing/2014/main" id="{3C21624C-2B5E-072D-130F-342696165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900" y="5273178"/>
            <a:ext cx="23083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20%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01" name="Rectangle 132">
            <a:extLst>
              <a:ext uri="{FF2B5EF4-FFF2-40B4-BE49-F238E27FC236}">
                <a16:creationId xmlns:a16="http://schemas.microsoft.com/office/drawing/2014/main" id="{31DC604D-B9E3-BDF6-9A17-D777C32F8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900" y="4857253"/>
            <a:ext cx="23083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30%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02" name="Rectangle 133">
            <a:extLst>
              <a:ext uri="{FF2B5EF4-FFF2-40B4-BE49-F238E27FC236}">
                <a16:creationId xmlns:a16="http://schemas.microsoft.com/office/drawing/2014/main" id="{E556B8D2-BC7C-DA58-850A-83F4B4906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900" y="4450853"/>
            <a:ext cx="23083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40%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03" name="Rectangle 134">
            <a:extLst>
              <a:ext uri="{FF2B5EF4-FFF2-40B4-BE49-F238E27FC236}">
                <a16:creationId xmlns:a16="http://schemas.microsoft.com/office/drawing/2014/main" id="{83783CAC-9789-D454-175C-126A05407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900" y="4034928"/>
            <a:ext cx="23083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50%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04" name="Rectangle 135">
            <a:extLst>
              <a:ext uri="{FF2B5EF4-FFF2-40B4-BE49-F238E27FC236}">
                <a16:creationId xmlns:a16="http://schemas.microsoft.com/office/drawing/2014/main" id="{5A1627AD-1235-7AEB-F53D-FCF17377E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900" y="3619003"/>
            <a:ext cx="23083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60%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05" name="Rectangle 136">
            <a:extLst>
              <a:ext uri="{FF2B5EF4-FFF2-40B4-BE49-F238E27FC236}">
                <a16:creationId xmlns:a16="http://schemas.microsoft.com/office/drawing/2014/main" id="{D3C7A50A-AE4C-783B-9E99-5E49C2435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900" y="3214191"/>
            <a:ext cx="23083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70%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06" name="Rectangle 137">
            <a:extLst>
              <a:ext uri="{FF2B5EF4-FFF2-40B4-BE49-F238E27FC236}">
                <a16:creationId xmlns:a16="http://schemas.microsoft.com/office/drawing/2014/main" id="{15902050-103C-FDA4-E36F-2A1AA2E4C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900" y="2798266"/>
            <a:ext cx="23083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80%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07" name="Rectangle 138">
            <a:extLst>
              <a:ext uri="{FF2B5EF4-FFF2-40B4-BE49-F238E27FC236}">
                <a16:creationId xmlns:a16="http://schemas.microsoft.com/office/drawing/2014/main" id="{DF383A2F-5396-3361-941F-BEB03C8EC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900" y="2393453"/>
            <a:ext cx="23083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90%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08" name="Rectangle 139">
            <a:extLst>
              <a:ext uri="{FF2B5EF4-FFF2-40B4-BE49-F238E27FC236}">
                <a16:creationId xmlns:a16="http://schemas.microsoft.com/office/drawing/2014/main" id="{9CE122FB-C277-21A0-7C5C-15DF6F0B6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6164" y="1977528"/>
            <a:ext cx="294953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100%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09" name="Rectangle 140">
            <a:extLst>
              <a:ext uri="{FF2B5EF4-FFF2-40B4-BE49-F238E27FC236}">
                <a16:creationId xmlns:a16="http://schemas.microsoft.com/office/drawing/2014/main" id="{7D9B62B8-F070-51BD-55C3-B889700E4437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2535895" y="6310416"/>
            <a:ext cx="1923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240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10" name="Rectangle 141">
            <a:extLst>
              <a:ext uri="{FF2B5EF4-FFF2-40B4-BE49-F238E27FC236}">
                <a16:creationId xmlns:a16="http://schemas.microsoft.com/office/drawing/2014/main" id="{F7E0D4C6-D72D-828B-1E59-8F233FBC1DBD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2942295" y="6310416"/>
            <a:ext cx="1923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242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11" name="Rectangle 142">
            <a:extLst>
              <a:ext uri="{FF2B5EF4-FFF2-40B4-BE49-F238E27FC236}">
                <a16:creationId xmlns:a16="http://schemas.microsoft.com/office/drawing/2014/main" id="{C8C97388-7C42-C2B3-C8FB-AF0146744D9B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3350283" y="6310416"/>
            <a:ext cx="1923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244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12" name="Rectangle 143">
            <a:extLst>
              <a:ext uri="{FF2B5EF4-FFF2-40B4-BE49-F238E27FC236}">
                <a16:creationId xmlns:a16="http://schemas.microsoft.com/office/drawing/2014/main" id="{7D2BF7FA-00DE-8B4F-9A75-3BB2EECED897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3758270" y="6310416"/>
            <a:ext cx="1923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246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13" name="Rectangle 144">
            <a:extLst>
              <a:ext uri="{FF2B5EF4-FFF2-40B4-BE49-F238E27FC236}">
                <a16:creationId xmlns:a16="http://schemas.microsoft.com/office/drawing/2014/main" id="{605C6EF6-56CE-594A-73E1-D20021643C01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4155145" y="6310416"/>
            <a:ext cx="1923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248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14" name="Rectangle 145">
            <a:extLst>
              <a:ext uri="{FF2B5EF4-FFF2-40B4-BE49-F238E27FC236}">
                <a16:creationId xmlns:a16="http://schemas.microsoft.com/office/drawing/2014/main" id="{1F4FFBA0-9229-0720-0D22-D234FD2FCE7B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4563133" y="6310416"/>
            <a:ext cx="1923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250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15" name="Rectangle 146">
            <a:extLst>
              <a:ext uri="{FF2B5EF4-FFF2-40B4-BE49-F238E27FC236}">
                <a16:creationId xmlns:a16="http://schemas.microsoft.com/office/drawing/2014/main" id="{186A6862-5E97-0EC3-99E8-0C3990772893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4971120" y="6310416"/>
            <a:ext cx="1923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252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16" name="Rectangle 147">
            <a:extLst>
              <a:ext uri="{FF2B5EF4-FFF2-40B4-BE49-F238E27FC236}">
                <a16:creationId xmlns:a16="http://schemas.microsoft.com/office/drawing/2014/main" id="{2162F77A-5150-F6F4-9EBD-BA702D8A0591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5379108" y="6310416"/>
            <a:ext cx="1923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302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17" name="Rectangle 148">
            <a:extLst>
              <a:ext uri="{FF2B5EF4-FFF2-40B4-BE49-F238E27FC236}">
                <a16:creationId xmlns:a16="http://schemas.microsoft.com/office/drawing/2014/main" id="{561CA5AF-3DED-F632-74E1-1C0DD46C73F2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5785508" y="6310416"/>
            <a:ext cx="1923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304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18" name="Rectangle 149">
            <a:extLst>
              <a:ext uri="{FF2B5EF4-FFF2-40B4-BE49-F238E27FC236}">
                <a16:creationId xmlns:a16="http://schemas.microsoft.com/office/drawing/2014/main" id="{73D8CFF7-F9A4-A890-A913-3EFAFF4F9193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6183970" y="6310416"/>
            <a:ext cx="1923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306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19" name="Rectangle 150">
            <a:extLst>
              <a:ext uri="{FF2B5EF4-FFF2-40B4-BE49-F238E27FC236}">
                <a16:creationId xmlns:a16="http://schemas.microsoft.com/office/drawing/2014/main" id="{0E726F68-DA04-F9DB-F3FA-BABAC2F25D25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6590370" y="6310416"/>
            <a:ext cx="1923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308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20" name="Rectangle 151">
            <a:extLst>
              <a:ext uri="{FF2B5EF4-FFF2-40B4-BE49-F238E27FC236}">
                <a16:creationId xmlns:a16="http://schemas.microsoft.com/office/drawing/2014/main" id="{724F3524-8138-866B-5D28-3AA3FC8DD8F3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6998358" y="6310416"/>
            <a:ext cx="1923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310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21" name="Rectangle 152">
            <a:extLst>
              <a:ext uri="{FF2B5EF4-FFF2-40B4-BE49-F238E27FC236}">
                <a16:creationId xmlns:a16="http://schemas.microsoft.com/office/drawing/2014/main" id="{757AC009-5983-C7A0-A5C5-87AA37EB9DA5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7404758" y="6310416"/>
            <a:ext cx="1923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312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grpSp>
        <p:nvGrpSpPr>
          <p:cNvPr id="55449" name="Group 153">
            <a:extLst>
              <a:ext uri="{FF2B5EF4-FFF2-40B4-BE49-F238E27FC236}">
                <a16:creationId xmlns:a16="http://schemas.microsoft.com/office/drawing/2014/main" id="{BA4401D9-B00D-7A15-24E9-1A921B6CBF41}"/>
              </a:ext>
            </a:extLst>
          </p:cNvPr>
          <p:cNvGrpSpPr>
            <a:grpSpLocks/>
          </p:cNvGrpSpPr>
          <p:nvPr/>
        </p:nvGrpSpPr>
        <p:grpSpPr bwMode="auto">
          <a:xfrm>
            <a:off x="7824796" y="4539753"/>
            <a:ext cx="2632078" cy="1571625"/>
            <a:chOff x="4489" y="2209"/>
            <a:chExt cx="1646" cy="1027"/>
          </a:xfrm>
        </p:grpSpPr>
        <p:sp>
          <p:nvSpPr>
            <p:cNvPr id="10391" name="Rectangle 154">
              <a:extLst>
                <a:ext uri="{FF2B5EF4-FFF2-40B4-BE49-F238E27FC236}">
                  <a16:creationId xmlns:a16="http://schemas.microsoft.com/office/drawing/2014/main" id="{2BE93FEA-780A-F907-8974-D965F016B9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209"/>
              <a:ext cx="1646" cy="1027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GB"/>
            </a:p>
          </p:txBody>
        </p:sp>
        <p:sp>
          <p:nvSpPr>
            <p:cNvPr id="10392" name="Line 155">
              <a:extLst>
                <a:ext uri="{FF2B5EF4-FFF2-40B4-BE49-F238E27FC236}">
                  <a16:creationId xmlns:a16="http://schemas.microsoft.com/office/drawing/2014/main" id="{9BB70D65-FE5C-558E-AFF8-E8C5D99664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1" y="2319"/>
              <a:ext cx="171" cy="1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393" name="Rectangle 156">
              <a:extLst>
                <a:ext uri="{FF2B5EF4-FFF2-40B4-BE49-F238E27FC236}">
                  <a16:creationId xmlns:a16="http://schemas.microsoft.com/office/drawing/2014/main" id="{425751E6-2A8E-F5D8-E380-EEAA9E018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7" y="2236"/>
              <a:ext cx="1289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sv-SE" sz="1200" b="1" err="1">
                  <a:solidFill>
                    <a:srgbClr val="000000"/>
                  </a:solidFill>
                </a:rPr>
                <a:t>Actual</a:t>
              </a:r>
              <a:r>
                <a:rPr lang="sv-SE" sz="1200" b="1">
                  <a:solidFill>
                    <a:srgbClr val="000000"/>
                  </a:solidFill>
                </a:rPr>
                <a:t> </a:t>
              </a:r>
              <a:r>
                <a:rPr lang="sv-SE" sz="1200" b="1" err="1">
                  <a:solidFill>
                    <a:srgbClr val="000000"/>
                  </a:solidFill>
                </a:rPr>
                <a:t>Value</a:t>
              </a:r>
              <a:endParaRPr lang="sv-SE" sz="1200" b="1">
                <a:solidFill>
                  <a:srgbClr val="000000"/>
                </a:solidFill>
              </a:endParaRPr>
            </a:p>
            <a:p>
              <a:pPr eaLnBrk="0" hangingPunct="0"/>
              <a:r>
                <a:rPr lang="sv-SE" sz="1000" b="1" i="1" err="1">
                  <a:solidFill>
                    <a:srgbClr val="000000"/>
                  </a:solidFill>
                </a:rPr>
                <a:t>How</a:t>
              </a:r>
              <a:r>
                <a:rPr lang="sv-SE" sz="1000" b="1" i="1">
                  <a:solidFill>
                    <a:srgbClr val="000000"/>
                  </a:solidFill>
                </a:rPr>
                <a:t> </a:t>
              </a:r>
              <a:r>
                <a:rPr lang="sv-SE" sz="1000" b="1" i="1" err="1">
                  <a:solidFill>
                    <a:srgbClr val="000000"/>
                  </a:solidFill>
                </a:rPr>
                <a:t>are</a:t>
              </a:r>
              <a:r>
                <a:rPr lang="sv-SE" sz="1000" b="1" i="1">
                  <a:solidFill>
                    <a:srgbClr val="000000"/>
                  </a:solidFill>
                </a:rPr>
                <a:t> </a:t>
              </a:r>
              <a:r>
                <a:rPr lang="sv-SE" sz="1000" b="1" i="1" err="1">
                  <a:solidFill>
                    <a:srgbClr val="000000"/>
                  </a:solidFill>
                </a:rPr>
                <a:t>we</a:t>
              </a:r>
              <a:r>
                <a:rPr lang="sv-SE" sz="1000" b="1" i="1">
                  <a:solidFill>
                    <a:srgbClr val="000000"/>
                  </a:solidFill>
                </a:rPr>
                <a:t> </a:t>
              </a:r>
              <a:r>
                <a:rPr lang="sv-SE" sz="1000" b="1" i="1" err="1">
                  <a:solidFill>
                    <a:srgbClr val="000000"/>
                  </a:solidFill>
                </a:rPr>
                <a:t>doing</a:t>
              </a:r>
              <a:r>
                <a:rPr lang="sv-SE" sz="1000" b="1" i="1">
                  <a:solidFill>
                    <a:srgbClr val="000000"/>
                  </a:solidFill>
                </a:rPr>
                <a:t> </a:t>
              </a:r>
              <a:r>
                <a:rPr lang="sv-SE" sz="1000" b="1" i="1" err="1">
                  <a:solidFill>
                    <a:srgbClr val="000000"/>
                  </a:solidFill>
                </a:rPr>
                <a:t>really</a:t>
              </a:r>
              <a:r>
                <a:rPr lang="sv-SE" sz="1000" b="1" i="1">
                  <a:solidFill>
                    <a:srgbClr val="000000"/>
                  </a:solidFill>
                </a:rPr>
                <a:t>?</a:t>
              </a:r>
              <a:endParaRPr lang="sv-SE" b="1" i="1">
                <a:solidFill>
                  <a:schemeClr val="tx2"/>
                </a:solidFill>
                <a:latin typeface="Verdana" pitchFamily="34" charset="0"/>
              </a:endParaRPr>
            </a:p>
          </p:txBody>
        </p:sp>
        <p:sp>
          <p:nvSpPr>
            <p:cNvPr id="10394" name="Line 157">
              <a:extLst>
                <a:ext uri="{FF2B5EF4-FFF2-40B4-BE49-F238E27FC236}">
                  <a16:creationId xmlns:a16="http://schemas.microsoft.com/office/drawing/2014/main" id="{A797EFE0-39EC-5BE7-FDD8-7F81183B0C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1" y="2615"/>
              <a:ext cx="171" cy="1"/>
            </a:xfrm>
            <a:prstGeom prst="line">
              <a:avLst/>
            </a:prstGeom>
            <a:noFill/>
            <a:ln w="22225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395" name="Rectangle 158">
              <a:extLst>
                <a:ext uri="{FF2B5EF4-FFF2-40B4-BE49-F238E27FC236}">
                  <a16:creationId xmlns:a16="http://schemas.microsoft.com/office/drawing/2014/main" id="{94FE5909-1663-ACF7-A738-02530CC371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7" y="2532"/>
              <a:ext cx="1230" cy="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sv-SE" sz="1200" b="1" err="1">
                  <a:solidFill>
                    <a:srgbClr val="000000"/>
                  </a:solidFill>
                </a:rPr>
                <a:t>Critical</a:t>
              </a:r>
              <a:r>
                <a:rPr lang="sv-SE" sz="1200" b="1">
                  <a:solidFill>
                    <a:srgbClr val="000000"/>
                  </a:solidFill>
                </a:rPr>
                <a:t> Line</a:t>
              </a:r>
            </a:p>
            <a:p>
              <a:pPr eaLnBrk="0" hangingPunct="0"/>
              <a:r>
                <a:rPr lang="sv-SE" sz="1000" b="1" i="1" err="1">
                  <a:solidFill>
                    <a:srgbClr val="000000"/>
                  </a:solidFill>
                </a:rPr>
                <a:t>What</a:t>
              </a:r>
              <a:r>
                <a:rPr lang="sv-SE" sz="1000" b="1" i="1">
                  <a:solidFill>
                    <a:srgbClr val="000000"/>
                  </a:solidFill>
                </a:rPr>
                <a:t> do </a:t>
              </a:r>
              <a:r>
                <a:rPr lang="sv-SE" sz="1000" b="1" i="1" err="1">
                  <a:solidFill>
                    <a:srgbClr val="000000"/>
                  </a:solidFill>
                </a:rPr>
                <a:t>we</a:t>
              </a:r>
              <a:r>
                <a:rPr lang="sv-SE" sz="1000" b="1" i="1">
                  <a:solidFill>
                    <a:srgbClr val="000000"/>
                  </a:solidFill>
                </a:rPr>
                <a:t> </a:t>
              </a:r>
              <a:r>
                <a:rPr lang="sv-SE" sz="1000" b="1" i="1" err="1">
                  <a:solidFill>
                    <a:srgbClr val="000000"/>
                  </a:solidFill>
                </a:rPr>
                <a:t>want</a:t>
              </a:r>
              <a:r>
                <a:rPr lang="sv-SE" sz="1000" b="1" i="1">
                  <a:solidFill>
                    <a:srgbClr val="000000"/>
                  </a:solidFill>
                </a:rPr>
                <a:t> </a:t>
              </a:r>
              <a:r>
                <a:rPr lang="sv-SE" sz="1000" b="1" i="1" err="1">
                  <a:solidFill>
                    <a:srgbClr val="000000"/>
                  </a:solidFill>
                </a:rPr>
                <a:t>our</a:t>
              </a:r>
              <a:r>
                <a:rPr lang="sv-SE" sz="1000" b="1" i="1">
                  <a:solidFill>
                    <a:srgbClr val="000000"/>
                  </a:solidFill>
                </a:rPr>
                <a:t> </a:t>
              </a:r>
              <a:r>
                <a:rPr lang="sv-SE" sz="1000" b="1" i="1" err="1">
                  <a:solidFill>
                    <a:srgbClr val="000000"/>
                  </a:solidFill>
                </a:rPr>
                <a:t>development</a:t>
              </a:r>
              <a:r>
                <a:rPr lang="sv-SE" sz="1000" b="1" i="1">
                  <a:solidFill>
                    <a:srgbClr val="000000"/>
                  </a:solidFill>
                </a:rPr>
                <a:t> to look like?</a:t>
              </a:r>
              <a:endParaRPr lang="sv-SE" b="1" i="1">
                <a:solidFill>
                  <a:schemeClr val="tx2"/>
                </a:solidFill>
                <a:latin typeface="Verdana" pitchFamily="34" charset="0"/>
              </a:endParaRPr>
            </a:p>
          </p:txBody>
        </p:sp>
        <p:sp>
          <p:nvSpPr>
            <p:cNvPr id="10396" name="Line 159">
              <a:extLst>
                <a:ext uri="{FF2B5EF4-FFF2-40B4-BE49-F238E27FC236}">
                  <a16:creationId xmlns:a16="http://schemas.microsoft.com/office/drawing/2014/main" id="{24959BB8-3678-3D4D-1D7D-2F5BF98C96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1" y="2988"/>
              <a:ext cx="171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397" name="Rectangle 160">
              <a:extLst>
                <a:ext uri="{FF2B5EF4-FFF2-40B4-BE49-F238E27FC236}">
                  <a16:creationId xmlns:a16="http://schemas.microsoft.com/office/drawing/2014/main" id="{97FB2478-A7E3-D474-98C7-C4E803A07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7" y="2912"/>
              <a:ext cx="1077" cy="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sv-SE" sz="1200" b="1">
                  <a:solidFill>
                    <a:srgbClr val="000000"/>
                  </a:solidFill>
                </a:rPr>
                <a:t>End Target </a:t>
              </a:r>
              <a:r>
                <a:rPr lang="sv-SE" sz="1200" b="1" err="1">
                  <a:solidFill>
                    <a:srgbClr val="000000"/>
                  </a:solidFill>
                </a:rPr>
                <a:t>level</a:t>
              </a:r>
              <a:r>
                <a:rPr lang="sv-SE" sz="1200" b="1">
                  <a:solidFill>
                    <a:srgbClr val="000000"/>
                  </a:solidFill>
                </a:rPr>
                <a:t> </a:t>
              </a:r>
            </a:p>
            <a:p>
              <a:pPr eaLnBrk="0" hangingPunct="0"/>
              <a:r>
                <a:rPr lang="sv-SE" sz="1000" b="1" i="1" err="1">
                  <a:solidFill>
                    <a:srgbClr val="000000"/>
                  </a:solidFill>
                </a:rPr>
                <a:t>How</a:t>
              </a:r>
              <a:r>
                <a:rPr lang="sv-SE" sz="1000" b="1" i="1">
                  <a:solidFill>
                    <a:srgbClr val="000000"/>
                  </a:solidFill>
                </a:rPr>
                <a:t> </a:t>
              </a:r>
              <a:r>
                <a:rPr lang="sv-SE" sz="1000" b="1" i="1" err="1">
                  <a:solidFill>
                    <a:srgbClr val="000000"/>
                  </a:solidFill>
                </a:rPr>
                <a:t>good</a:t>
              </a:r>
              <a:r>
                <a:rPr lang="sv-SE" sz="1000" b="1" i="1">
                  <a:solidFill>
                    <a:srgbClr val="000000"/>
                  </a:solidFill>
                </a:rPr>
                <a:t> do </a:t>
              </a:r>
              <a:r>
                <a:rPr lang="sv-SE" sz="1000" b="1" i="1" err="1">
                  <a:solidFill>
                    <a:srgbClr val="000000"/>
                  </a:solidFill>
                </a:rPr>
                <a:t>we</a:t>
              </a:r>
              <a:r>
                <a:rPr lang="sv-SE" sz="1000" b="1" i="1">
                  <a:solidFill>
                    <a:srgbClr val="000000"/>
                  </a:solidFill>
                </a:rPr>
                <a:t> </a:t>
              </a:r>
              <a:r>
                <a:rPr lang="sv-SE" sz="1000" b="1" i="1" err="1">
                  <a:solidFill>
                    <a:srgbClr val="000000"/>
                  </a:solidFill>
                </a:rPr>
                <a:t>want</a:t>
              </a:r>
              <a:r>
                <a:rPr lang="sv-SE" sz="1000" b="1" i="1">
                  <a:solidFill>
                    <a:srgbClr val="000000"/>
                  </a:solidFill>
                </a:rPr>
                <a:t> to be </a:t>
              </a:r>
            </a:p>
            <a:p>
              <a:pPr eaLnBrk="0" hangingPunct="0"/>
              <a:r>
                <a:rPr lang="sv-SE" sz="1000" b="1" i="1" err="1">
                  <a:solidFill>
                    <a:srgbClr val="000000"/>
                  </a:solidFill>
                </a:rPr>
                <a:t>when</a:t>
              </a:r>
              <a:r>
                <a:rPr lang="sv-SE" sz="1000" b="1" i="1">
                  <a:solidFill>
                    <a:srgbClr val="000000"/>
                  </a:solidFill>
                </a:rPr>
                <a:t> </a:t>
              </a:r>
              <a:r>
                <a:rPr lang="sv-SE" sz="1000" b="1" i="1" err="1">
                  <a:solidFill>
                    <a:srgbClr val="000000"/>
                  </a:solidFill>
                </a:rPr>
                <a:t>we</a:t>
              </a:r>
              <a:r>
                <a:rPr lang="sv-SE" sz="1000" b="1" i="1">
                  <a:solidFill>
                    <a:srgbClr val="000000"/>
                  </a:solidFill>
                </a:rPr>
                <a:t> </a:t>
              </a:r>
              <a:r>
                <a:rPr lang="sv-SE" sz="1000" b="1" i="1" err="1">
                  <a:solidFill>
                    <a:srgbClr val="000000"/>
                  </a:solidFill>
                </a:rPr>
                <a:t>are</a:t>
              </a:r>
              <a:r>
                <a:rPr lang="sv-SE" sz="1000" b="1" i="1">
                  <a:solidFill>
                    <a:srgbClr val="000000"/>
                  </a:solidFill>
                </a:rPr>
                <a:t> </a:t>
              </a:r>
              <a:r>
                <a:rPr lang="sv-SE" sz="1000" b="1" i="1" err="1">
                  <a:solidFill>
                    <a:srgbClr val="000000"/>
                  </a:solidFill>
                </a:rPr>
                <a:t>done</a:t>
              </a:r>
              <a:r>
                <a:rPr lang="sv-SE" sz="1000" b="1" i="1">
                  <a:solidFill>
                    <a:srgbClr val="000000"/>
                  </a:solidFill>
                </a:rPr>
                <a:t>?</a:t>
              </a:r>
              <a:endParaRPr lang="sv-SE" b="1" i="1">
                <a:solidFill>
                  <a:schemeClr val="tx2"/>
                </a:solidFill>
                <a:latin typeface="Verdana" pitchFamily="34" charset="0"/>
              </a:endParaRPr>
            </a:p>
          </p:txBody>
        </p:sp>
      </p:grpSp>
      <p:sp>
        <p:nvSpPr>
          <p:cNvPr id="10323" name="Rectangle 161">
            <a:extLst>
              <a:ext uri="{FF2B5EF4-FFF2-40B4-BE49-F238E27FC236}">
                <a16:creationId xmlns:a16="http://schemas.microsoft.com/office/drawing/2014/main" id="{862A3254-AA28-C819-42FB-28E5E45B0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1950" y="6159002"/>
            <a:ext cx="94256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1000" b="1" err="1">
                <a:solidFill>
                  <a:srgbClr val="000000"/>
                </a:solidFill>
              </a:rPr>
              <a:t>Time</a:t>
            </a:r>
            <a:r>
              <a:rPr lang="sv-SE" sz="1000" b="1">
                <a:solidFill>
                  <a:srgbClr val="000000"/>
                </a:solidFill>
              </a:rPr>
              <a:t>/date/</a:t>
            </a:r>
            <a:r>
              <a:rPr lang="sv-SE" sz="1000" b="1" err="1">
                <a:solidFill>
                  <a:srgbClr val="000000"/>
                </a:solidFill>
              </a:rPr>
              <a:t>week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24" name="Rectangle 162">
            <a:extLst>
              <a:ext uri="{FF2B5EF4-FFF2-40B4-BE49-F238E27FC236}">
                <a16:creationId xmlns:a16="http://schemas.microsoft.com/office/drawing/2014/main" id="{4AE4B95F-5F83-6A5B-F7EC-FB35CB84E3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4989" y="1977528"/>
            <a:ext cx="1233487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v-SE"/>
          </a:p>
        </p:txBody>
      </p:sp>
      <p:grpSp>
        <p:nvGrpSpPr>
          <p:cNvPr id="55459" name="Group 163">
            <a:extLst>
              <a:ext uri="{FF2B5EF4-FFF2-40B4-BE49-F238E27FC236}">
                <a16:creationId xmlns:a16="http://schemas.microsoft.com/office/drawing/2014/main" id="{76EE951C-6473-4C18-F749-6BDF3A5B3FEC}"/>
              </a:ext>
            </a:extLst>
          </p:cNvPr>
          <p:cNvGrpSpPr>
            <a:grpSpLocks/>
          </p:cNvGrpSpPr>
          <p:nvPr/>
        </p:nvGrpSpPr>
        <p:grpSpPr bwMode="auto">
          <a:xfrm>
            <a:off x="5407136" y="1750108"/>
            <a:ext cx="1431706" cy="731838"/>
            <a:chOff x="2786" y="746"/>
            <a:chExt cx="1100" cy="573"/>
          </a:xfrm>
        </p:grpSpPr>
        <p:sp>
          <p:nvSpPr>
            <p:cNvPr id="10389" name="Oval 164">
              <a:extLst>
                <a:ext uri="{FF2B5EF4-FFF2-40B4-BE49-F238E27FC236}">
                  <a16:creationId xmlns:a16="http://schemas.microsoft.com/office/drawing/2014/main" id="{A38F74FE-7C74-BD9E-B554-F98157D2B9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6" y="746"/>
              <a:ext cx="1100" cy="573"/>
            </a:xfrm>
            <a:prstGeom prst="ellipse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10390" name="Rectangle 165">
              <a:extLst>
                <a:ext uri="{FF2B5EF4-FFF2-40B4-BE49-F238E27FC236}">
                  <a16:creationId xmlns:a16="http://schemas.microsoft.com/office/drawing/2014/main" id="{858C5B8C-1D38-249B-76A3-40DF5217B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1" y="970"/>
              <a:ext cx="64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sv-SE" sz="1200" b="1">
                  <a:solidFill>
                    <a:srgbClr val="000000"/>
                  </a:solidFill>
                </a:rPr>
                <a:t>Target </a:t>
              </a:r>
              <a:r>
                <a:rPr lang="sv-SE" sz="1200" b="1" err="1">
                  <a:solidFill>
                    <a:srgbClr val="000000"/>
                  </a:solidFill>
                </a:rPr>
                <a:t>level</a:t>
              </a:r>
              <a:endParaRPr lang="sv-SE" sz="2800" b="1">
                <a:solidFill>
                  <a:schemeClr val="tx2"/>
                </a:solidFill>
                <a:latin typeface="Verdana" pitchFamily="34" charset="0"/>
              </a:endParaRPr>
            </a:p>
          </p:txBody>
        </p:sp>
      </p:grpSp>
      <p:sp>
        <p:nvSpPr>
          <p:cNvPr id="10326" name="Rectangle 166">
            <a:extLst>
              <a:ext uri="{FF2B5EF4-FFF2-40B4-BE49-F238E27FC236}">
                <a16:creationId xmlns:a16="http://schemas.microsoft.com/office/drawing/2014/main" id="{4EDFE0E0-F482-E4E6-6DE2-7786A9593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1414" y="3685678"/>
            <a:ext cx="1431925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327" name="Rectangle 167">
            <a:extLst>
              <a:ext uri="{FF2B5EF4-FFF2-40B4-BE49-F238E27FC236}">
                <a16:creationId xmlns:a16="http://schemas.microsoft.com/office/drawing/2014/main" id="{CB870948-54A0-CF74-8C3C-1A4ECE331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0538" y="4812802"/>
            <a:ext cx="1403350" cy="110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v-SE"/>
          </a:p>
        </p:txBody>
      </p:sp>
      <p:grpSp>
        <p:nvGrpSpPr>
          <p:cNvPr id="55464" name="Group 168">
            <a:extLst>
              <a:ext uri="{FF2B5EF4-FFF2-40B4-BE49-F238E27FC236}">
                <a16:creationId xmlns:a16="http://schemas.microsoft.com/office/drawing/2014/main" id="{58C1253F-95E3-B611-57E8-FCF792B2BDFD}"/>
              </a:ext>
            </a:extLst>
          </p:cNvPr>
          <p:cNvGrpSpPr>
            <a:grpSpLocks/>
          </p:cNvGrpSpPr>
          <p:nvPr/>
        </p:nvGrpSpPr>
        <p:grpSpPr bwMode="auto">
          <a:xfrm>
            <a:off x="2668589" y="4495302"/>
            <a:ext cx="1370007" cy="1085850"/>
            <a:chOff x="721" y="2450"/>
            <a:chExt cx="863" cy="684"/>
          </a:xfrm>
        </p:grpSpPr>
        <p:sp>
          <p:nvSpPr>
            <p:cNvPr id="10383" name="Oval 169">
              <a:extLst>
                <a:ext uri="{FF2B5EF4-FFF2-40B4-BE49-F238E27FC236}">
                  <a16:creationId xmlns:a16="http://schemas.microsoft.com/office/drawing/2014/main" id="{5914C745-9874-2E69-1243-6FEEC3BAFF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1" y="2540"/>
              <a:ext cx="863" cy="594"/>
            </a:xfrm>
            <a:prstGeom prst="ellipse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10384" name="Rectangle 170">
              <a:extLst>
                <a:ext uri="{FF2B5EF4-FFF2-40B4-BE49-F238E27FC236}">
                  <a16:creationId xmlns:a16="http://schemas.microsoft.com/office/drawing/2014/main" id="{6DB5B70E-BF64-57A7-D042-853627AD60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8" y="2673"/>
              <a:ext cx="63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sv-SE" sz="1200" b="1" err="1">
                  <a:solidFill>
                    <a:srgbClr val="000000"/>
                  </a:solidFill>
                </a:rPr>
                <a:t>Starting</a:t>
              </a:r>
              <a:r>
                <a:rPr lang="sv-SE" sz="1200" b="1">
                  <a:solidFill>
                    <a:srgbClr val="000000"/>
                  </a:solidFill>
                </a:rPr>
                <a:t> </a:t>
              </a:r>
              <a:r>
                <a:rPr lang="sv-SE" sz="1200" b="1" err="1">
                  <a:solidFill>
                    <a:srgbClr val="000000"/>
                  </a:solidFill>
                </a:rPr>
                <a:t>point</a:t>
              </a:r>
              <a:endParaRPr lang="sv-SE" sz="2800" b="1">
                <a:solidFill>
                  <a:schemeClr val="tx2"/>
                </a:solidFill>
                <a:latin typeface="Verdana" pitchFamily="34" charset="0"/>
              </a:endParaRPr>
            </a:p>
          </p:txBody>
        </p:sp>
        <p:sp>
          <p:nvSpPr>
            <p:cNvPr id="10385" name="Rectangle 171">
              <a:extLst>
                <a:ext uri="{FF2B5EF4-FFF2-40B4-BE49-F238E27FC236}">
                  <a16:creationId xmlns:a16="http://schemas.microsoft.com/office/drawing/2014/main" id="{5ED547B5-9E73-48AB-770A-3955DB8265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" y="2790"/>
              <a:ext cx="72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sv-SE" sz="1100">
                  <a:solidFill>
                    <a:srgbClr val="000000"/>
                  </a:solidFill>
                </a:rPr>
                <a:t>(</a:t>
              </a:r>
              <a:r>
                <a:rPr lang="sv-SE" sz="1100" err="1">
                  <a:solidFill>
                    <a:srgbClr val="000000"/>
                  </a:solidFill>
                </a:rPr>
                <a:t>Estimated</a:t>
              </a:r>
              <a:r>
                <a:rPr lang="sv-SE" sz="1100">
                  <a:solidFill>
                    <a:srgbClr val="000000"/>
                  </a:solidFill>
                </a:rPr>
                <a:t> or real </a:t>
              </a:r>
            </a:p>
            <a:p>
              <a:pPr eaLnBrk="0" hangingPunct="0"/>
              <a:r>
                <a:rPr lang="sv-SE" sz="1100" err="1">
                  <a:solidFill>
                    <a:srgbClr val="000000"/>
                  </a:solidFill>
                </a:rPr>
                <a:t>starting</a:t>
              </a:r>
              <a:r>
                <a:rPr lang="sv-SE" sz="1100">
                  <a:solidFill>
                    <a:srgbClr val="000000"/>
                  </a:solidFill>
                </a:rPr>
                <a:t> </a:t>
              </a:r>
              <a:r>
                <a:rPr lang="sv-SE" sz="1100" err="1">
                  <a:solidFill>
                    <a:srgbClr val="000000"/>
                  </a:solidFill>
                </a:rPr>
                <a:t>point</a:t>
              </a:r>
              <a:r>
                <a:rPr lang="sv-SE" sz="1100">
                  <a:solidFill>
                    <a:srgbClr val="000000"/>
                  </a:solidFill>
                </a:rPr>
                <a:t>)</a:t>
              </a:r>
              <a:endParaRPr lang="sv-SE" sz="2800" b="1">
                <a:solidFill>
                  <a:schemeClr val="tx2"/>
                </a:solidFill>
                <a:latin typeface="Verdana" pitchFamily="34" charset="0"/>
              </a:endParaRPr>
            </a:p>
          </p:txBody>
        </p:sp>
        <p:grpSp>
          <p:nvGrpSpPr>
            <p:cNvPr id="10386" name="Group 172">
              <a:extLst>
                <a:ext uri="{FF2B5EF4-FFF2-40B4-BE49-F238E27FC236}">
                  <a16:creationId xmlns:a16="http://schemas.microsoft.com/office/drawing/2014/main" id="{94F4AFEA-F533-E2A1-9411-33C281191F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3" y="2450"/>
              <a:ext cx="188" cy="152"/>
              <a:chOff x="835" y="2450"/>
              <a:chExt cx="284" cy="152"/>
            </a:xfrm>
          </p:grpSpPr>
          <p:sp>
            <p:nvSpPr>
              <p:cNvPr id="10387" name="Line 173">
                <a:extLst>
                  <a:ext uri="{FF2B5EF4-FFF2-40B4-BE49-F238E27FC236}">
                    <a16:creationId xmlns:a16="http://schemas.microsoft.com/office/drawing/2014/main" id="{DD4A613E-BE05-4844-E9CC-D1085F074F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85" y="2464"/>
                <a:ext cx="234" cy="138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388" name="Freeform 174">
                <a:extLst>
                  <a:ext uri="{FF2B5EF4-FFF2-40B4-BE49-F238E27FC236}">
                    <a16:creationId xmlns:a16="http://schemas.microsoft.com/office/drawing/2014/main" id="{F58850C6-CD07-7080-9119-C82D106A8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5" y="2450"/>
                <a:ext cx="85" cy="62"/>
              </a:xfrm>
              <a:custGeom>
                <a:avLst/>
                <a:gdLst>
                  <a:gd name="T0" fmla="*/ 85 w 85"/>
                  <a:gd name="T1" fmla="*/ 0 h 62"/>
                  <a:gd name="T2" fmla="*/ 0 w 85"/>
                  <a:gd name="T3" fmla="*/ 0 h 62"/>
                  <a:gd name="T4" fmla="*/ 50 w 85"/>
                  <a:gd name="T5" fmla="*/ 62 h 62"/>
                  <a:gd name="T6" fmla="*/ 85 w 85"/>
                  <a:gd name="T7" fmla="*/ 0 h 6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5" h="62">
                    <a:moveTo>
                      <a:pt x="85" y="0"/>
                    </a:moveTo>
                    <a:lnTo>
                      <a:pt x="0" y="0"/>
                    </a:lnTo>
                    <a:lnTo>
                      <a:pt x="50" y="62"/>
                    </a:lnTo>
                    <a:lnTo>
                      <a:pt x="8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</p:grpSp>
      </p:grpSp>
      <p:sp>
        <p:nvSpPr>
          <p:cNvPr id="10329" name="Rectangle 175">
            <a:extLst>
              <a:ext uri="{FF2B5EF4-FFF2-40B4-BE49-F238E27FC236}">
                <a16:creationId xmlns:a16="http://schemas.microsoft.com/office/drawing/2014/main" id="{7484AB06-2BE6-2AE9-3A5F-9987AEBBA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1539" y="4287341"/>
            <a:ext cx="1520825" cy="896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330" name="Rectangle 176">
            <a:extLst>
              <a:ext uri="{FF2B5EF4-FFF2-40B4-BE49-F238E27FC236}">
                <a16:creationId xmlns:a16="http://schemas.microsoft.com/office/drawing/2014/main" id="{B9607D0D-9C5E-F330-BC8B-11642A952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476" y="2831603"/>
            <a:ext cx="6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endParaRPr lang="nl-NL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55473" name="Line 177">
            <a:extLst>
              <a:ext uri="{FF2B5EF4-FFF2-40B4-BE49-F238E27FC236}">
                <a16:creationId xmlns:a16="http://schemas.microsoft.com/office/drawing/2014/main" id="{972F2E13-39B0-061A-C155-11CC20A50E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78414" y="2379166"/>
            <a:ext cx="509587" cy="2873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55474" name="Line 178">
            <a:extLst>
              <a:ext uri="{FF2B5EF4-FFF2-40B4-BE49-F238E27FC236}">
                <a16:creationId xmlns:a16="http://schemas.microsoft.com/office/drawing/2014/main" id="{E1883433-8117-CA98-CE7E-11A74B7B435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3500" y="2450603"/>
            <a:ext cx="1333500" cy="37449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v-SE"/>
          </a:p>
        </p:txBody>
      </p:sp>
      <p:grpSp>
        <p:nvGrpSpPr>
          <p:cNvPr id="55475" name="Group 179">
            <a:extLst>
              <a:ext uri="{FF2B5EF4-FFF2-40B4-BE49-F238E27FC236}">
                <a16:creationId xmlns:a16="http://schemas.microsoft.com/office/drawing/2014/main" id="{987DFFD9-9EA1-56A7-EFB1-F1DA501D13DE}"/>
              </a:ext>
            </a:extLst>
          </p:cNvPr>
          <p:cNvGrpSpPr>
            <a:grpSpLocks/>
          </p:cNvGrpSpPr>
          <p:nvPr/>
        </p:nvGrpSpPr>
        <p:grpSpPr bwMode="auto">
          <a:xfrm>
            <a:off x="1642974" y="3296743"/>
            <a:ext cx="1843552" cy="1011239"/>
            <a:chOff x="88" y="1695"/>
            <a:chExt cx="1134" cy="637"/>
          </a:xfrm>
        </p:grpSpPr>
        <p:sp>
          <p:nvSpPr>
            <p:cNvPr id="10379" name="Oval 180">
              <a:extLst>
                <a:ext uri="{FF2B5EF4-FFF2-40B4-BE49-F238E27FC236}">
                  <a16:creationId xmlns:a16="http://schemas.microsoft.com/office/drawing/2014/main" id="{CFF9A017-0C27-6258-DBAC-F21918D30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" y="1695"/>
              <a:ext cx="870" cy="637"/>
            </a:xfrm>
            <a:prstGeom prst="ellipse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10380" name="Rectangle 181">
              <a:extLst>
                <a:ext uri="{FF2B5EF4-FFF2-40B4-BE49-F238E27FC236}">
                  <a16:creationId xmlns:a16="http://schemas.microsoft.com/office/drawing/2014/main" id="{366F6B64-0F82-6E2A-D172-4A3DF8113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" y="1808"/>
              <a:ext cx="557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sv-SE" sz="1200" b="1" err="1">
                  <a:solidFill>
                    <a:srgbClr val="000000"/>
                  </a:solidFill>
                </a:rPr>
                <a:t>Actual</a:t>
              </a:r>
              <a:r>
                <a:rPr lang="sv-SE" sz="1200" b="1">
                  <a:solidFill>
                    <a:srgbClr val="000000"/>
                  </a:solidFill>
                </a:rPr>
                <a:t> </a:t>
              </a:r>
              <a:r>
                <a:rPr lang="sv-SE" sz="1200" b="1" err="1">
                  <a:solidFill>
                    <a:srgbClr val="000000"/>
                  </a:solidFill>
                </a:rPr>
                <a:t>value</a:t>
              </a:r>
              <a:endParaRPr lang="sv-SE" sz="2800" b="1">
                <a:solidFill>
                  <a:schemeClr val="tx2"/>
                </a:solidFill>
                <a:latin typeface="Verdana" pitchFamily="34" charset="0"/>
              </a:endParaRPr>
            </a:p>
          </p:txBody>
        </p:sp>
        <p:sp>
          <p:nvSpPr>
            <p:cNvPr id="10381" name="Rectangle 182">
              <a:extLst>
                <a:ext uri="{FF2B5EF4-FFF2-40B4-BE49-F238E27FC236}">
                  <a16:creationId xmlns:a16="http://schemas.microsoft.com/office/drawing/2014/main" id="{22A3C7AF-3A2C-F420-6F07-F3503A45B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" y="1950"/>
              <a:ext cx="69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eaLnBrk="0" hangingPunct="0"/>
              <a:r>
                <a:rPr lang="sv-SE" sz="1100">
                  <a:solidFill>
                    <a:srgbClr val="000000"/>
                  </a:solidFill>
                </a:rPr>
                <a:t>(</a:t>
              </a:r>
              <a:r>
                <a:rPr lang="sv-SE" sz="1100" err="1">
                  <a:solidFill>
                    <a:srgbClr val="000000"/>
                  </a:solidFill>
                </a:rPr>
                <a:t>Updated</a:t>
              </a:r>
              <a:r>
                <a:rPr lang="sv-SE" sz="1100">
                  <a:solidFill>
                    <a:srgbClr val="000000"/>
                  </a:solidFill>
                </a:rPr>
                <a:t> </a:t>
              </a:r>
              <a:r>
                <a:rPr lang="sv-SE" sz="1100" err="1">
                  <a:solidFill>
                    <a:srgbClr val="000000"/>
                  </a:solidFill>
                </a:rPr>
                <a:t>every</a:t>
              </a:r>
              <a:r>
                <a:rPr lang="sv-SE" sz="1100">
                  <a:solidFill>
                    <a:srgbClr val="000000"/>
                  </a:solidFill>
                </a:rPr>
                <a:t> </a:t>
              </a:r>
              <a:r>
                <a:rPr lang="sv-SE" sz="1100" err="1">
                  <a:solidFill>
                    <a:srgbClr val="000000"/>
                  </a:solidFill>
                </a:rPr>
                <a:t>week</a:t>
              </a:r>
              <a:r>
                <a:rPr lang="sv-SE" sz="1100">
                  <a:solidFill>
                    <a:srgbClr val="000000"/>
                  </a:solidFill>
                </a:rPr>
                <a:t> or </a:t>
              </a:r>
              <a:r>
                <a:rPr lang="sv-SE" sz="1100" err="1">
                  <a:solidFill>
                    <a:srgbClr val="000000"/>
                  </a:solidFill>
                </a:rPr>
                <a:t>biweekly</a:t>
              </a:r>
              <a:r>
                <a:rPr lang="sv-SE" sz="1100">
                  <a:solidFill>
                    <a:srgbClr val="000000"/>
                  </a:solidFill>
                </a:rPr>
                <a:t>)</a:t>
              </a:r>
            </a:p>
          </p:txBody>
        </p:sp>
        <p:sp>
          <p:nvSpPr>
            <p:cNvPr id="10382" name="Line 183">
              <a:extLst>
                <a:ext uri="{FF2B5EF4-FFF2-40B4-BE49-F238E27FC236}">
                  <a16:creationId xmlns:a16="http://schemas.microsoft.com/office/drawing/2014/main" id="{F49E12EE-8AFE-8CAF-611A-4BF628883C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7" y="2030"/>
              <a:ext cx="315" cy="2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v-SE"/>
            </a:p>
          </p:txBody>
        </p:sp>
      </p:grpSp>
      <p:sp>
        <p:nvSpPr>
          <p:cNvPr id="55480" name="Oval 184">
            <a:extLst>
              <a:ext uri="{FF2B5EF4-FFF2-40B4-BE49-F238E27FC236}">
                <a16:creationId xmlns:a16="http://schemas.microsoft.com/office/drawing/2014/main" id="{0613AE41-3389-8EDD-7886-02797C9EF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8051" y="3466602"/>
            <a:ext cx="1985963" cy="1041400"/>
          </a:xfrm>
          <a:prstGeom prst="ellipse">
            <a:avLst/>
          </a:prstGeom>
          <a:solidFill>
            <a:srgbClr val="FFFFFF"/>
          </a:solidFill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sv-SE"/>
          </a:p>
        </p:txBody>
      </p:sp>
      <p:grpSp>
        <p:nvGrpSpPr>
          <p:cNvPr id="10367" name="Group 186">
            <a:extLst>
              <a:ext uri="{FF2B5EF4-FFF2-40B4-BE49-F238E27FC236}">
                <a16:creationId xmlns:a16="http://schemas.microsoft.com/office/drawing/2014/main" id="{5208B331-5C47-C3E2-FA36-CF7C8C1DBFEA}"/>
              </a:ext>
            </a:extLst>
          </p:cNvPr>
          <p:cNvGrpSpPr>
            <a:grpSpLocks/>
          </p:cNvGrpSpPr>
          <p:nvPr/>
        </p:nvGrpSpPr>
        <p:grpSpPr bwMode="auto">
          <a:xfrm>
            <a:off x="561967" y="1611179"/>
            <a:ext cx="4257684" cy="1095375"/>
            <a:chOff x="-699" y="643"/>
            <a:chExt cx="3053" cy="690"/>
          </a:xfrm>
        </p:grpSpPr>
        <p:grpSp>
          <p:nvGrpSpPr>
            <p:cNvPr id="10369" name="Group 187">
              <a:extLst>
                <a:ext uri="{FF2B5EF4-FFF2-40B4-BE49-F238E27FC236}">
                  <a16:creationId xmlns:a16="http://schemas.microsoft.com/office/drawing/2014/main" id="{9F837AC3-091A-01AA-12B9-4DDAE667C9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699" y="643"/>
              <a:ext cx="1669" cy="690"/>
              <a:chOff x="-699" y="643"/>
              <a:chExt cx="1669" cy="690"/>
            </a:xfrm>
          </p:grpSpPr>
          <p:sp>
            <p:nvSpPr>
              <p:cNvPr id="10375" name="Oval 188">
                <a:extLst>
                  <a:ext uri="{FF2B5EF4-FFF2-40B4-BE49-F238E27FC236}">
                    <a16:creationId xmlns:a16="http://schemas.microsoft.com/office/drawing/2014/main" id="{A24E4FC0-3EF4-FC24-DCE0-9AB02C237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699" y="643"/>
                <a:ext cx="1034" cy="690"/>
              </a:xfrm>
              <a:prstGeom prst="ellipse">
                <a:avLst/>
              </a:prstGeom>
              <a:solidFill>
                <a:srgbClr val="FFFFFF"/>
              </a:solidFill>
              <a:ln w="1111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376" name="Rectangle 189">
                <a:extLst>
                  <a:ext uri="{FF2B5EF4-FFF2-40B4-BE49-F238E27FC236}">
                    <a16:creationId xmlns:a16="http://schemas.microsoft.com/office/drawing/2014/main" id="{4249AB8E-8CDC-5F12-1054-33680500E1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509" y="815"/>
                <a:ext cx="70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0" hangingPunct="0"/>
                <a:r>
                  <a:rPr lang="sv-SE" sz="1200" b="1" err="1">
                    <a:solidFill>
                      <a:srgbClr val="000000"/>
                    </a:solidFill>
                  </a:rPr>
                  <a:t>Measurement</a:t>
                </a:r>
                <a:endParaRPr lang="sv-SE" sz="1200" b="1">
                  <a:solidFill>
                    <a:srgbClr val="000000"/>
                  </a:solidFill>
                </a:endParaRPr>
              </a:p>
              <a:p>
                <a:pPr eaLnBrk="0" hangingPunct="0"/>
                <a:r>
                  <a:rPr lang="sv-SE" sz="1100">
                    <a:solidFill>
                      <a:srgbClr val="000000"/>
                    </a:solidFill>
                  </a:rPr>
                  <a:t>(</a:t>
                </a:r>
                <a:r>
                  <a:rPr lang="sv-SE" sz="1100" err="1">
                    <a:solidFill>
                      <a:srgbClr val="000000"/>
                    </a:solidFill>
                  </a:rPr>
                  <a:t>What</a:t>
                </a:r>
                <a:r>
                  <a:rPr lang="sv-SE" sz="1100">
                    <a:solidFill>
                      <a:srgbClr val="000000"/>
                    </a:solidFill>
                  </a:rPr>
                  <a:t> </a:t>
                </a:r>
                <a:r>
                  <a:rPr lang="sv-SE" sz="1100" err="1">
                    <a:solidFill>
                      <a:srgbClr val="000000"/>
                    </a:solidFill>
                  </a:rPr>
                  <a:t>shall</a:t>
                </a:r>
                <a:r>
                  <a:rPr lang="sv-SE" sz="1100">
                    <a:solidFill>
                      <a:srgbClr val="000000"/>
                    </a:solidFill>
                  </a:rPr>
                  <a:t> </a:t>
                </a:r>
                <a:r>
                  <a:rPr lang="sv-SE" sz="1100" err="1">
                    <a:solidFill>
                      <a:srgbClr val="000000"/>
                    </a:solidFill>
                  </a:rPr>
                  <a:t>we</a:t>
                </a:r>
                <a:r>
                  <a:rPr lang="sv-SE" sz="1100">
                    <a:solidFill>
                      <a:srgbClr val="000000"/>
                    </a:solidFill>
                  </a:rPr>
                  <a:t> </a:t>
                </a:r>
              </a:p>
              <a:p>
                <a:pPr eaLnBrk="0" hangingPunct="0"/>
                <a:r>
                  <a:rPr lang="sv-SE" sz="1100" err="1">
                    <a:solidFill>
                      <a:srgbClr val="000000"/>
                    </a:solidFill>
                  </a:rPr>
                  <a:t>measure</a:t>
                </a:r>
                <a:r>
                  <a:rPr lang="sv-SE" sz="1100">
                    <a:solidFill>
                      <a:srgbClr val="000000"/>
                    </a:solidFill>
                  </a:rPr>
                  <a:t>?)</a:t>
                </a:r>
                <a:endParaRPr lang="sv-SE" sz="2800" b="1">
                  <a:solidFill>
                    <a:schemeClr val="tx2"/>
                  </a:solidFill>
                  <a:latin typeface="Verdana" pitchFamily="34" charset="0"/>
                </a:endParaRPr>
              </a:p>
            </p:txBody>
          </p:sp>
          <p:sp>
            <p:nvSpPr>
              <p:cNvPr id="10378" name="Rectangle 191">
                <a:extLst>
                  <a:ext uri="{FF2B5EF4-FFF2-40B4-BE49-F238E27FC236}">
                    <a16:creationId xmlns:a16="http://schemas.microsoft.com/office/drawing/2014/main" id="{5ACB2CD6-873F-D948-7E33-6C8DAB0AD4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0" y="1029"/>
                <a:ext cx="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0" hangingPunct="0"/>
                <a:endParaRPr lang="nl-NL" sz="2800" b="1">
                  <a:solidFill>
                    <a:schemeClr val="tx2"/>
                  </a:solidFill>
                  <a:latin typeface="Verdana" pitchFamily="34" charset="0"/>
                </a:endParaRPr>
              </a:p>
            </p:txBody>
          </p:sp>
        </p:grpSp>
        <p:grpSp>
          <p:nvGrpSpPr>
            <p:cNvPr id="10372" name="Group 194">
              <a:extLst>
                <a:ext uri="{FF2B5EF4-FFF2-40B4-BE49-F238E27FC236}">
                  <a16:creationId xmlns:a16="http://schemas.microsoft.com/office/drawing/2014/main" id="{545713D8-0469-75B5-86D7-C84F791C8C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3" y="649"/>
              <a:ext cx="2061" cy="169"/>
              <a:chOff x="293" y="649"/>
              <a:chExt cx="2061" cy="169"/>
            </a:xfrm>
          </p:grpSpPr>
          <p:sp>
            <p:nvSpPr>
              <p:cNvPr id="10373" name="Line 195">
                <a:extLst>
                  <a:ext uri="{FF2B5EF4-FFF2-40B4-BE49-F238E27FC236}">
                    <a16:creationId xmlns:a16="http://schemas.microsoft.com/office/drawing/2014/main" id="{5134A613-57B5-CADC-9967-1B8F02579A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3" y="649"/>
                <a:ext cx="700" cy="169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374" name="Freeform 196">
                <a:extLst>
                  <a:ext uri="{FF2B5EF4-FFF2-40B4-BE49-F238E27FC236}">
                    <a16:creationId xmlns:a16="http://schemas.microsoft.com/office/drawing/2014/main" id="{E350CBD8-2107-3520-C931-87840C3DCF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8" y="705"/>
                <a:ext cx="86" cy="69"/>
              </a:xfrm>
              <a:custGeom>
                <a:avLst/>
                <a:gdLst>
                  <a:gd name="T0" fmla="*/ 22 w 86"/>
                  <a:gd name="T1" fmla="*/ 69 h 69"/>
                  <a:gd name="T2" fmla="*/ 86 w 86"/>
                  <a:gd name="T3" fmla="*/ 7 h 69"/>
                  <a:gd name="T4" fmla="*/ 0 w 86"/>
                  <a:gd name="T5" fmla="*/ 0 h 69"/>
                  <a:gd name="T6" fmla="*/ 22 w 86"/>
                  <a:gd name="T7" fmla="*/ 69 h 6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6" h="69">
                    <a:moveTo>
                      <a:pt x="22" y="69"/>
                    </a:moveTo>
                    <a:lnTo>
                      <a:pt x="86" y="7"/>
                    </a:lnTo>
                    <a:lnTo>
                      <a:pt x="0" y="0"/>
                    </a:lnTo>
                    <a:lnTo>
                      <a:pt x="22" y="6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</p:grpSp>
      </p:grpSp>
      <p:sp>
        <p:nvSpPr>
          <p:cNvPr id="55494" name="Rectangle 198">
            <a:extLst>
              <a:ext uri="{FF2B5EF4-FFF2-40B4-BE49-F238E27FC236}">
                <a16:creationId xmlns:a16="http://schemas.microsoft.com/office/drawing/2014/main" id="{C4CA1F0F-98EC-4C06-1E65-93656AD28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3173" y="3637436"/>
            <a:ext cx="1709738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sv-SE" sz="1200" b="1" err="1">
                <a:solidFill>
                  <a:srgbClr val="000000"/>
                </a:solidFill>
              </a:rPr>
              <a:t>Critical</a:t>
            </a:r>
            <a:r>
              <a:rPr lang="sv-SE" sz="1200" b="1">
                <a:solidFill>
                  <a:srgbClr val="000000"/>
                </a:solidFill>
              </a:rPr>
              <a:t> </a:t>
            </a:r>
            <a:r>
              <a:rPr lang="sv-SE" sz="1200" b="1" err="1">
                <a:solidFill>
                  <a:srgbClr val="000000"/>
                </a:solidFill>
              </a:rPr>
              <a:t>line</a:t>
            </a:r>
            <a:endParaRPr lang="sv-SE" sz="1200" b="1">
              <a:solidFill>
                <a:srgbClr val="000000"/>
              </a:solidFill>
            </a:endParaRPr>
          </a:p>
          <a:p>
            <a:pPr eaLnBrk="0" hangingPunct="0"/>
            <a:r>
              <a:rPr lang="sv-SE" sz="1200" b="1" err="1">
                <a:solidFill>
                  <a:srgbClr val="000000"/>
                </a:solidFill>
              </a:rPr>
              <a:t>Planned</a:t>
            </a:r>
            <a:r>
              <a:rPr lang="sv-SE" sz="1200" b="1">
                <a:solidFill>
                  <a:srgbClr val="000000"/>
                </a:solidFill>
              </a:rPr>
              <a:t> </a:t>
            </a:r>
            <a:r>
              <a:rPr lang="sv-SE" sz="1200" b="1" err="1">
                <a:solidFill>
                  <a:srgbClr val="000000"/>
                </a:solidFill>
              </a:rPr>
              <a:t>development</a:t>
            </a:r>
            <a:br>
              <a:rPr lang="sv-SE" sz="1200" b="1">
                <a:solidFill>
                  <a:srgbClr val="000000"/>
                </a:solidFill>
              </a:rPr>
            </a:b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55495" name="Rectangle 199">
            <a:extLst>
              <a:ext uri="{FF2B5EF4-FFF2-40B4-BE49-F238E27FC236}">
                <a16:creationId xmlns:a16="http://schemas.microsoft.com/office/drawing/2014/main" id="{F52AE642-7A51-339C-74DF-F5BD4025D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0644" y="4094773"/>
            <a:ext cx="1433512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sv-SE" sz="1100">
                <a:solidFill>
                  <a:srgbClr val="000000"/>
                </a:solidFill>
              </a:rPr>
              <a:t>(</a:t>
            </a:r>
            <a:r>
              <a:rPr lang="sv-SE" sz="1100" err="1">
                <a:solidFill>
                  <a:srgbClr val="000000"/>
                </a:solidFill>
              </a:rPr>
              <a:t>Linear</a:t>
            </a:r>
            <a:r>
              <a:rPr lang="sv-SE" sz="1100">
                <a:solidFill>
                  <a:srgbClr val="000000"/>
                </a:solidFill>
              </a:rPr>
              <a:t> or </a:t>
            </a:r>
            <a:r>
              <a:rPr lang="sv-SE" sz="1100" err="1">
                <a:solidFill>
                  <a:srgbClr val="000000"/>
                </a:solidFill>
              </a:rPr>
              <a:t>Variable</a:t>
            </a:r>
            <a:r>
              <a:rPr lang="sv-SE" sz="1100">
                <a:solidFill>
                  <a:srgbClr val="000000"/>
                </a:solidFill>
              </a:rPr>
              <a:t>)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55496" name="Line 200">
            <a:extLst>
              <a:ext uri="{FF2B5EF4-FFF2-40B4-BE49-F238E27FC236}">
                <a16:creationId xmlns:a16="http://schemas.microsoft.com/office/drawing/2014/main" id="{ECF71DB1-B4F5-A5AA-7DA5-791B04418BC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73713" y="3374528"/>
            <a:ext cx="698500" cy="2762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55517" name="Rectangle 221">
            <a:extLst>
              <a:ext uri="{FF2B5EF4-FFF2-40B4-BE49-F238E27FC236}">
                <a16:creationId xmlns:a16="http://schemas.microsoft.com/office/drawing/2014/main" id="{81FC4E6D-F9B1-D1E4-C1D7-23E098152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315" y="2774452"/>
            <a:ext cx="3142114" cy="84455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55518" name="Rectangle 222">
            <a:extLst>
              <a:ext uri="{FF2B5EF4-FFF2-40B4-BE49-F238E27FC236}">
                <a16:creationId xmlns:a16="http://schemas.microsoft.com/office/drawing/2014/main" id="{E07AE201-1BDD-606C-003F-D092B91BC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476" y="2796678"/>
            <a:ext cx="140811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sv-SE" sz="1600" b="1" err="1">
                <a:solidFill>
                  <a:srgbClr val="000000"/>
                </a:solidFill>
              </a:rPr>
              <a:t>Desired</a:t>
            </a:r>
            <a:r>
              <a:rPr lang="sv-SE" sz="1600" b="1">
                <a:solidFill>
                  <a:srgbClr val="000000"/>
                </a:solidFill>
              </a:rPr>
              <a:t> State</a:t>
            </a:r>
            <a:endParaRPr lang="sv-SE" sz="2800" b="1" i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44" name="Rectangle 223">
            <a:extLst>
              <a:ext uri="{FF2B5EF4-FFF2-40B4-BE49-F238E27FC236}">
                <a16:creationId xmlns:a16="http://schemas.microsoft.com/office/drawing/2014/main" id="{7E8AC6EB-F199-A1DB-3E61-13FB0DD72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476" y="3060203"/>
            <a:ext cx="6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endParaRPr lang="en-GB" sz="32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55520" name="Rectangle 224">
            <a:extLst>
              <a:ext uri="{FF2B5EF4-FFF2-40B4-BE49-F238E27FC236}">
                <a16:creationId xmlns:a16="http://schemas.microsoft.com/office/drawing/2014/main" id="{C83FDC37-00D5-C4A3-4542-C6E11CF65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792" y="3105725"/>
            <a:ext cx="30723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eaLnBrk="0" hangingPunct="0"/>
            <a:r>
              <a:rPr lang="sv-SE" sz="1200" b="1" err="1"/>
              <a:t>Our</a:t>
            </a:r>
            <a:r>
              <a:rPr lang="sv-SE" sz="1200" b="1"/>
              <a:t> </a:t>
            </a:r>
            <a:r>
              <a:rPr lang="sv-SE" sz="1200" b="1" err="1"/>
              <a:t>sales</a:t>
            </a:r>
            <a:r>
              <a:rPr lang="sv-SE" sz="1200" b="1"/>
              <a:t> </a:t>
            </a:r>
            <a:r>
              <a:rPr lang="sv-SE" sz="1200" b="1" err="1"/>
              <a:t>people</a:t>
            </a:r>
            <a:r>
              <a:rPr lang="sv-SE" sz="1200" b="1"/>
              <a:t> </a:t>
            </a:r>
            <a:r>
              <a:rPr lang="sv-SE" sz="1200" b="1" err="1"/>
              <a:t>are</a:t>
            </a:r>
            <a:r>
              <a:rPr lang="sv-SE" sz="1200" b="1"/>
              <a:t> </a:t>
            </a:r>
            <a:r>
              <a:rPr lang="sv-SE" sz="1200" b="1" err="1"/>
              <a:t>spending</a:t>
            </a:r>
            <a:r>
              <a:rPr lang="sv-SE" sz="1200" b="1"/>
              <a:t> </a:t>
            </a:r>
            <a:r>
              <a:rPr lang="sv-SE" sz="1200" b="1" err="1"/>
              <a:t>more</a:t>
            </a:r>
            <a:r>
              <a:rPr lang="sv-SE" sz="1200" b="1"/>
              <a:t> </a:t>
            </a:r>
            <a:r>
              <a:rPr lang="sv-SE" sz="1200" b="1" err="1"/>
              <a:t>time</a:t>
            </a:r>
            <a:r>
              <a:rPr lang="sv-SE" sz="1200" b="1"/>
              <a:t> at the </a:t>
            </a:r>
            <a:r>
              <a:rPr lang="sv-SE" sz="1200" b="1" err="1"/>
              <a:t>customer</a:t>
            </a:r>
            <a:endParaRPr lang="sv-SE" sz="2800" b="1">
              <a:latin typeface="Verdana" pitchFamily="34" charset="0"/>
            </a:endParaRPr>
          </a:p>
        </p:txBody>
      </p:sp>
      <p:grpSp>
        <p:nvGrpSpPr>
          <p:cNvPr id="55521" name="Group 225">
            <a:extLst>
              <a:ext uri="{FF2B5EF4-FFF2-40B4-BE49-F238E27FC236}">
                <a16:creationId xmlns:a16="http://schemas.microsoft.com/office/drawing/2014/main" id="{367E3BDC-ADC0-2231-2B88-837695A6ADAB}"/>
              </a:ext>
            </a:extLst>
          </p:cNvPr>
          <p:cNvGrpSpPr>
            <a:grpSpLocks/>
          </p:cNvGrpSpPr>
          <p:nvPr/>
        </p:nvGrpSpPr>
        <p:grpSpPr bwMode="auto">
          <a:xfrm>
            <a:off x="7961313" y="1964828"/>
            <a:ext cx="3134176" cy="677863"/>
            <a:chOff x="4596" y="712"/>
            <a:chExt cx="1497" cy="427"/>
          </a:xfrm>
          <a:solidFill>
            <a:schemeClr val="accent4"/>
          </a:solidFill>
        </p:grpSpPr>
        <p:sp>
          <p:nvSpPr>
            <p:cNvPr id="10348" name="Rectangle 226">
              <a:extLst>
                <a:ext uri="{FF2B5EF4-FFF2-40B4-BE49-F238E27FC236}">
                  <a16:creationId xmlns:a16="http://schemas.microsoft.com/office/drawing/2014/main" id="{D222E842-94D6-6913-A5BC-41EAF07BCE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6" y="712"/>
              <a:ext cx="1497" cy="42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349" name="Rectangle 227">
              <a:extLst>
                <a:ext uri="{FF2B5EF4-FFF2-40B4-BE49-F238E27FC236}">
                  <a16:creationId xmlns:a16="http://schemas.microsoft.com/office/drawing/2014/main" id="{806341BA-9FA6-13CD-ED05-9C1C26A2DD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4" y="726"/>
              <a:ext cx="737" cy="1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sv-SE" sz="1600" b="1">
                  <a:solidFill>
                    <a:srgbClr val="000000"/>
                  </a:solidFill>
                </a:rPr>
                <a:t>Team focus : </a:t>
              </a:r>
              <a:endParaRPr lang="sv-SE" sz="3200" b="1">
                <a:solidFill>
                  <a:schemeClr val="tx2"/>
                </a:solidFill>
                <a:latin typeface="Verdana" pitchFamily="34" charset="0"/>
              </a:endParaRPr>
            </a:p>
          </p:txBody>
        </p:sp>
      </p:grpSp>
      <p:sp>
        <p:nvSpPr>
          <p:cNvPr id="55524" name="Rectangle 228">
            <a:extLst>
              <a:ext uri="{FF2B5EF4-FFF2-40B4-BE49-F238E27FC236}">
                <a16:creationId xmlns:a16="http://schemas.microsoft.com/office/drawing/2014/main" id="{6F6B60BA-0C37-229A-E3AD-6BA1522C1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2248990"/>
            <a:ext cx="3009927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1400" b="1">
                <a:solidFill>
                  <a:schemeClr val="bg1"/>
                </a:solidFill>
              </a:rPr>
              <a:t>To </a:t>
            </a:r>
            <a:r>
              <a:rPr lang="sv-SE" sz="1400" b="1" err="1">
                <a:solidFill>
                  <a:schemeClr val="bg1"/>
                </a:solidFill>
              </a:rPr>
              <a:t>become</a:t>
            </a:r>
            <a:r>
              <a:rPr lang="sv-SE" sz="1400" b="1">
                <a:solidFill>
                  <a:schemeClr val="bg1"/>
                </a:solidFill>
              </a:rPr>
              <a:t> </a:t>
            </a:r>
            <a:r>
              <a:rPr lang="sv-SE" sz="1400" b="1" err="1">
                <a:solidFill>
                  <a:schemeClr val="bg1"/>
                </a:solidFill>
              </a:rPr>
              <a:t>more</a:t>
            </a:r>
            <a:r>
              <a:rPr lang="sv-SE" sz="1400" b="1">
                <a:solidFill>
                  <a:schemeClr val="bg1"/>
                </a:solidFill>
              </a:rPr>
              <a:t> </a:t>
            </a:r>
            <a:r>
              <a:rPr lang="sv-SE" sz="1400" b="1" err="1">
                <a:solidFill>
                  <a:schemeClr val="bg1"/>
                </a:solidFill>
              </a:rPr>
              <a:t>customer</a:t>
            </a:r>
            <a:r>
              <a:rPr lang="sv-SE" sz="1400" b="1">
                <a:solidFill>
                  <a:schemeClr val="bg1"/>
                </a:solidFill>
              </a:rPr>
              <a:t> </a:t>
            </a:r>
            <a:r>
              <a:rPr lang="sv-SE" sz="1400" b="1" err="1">
                <a:solidFill>
                  <a:schemeClr val="bg1"/>
                </a:solidFill>
              </a:rPr>
              <a:t>focused</a:t>
            </a:r>
            <a:endParaRPr lang="sv-SE" sz="2800" b="1">
              <a:solidFill>
                <a:schemeClr val="bg1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95204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57A71D2-9741-4FD3-B6A8-1978AE9A1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Progress </a:t>
            </a:r>
            <a:r>
              <a:rPr lang="sv-SE" dirty="0" err="1"/>
              <a:t>Measure</a:t>
            </a:r>
            <a:r>
              <a:rPr lang="sv-SE" dirty="0"/>
              <a:t> (PDCA)</a:t>
            </a:r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D355A1C0-170B-4A0D-934B-8407223C0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Integral Management</a:t>
            </a:r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0DD62585-2AA0-4FCD-9836-3EA315C84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45303-2AAE-45D1-913A-B06AE6474513}" type="slidenum">
              <a:rPr lang="sv-SE" smtClean="0"/>
              <a:t>7</a:t>
            </a:fld>
            <a:endParaRPr lang="sv-SE"/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CABD3875-7061-4D35-98E6-33354AFC3D31}"/>
              </a:ext>
            </a:extLst>
          </p:cNvPr>
          <p:cNvSpPr/>
          <p:nvPr/>
        </p:nvSpPr>
        <p:spPr>
          <a:xfrm>
            <a:off x="371477" y="1730139"/>
            <a:ext cx="11393802" cy="4470636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graphicFrame>
        <p:nvGraphicFramePr>
          <p:cNvPr id="9" name="Platshållare för innehåll 8">
            <a:extLst>
              <a:ext uri="{FF2B5EF4-FFF2-40B4-BE49-F238E27FC236}">
                <a16:creationId xmlns:a16="http://schemas.microsoft.com/office/drawing/2014/main" id="{10995381-4931-4B5E-8A73-F32E266EF662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371475" y="1743076"/>
          <a:ext cx="11376000" cy="4485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000">
                  <a:extLst>
                    <a:ext uri="{9D8B030D-6E8A-4147-A177-3AD203B41FA5}">
                      <a16:colId xmlns:a16="http://schemas.microsoft.com/office/drawing/2014/main" val="3481273696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314304515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334827581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1097628446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1108453572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1335038758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4022825102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4095630658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389002215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1595602412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1146131555"/>
                    </a:ext>
                  </a:extLst>
                </a:gridCol>
              </a:tblGrid>
              <a:tr h="703992">
                <a:tc>
                  <a:txBody>
                    <a:bodyPr/>
                    <a:lstStyle/>
                    <a:p>
                      <a:r>
                        <a:rPr lang="sv-SE" sz="1400" dirty="0" err="1"/>
                        <a:t>Your</a:t>
                      </a:r>
                      <a:r>
                        <a:rPr lang="sv-SE" sz="1400" dirty="0"/>
                        <a:t> Best </a:t>
                      </a:r>
                      <a:r>
                        <a:rPr lang="sv-SE" sz="1400" dirty="0" err="1"/>
                        <a:t>Contributions</a:t>
                      </a:r>
                      <a:endParaRPr lang="sv-SE" sz="1400" dirty="0"/>
                    </a:p>
                  </a:txBody>
                  <a:tcPr anchor="b"/>
                </a:tc>
                <a:tc gridSpan="2">
                  <a:txBody>
                    <a:bodyPr/>
                    <a:lstStyle/>
                    <a:p>
                      <a:r>
                        <a:rPr lang="sv-SE" sz="1400"/>
                        <a:t>PLAN: </a:t>
                      </a:r>
                      <a:r>
                        <a:rPr lang="sv-SE" sz="1400" err="1"/>
                        <a:t>Analyze</a:t>
                      </a:r>
                      <a:r>
                        <a:rPr lang="sv-SE" sz="1400"/>
                        <a:t> </a:t>
                      </a:r>
                      <a:r>
                        <a:rPr lang="sv-SE" sz="1400" err="1"/>
                        <a:t>what</a:t>
                      </a:r>
                      <a:r>
                        <a:rPr lang="sv-SE" sz="1400"/>
                        <a:t> is </a:t>
                      </a:r>
                      <a:r>
                        <a:rPr lang="sv-SE" sz="1400" err="1"/>
                        <a:t>needed</a:t>
                      </a:r>
                      <a:endParaRPr lang="sv-SE" sz="1400"/>
                    </a:p>
                  </a:txBody>
                  <a:tcPr anchor="b"/>
                </a:tc>
                <a:tc hMerge="1">
                  <a:txBody>
                    <a:bodyPr/>
                    <a:lstStyle/>
                    <a:p>
                      <a:endParaRPr lang="sv-S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sv-SE" sz="1400"/>
                        <a:t>DO:  </a:t>
                      </a:r>
                      <a:r>
                        <a:rPr lang="sv-SE" sz="1400" err="1"/>
                        <a:t>Implement</a:t>
                      </a:r>
                      <a:r>
                        <a:rPr lang="sv-SE" sz="1400"/>
                        <a:t> - </a:t>
                      </a:r>
                      <a:r>
                        <a:rPr lang="sv-SE" sz="1400" err="1"/>
                        <a:t>take</a:t>
                      </a:r>
                      <a:r>
                        <a:rPr lang="sv-SE" sz="1400"/>
                        <a:t> action</a:t>
                      </a:r>
                    </a:p>
                  </a:txBody>
                  <a:tcPr anchor="b"/>
                </a:tc>
                <a:tc hMerge="1">
                  <a:txBody>
                    <a:bodyPr/>
                    <a:lstStyle/>
                    <a:p>
                      <a:endParaRPr lang="sv-S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sv-SE" sz="1400"/>
                        <a:t>CHECK: Does it </a:t>
                      </a:r>
                      <a:r>
                        <a:rPr lang="sv-SE" sz="1400" err="1"/>
                        <a:t>work</a:t>
                      </a:r>
                      <a:r>
                        <a:rPr lang="sv-SE" sz="1400"/>
                        <a:t>?</a:t>
                      </a:r>
                    </a:p>
                  </a:txBody>
                  <a:tcPr anchor="b"/>
                </a:tc>
                <a:tc hMerge="1">
                  <a:txBody>
                    <a:bodyPr/>
                    <a:lstStyle/>
                    <a:p>
                      <a:endParaRPr lang="sv-S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sv-SE" sz="1400"/>
                        <a:t>ACT: </a:t>
                      </a:r>
                      <a:r>
                        <a:rPr lang="sv-SE" sz="1400" err="1"/>
                        <a:t>Evaluate</a:t>
                      </a:r>
                      <a:r>
                        <a:rPr lang="sv-SE" sz="1400"/>
                        <a:t>, and </a:t>
                      </a:r>
                      <a:r>
                        <a:rPr lang="sv-SE" sz="1400" err="1"/>
                        <a:t>improve</a:t>
                      </a:r>
                      <a:endParaRPr lang="sv-SE" sz="1400"/>
                    </a:p>
                  </a:txBody>
                  <a:tcPr anchor="b"/>
                </a:tc>
                <a:tc hMerge="1">
                  <a:txBody>
                    <a:bodyPr/>
                    <a:lstStyle/>
                    <a:p>
                      <a:endParaRPr lang="sv-S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sv-SE" sz="1400"/>
                        <a:t>PROGRESS: </a:t>
                      </a:r>
                      <a:r>
                        <a:rPr lang="sv-SE" sz="1400" err="1"/>
                        <a:t>Degree</a:t>
                      </a:r>
                      <a:r>
                        <a:rPr lang="sv-SE" sz="1400"/>
                        <a:t> </a:t>
                      </a:r>
                      <a:r>
                        <a:rPr lang="sv-SE" sz="1400" err="1"/>
                        <a:t>of</a:t>
                      </a:r>
                      <a:r>
                        <a:rPr lang="sv-SE" sz="1400"/>
                        <a:t> </a:t>
                      </a:r>
                      <a:r>
                        <a:rPr lang="sv-SE" sz="1400" err="1"/>
                        <a:t>completion</a:t>
                      </a:r>
                      <a:endParaRPr lang="sv-SE" sz="1400"/>
                    </a:p>
                  </a:txBody>
                  <a:tcPr anchor="b"/>
                </a:tc>
                <a:tc hMerge="1">
                  <a:txBody>
                    <a:bodyPr/>
                    <a:lstStyle/>
                    <a:p>
                      <a:endParaRPr lang="sv-S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7889497"/>
                  </a:ext>
                </a:extLst>
              </a:tr>
              <a:tr h="536244">
                <a:tc>
                  <a:txBody>
                    <a:bodyPr/>
                    <a:lstStyle/>
                    <a:p>
                      <a:r>
                        <a:rPr lang="sv-SE" err="1"/>
                        <a:t>Xxxxxxxxxxxx</a:t>
                      </a:r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>
                          <a:solidFill>
                            <a:srgbClr val="FF0000"/>
                          </a:solidFill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>
                          <a:solidFill>
                            <a:srgbClr val="FF0000"/>
                          </a:solidFill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>
                          <a:solidFill>
                            <a:srgbClr val="FF0000"/>
                          </a:solidFill>
                        </a:rPr>
                        <a:t>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4779523"/>
                  </a:ext>
                </a:extLst>
              </a:tr>
              <a:tr h="536244">
                <a:tc>
                  <a:txBody>
                    <a:bodyPr/>
                    <a:lstStyle/>
                    <a:p>
                      <a:r>
                        <a:rPr lang="sv-SE" err="1"/>
                        <a:t>Yyyyyyyyyyyy</a:t>
                      </a:r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>
                          <a:solidFill>
                            <a:srgbClr val="FF0000"/>
                          </a:solidFill>
                        </a:rPr>
                        <a:t>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6940160"/>
                  </a:ext>
                </a:extLst>
              </a:tr>
              <a:tr h="536244">
                <a:tc>
                  <a:txBody>
                    <a:bodyPr/>
                    <a:lstStyle/>
                    <a:p>
                      <a:r>
                        <a:rPr lang="sv-SE" err="1"/>
                        <a:t>Zzzzzzzzzzzz</a:t>
                      </a:r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>
                          <a:solidFill>
                            <a:srgbClr val="FF0000"/>
                          </a:solidFill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0879048"/>
                  </a:ext>
                </a:extLst>
              </a:tr>
              <a:tr h="536244">
                <a:tc>
                  <a:txBody>
                    <a:bodyPr/>
                    <a:lstStyle/>
                    <a:p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2128671"/>
                  </a:ext>
                </a:extLst>
              </a:tr>
              <a:tr h="536244">
                <a:tc>
                  <a:txBody>
                    <a:bodyPr/>
                    <a:lstStyle/>
                    <a:p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0131627"/>
                  </a:ext>
                </a:extLst>
              </a:tr>
              <a:tr h="536244">
                <a:tc>
                  <a:txBody>
                    <a:bodyPr/>
                    <a:lstStyle/>
                    <a:p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7677021"/>
                  </a:ext>
                </a:extLst>
              </a:tr>
              <a:tr h="536244">
                <a:tc>
                  <a:txBody>
                    <a:bodyPr/>
                    <a:lstStyle/>
                    <a:p>
                      <a:r>
                        <a:rPr lang="sv-SE" err="1"/>
                        <a:t>When</a:t>
                      </a:r>
                      <a:r>
                        <a:rPr lang="sv-SE"/>
                        <a:t> all </a:t>
                      </a:r>
                      <a:r>
                        <a:rPr lang="sv-SE" err="1"/>
                        <a:t>of</a:t>
                      </a:r>
                      <a:r>
                        <a:rPr lang="sv-SE"/>
                        <a:t> it is </a:t>
                      </a:r>
                      <a:r>
                        <a:rPr lang="sv-SE" err="1"/>
                        <a:t>complete</a:t>
                      </a:r>
                      <a:r>
                        <a:rPr lang="sv-SE"/>
                        <a:t> = 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>
                          <a:solidFill>
                            <a:srgbClr val="FF0000"/>
                          </a:solidFill>
                        </a:rPr>
                        <a:t>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0210427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1D43924B-9D2F-4E3A-9A76-104E24D10CCA}"/>
              </a:ext>
            </a:extLst>
          </p:cNvPr>
          <p:cNvSpPr txBox="1">
            <a:spLocks/>
          </p:cNvSpPr>
          <p:nvPr/>
        </p:nvSpPr>
        <p:spPr>
          <a:xfrm>
            <a:off x="539750" y="118808"/>
            <a:ext cx="3168047" cy="538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tx2"/>
                </a:solidFill>
                <a:highlight>
                  <a:srgbClr val="FFFF00"/>
                </a:highlight>
                <a:ea typeface="ＭＳ Ｐゴシック" pitchFamily="-65" charset="-128"/>
                <a:cs typeface="ＭＳ Ｐゴシック" pitchFamily="-65" charset="-128"/>
              </a:rPr>
              <a:t>Tracking toolkit #0</a:t>
            </a:r>
          </a:p>
        </p:txBody>
      </p:sp>
    </p:spTree>
    <p:extLst>
      <p:ext uri="{BB962C8B-B14F-4D97-AF65-F5344CB8AC3E}">
        <p14:creationId xmlns:p14="http://schemas.microsoft.com/office/powerpoint/2010/main" val="2236197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0EB5D9E-0BC0-0054-DED2-80CBA6A288E0}"/>
              </a:ext>
            </a:extLst>
          </p:cNvPr>
          <p:cNvSpPr txBox="1">
            <a:spLocks/>
          </p:cNvSpPr>
          <p:nvPr/>
        </p:nvSpPr>
        <p:spPr>
          <a:xfrm>
            <a:off x="539750" y="118808"/>
            <a:ext cx="3168047" cy="538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tx2"/>
                </a:solidFill>
                <a:highlight>
                  <a:srgbClr val="FFFF00"/>
                </a:highlight>
                <a:ea typeface="ＭＳ Ｐゴシック" pitchFamily="-65" charset="-128"/>
                <a:cs typeface="ＭＳ Ｐゴシック" pitchFamily="-65" charset="-128"/>
              </a:rPr>
              <a:t>Tracking toolkit #3</a:t>
            </a:r>
          </a:p>
        </p:txBody>
      </p:sp>
      <p:sp>
        <p:nvSpPr>
          <p:cNvPr id="5" name="textruta 4">
            <a:extLst>
              <a:ext uri="{FF2B5EF4-FFF2-40B4-BE49-F238E27FC236}">
                <a16:creationId xmlns:a16="http://schemas.microsoft.com/office/drawing/2014/main" id="{BBAA8695-124E-5FE3-52BE-FE9AB7413221}"/>
              </a:ext>
            </a:extLst>
          </p:cNvPr>
          <p:cNvSpPr txBox="1"/>
          <p:nvPr/>
        </p:nvSpPr>
        <p:spPr>
          <a:xfrm>
            <a:off x="631065" y="1429554"/>
            <a:ext cx="81948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Any relevant existing KPI that will provide lagging confirmation that Best Contribution work has been effective and you can see a breakthrough in a lagging KPI.</a:t>
            </a:r>
          </a:p>
          <a:p>
            <a:endParaRPr lang="en-GB" dirty="0"/>
          </a:p>
          <a:p>
            <a:r>
              <a:rPr lang="en-GB" dirty="0"/>
              <a:t>In the toolkit this will simple be viewed through a link/address to the correct internal KPI-library.</a:t>
            </a:r>
          </a:p>
        </p:txBody>
      </p:sp>
    </p:spTree>
    <p:extLst>
      <p:ext uri="{BB962C8B-B14F-4D97-AF65-F5344CB8AC3E}">
        <p14:creationId xmlns:p14="http://schemas.microsoft.com/office/powerpoint/2010/main" val="730267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ruta 2">
            <a:extLst>
              <a:ext uri="{FF2B5EF4-FFF2-40B4-BE49-F238E27FC236}">
                <a16:creationId xmlns:a16="http://schemas.microsoft.com/office/drawing/2014/main" id="{A5A85634-1FCB-D18B-CDC8-D572A8F4B41A}"/>
              </a:ext>
            </a:extLst>
          </p:cNvPr>
          <p:cNvSpPr txBox="1"/>
          <p:nvPr/>
        </p:nvSpPr>
        <p:spPr>
          <a:xfrm>
            <a:off x="903767" y="740233"/>
            <a:ext cx="8394779" cy="820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ÖNSKAD ADDERAD FUNKTIONALITET i PRIO ORDNING</a:t>
            </a:r>
          </a:p>
          <a:p>
            <a:endParaRPr lang="sv-SE" sz="1600" noProof="1"/>
          </a:p>
          <a:p>
            <a:pPr marL="342900" indent="-342900">
              <a:buFont typeface="+mj-lt"/>
              <a:buAutoNum type="arabicPeriod"/>
            </a:pPr>
            <a:r>
              <a:rPr lang="sv-SE" sz="1100" b="1" noProof="1"/>
              <a:t>Knapp som väcker IntegChatte 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Då matas Integ i RunTime med alla Teamets data från Toolkit (Integ har access till kontext)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Integ ska kunna lyssna på allt som sägs (typ Co-pilot)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Formuleringsstöd på begäran (Främst Action Plan + Desired State)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Möjlighet att skriva in förslaget direkt i Toolkit (Måste dock justeras/godkännas av ansvarig)</a:t>
            </a:r>
          </a:p>
          <a:p>
            <a:pPr lvl="1"/>
            <a:endParaRPr lang="sv-SE" sz="1100" b="1" noProof="1"/>
          </a:p>
          <a:p>
            <a:pPr marL="342900" indent="-342900">
              <a:buFont typeface="+mj-lt"/>
              <a:buAutoNum type="arabicPeriod"/>
            </a:pPr>
            <a:r>
              <a:rPr lang="sv-SE" sz="1100" b="1" noProof="1"/>
              <a:t>På fråga från teamet/enskilda Users ska IntegChatte kunna: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Summera dagens möte samt lyfta fram och erkänna framsteg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Summera vilka framsteg "företaget" gör kopplat till strategiska fokuseringar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Ge teamet en eller två reflektionsfrågor inför punkten "Learnings" på agendan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Kunna hänvisa/tipsa om andra team som jobbar med snarlika frågor</a:t>
            </a:r>
          </a:p>
          <a:p>
            <a:pPr marL="800100" lvl="1" indent="-342900">
              <a:buFont typeface="+mj-lt"/>
              <a:buAutoNum type="alphaLcParenR"/>
            </a:pPr>
            <a:endParaRPr lang="sv-SE" sz="1100" noProof="1"/>
          </a:p>
          <a:p>
            <a:pPr marL="342900" indent="-342900">
              <a:buFont typeface="+mj-lt"/>
              <a:buAutoNum type="arabicPeriod"/>
            </a:pPr>
            <a:r>
              <a:rPr lang="sv-SE" sz="1100" b="1" noProof="1"/>
              <a:t>Integ behöver "run time fönstret" ha access till: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Kontentan av Strategiskt Resonemang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Uppdaterat Stragiskt Fokuserat Lokomotivmål</a:t>
            </a:r>
          </a:p>
          <a:p>
            <a:pPr marL="800100" lvl="1" indent="-342900">
              <a:buFont typeface="+mj-lt"/>
              <a:buAutoNum type="alphaLcParenR"/>
            </a:pPr>
            <a:endParaRPr lang="sv-SE" sz="1100" noProof="1"/>
          </a:p>
          <a:p>
            <a:pPr marL="342900" indent="-342900">
              <a:buFont typeface="+mj-lt"/>
              <a:buAutoNum type="arabicPeriod"/>
            </a:pPr>
            <a:r>
              <a:rPr lang="sv-SE" sz="1100" b="1" noProof="1"/>
              <a:t>Löpande datainsamling under mötet som stöd till vitalitet och framdrift (Ej prio nu, men låt oss ta höjd för dessa redan nu)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Antal deltagare (%) som ger egna muntliga bidrag under mötet = indikator #1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Antal tillfällen då en deltagare bygger vidare på en kollegas inspel = indikator #2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Antal perspektivkrockar som landar i samsyn= indikator #3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Antal "action steps" som bockas av + adderas = indikator #4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Bekräftad samsyn om Bästa Bidrag, Mål och Desired State #5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Antal kollegiala erkännanden = indikator #6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Hög närvarao = indikator #7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....</a:t>
            </a:r>
          </a:p>
          <a:p>
            <a:pPr lvl="1"/>
            <a:endParaRPr lang="sv-SE" sz="1100" noProof="1"/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Antal "action steps"  som glider bortom ursprunglig färdigtid = vitalitetssänke #1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Antal perspektivkrockar som lämnar känslor av frustration och friktion = vitalitetssänke #2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Antal signaler som indikerar att mötet/frågorna som diskuteras inte känns vikiga/angelägna = vitalitetssänke #3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Hög frånvaro (%) = vitalitetssänke #4 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....</a:t>
            </a:r>
          </a:p>
          <a:p>
            <a:pPr marL="800100" lvl="1" indent="-342900">
              <a:buFont typeface="+mj-lt"/>
              <a:buAutoNum type="alphaLcParenR"/>
            </a:pPr>
            <a:endParaRPr lang="sv-SE" sz="1100" noProof="1"/>
          </a:p>
          <a:p>
            <a:pPr marL="800100" lvl="1" indent="-342900">
              <a:buFont typeface="+mj-lt"/>
              <a:buAutoNum type="alphaLcParenR"/>
            </a:pPr>
            <a:endParaRPr lang="sv-SE" sz="1100" noProof="1"/>
          </a:p>
          <a:p>
            <a:pPr marL="800100" lvl="1" indent="-342900">
              <a:buFont typeface="+mj-lt"/>
              <a:buAutoNum type="alphaLcParenR"/>
            </a:pPr>
            <a:endParaRPr lang="sv-SE" sz="1400" noProof="1"/>
          </a:p>
          <a:p>
            <a:pPr marL="800100" lvl="1" indent="-342900">
              <a:buFont typeface="+mj-lt"/>
              <a:buAutoNum type="alphaLcParenR"/>
            </a:pPr>
            <a:endParaRPr lang="sv-SE" sz="1400" noProof="1"/>
          </a:p>
          <a:p>
            <a:pPr marL="800100" lvl="1" indent="-342900">
              <a:buFont typeface="+mj-lt"/>
              <a:buAutoNum type="alphaLcParenR"/>
            </a:pPr>
            <a:endParaRPr lang="sv-SE" sz="1400" noProof="1"/>
          </a:p>
          <a:p>
            <a:pPr marL="800100" lvl="1" indent="-342900">
              <a:buFont typeface="+mj-lt"/>
              <a:buAutoNum type="alphaLcParenR"/>
            </a:pPr>
            <a:endParaRPr lang="en-GB" sz="1400" dirty="0"/>
          </a:p>
          <a:p>
            <a:pPr marL="800100" lvl="1" indent="-342900">
              <a:buFont typeface="+mj-lt"/>
              <a:buAutoNum type="alphaLcParenR"/>
            </a:pPr>
            <a:endParaRPr lang="en-GB" dirty="0"/>
          </a:p>
          <a:p>
            <a:pPr marL="800100" lvl="1" indent="-342900">
              <a:buFont typeface="+mj-lt"/>
              <a:buAutoNum type="alphaLcParenR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6949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C9FB9B0-1981-B257-DD81-4B13EC203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891B1F9-CEB1-BAA3-7535-102FED8CC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>
              <a:lnSpc>
                <a:spcPct val="80000"/>
              </a:lnSpc>
              <a:spcBef>
                <a:spcPct val="110000"/>
              </a:spcBef>
              <a:spcAft>
                <a:spcPts val="1200"/>
              </a:spcAft>
              <a:defRPr/>
            </a:pPr>
            <a:r>
              <a:rPr lang="sv-SE" err="1"/>
              <a:t>Two</a:t>
            </a:r>
            <a:r>
              <a:rPr lang="sv-SE"/>
              <a:t> </a:t>
            </a:r>
            <a:r>
              <a:rPr lang="sv-SE" err="1"/>
              <a:t>ways</a:t>
            </a:r>
            <a:r>
              <a:rPr lang="sv-SE"/>
              <a:t> </a:t>
            </a:r>
            <a:r>
              <a:rPr lang="sv-SE" err="1"/>
              <a:t>of</a:t>
            </a:r>
            <a:r>
              <a:rPr lang="sv-SE"/>
              <a:t> </a:t>
            </a:r>
            <a:r>
              <a:rPr lang="sv-SE" err="1"/>
              <a:t>measure</a:t>
            </a:r>
            <a:r>
              <a:rPr lang="sv-SE"/>
              <a:t> </a:t>
            </a:r>
            <a:r>
              <a:rPr lang="sv-SE" err="1"/>
              <a:t>that</a:t>
            </a:r>
            <a:r>
              <a:rPr lang="sv-SE"/>
              <a:t> </a:t>
            </a:r>
            <a:r>
              <a:rPr lang="sv-SE" err="1"/>
              <a:t>complement</a:t>
            </a:r>
            <a:r>
              <a:rPr lang="sv-SE"/>
              <a:t> </a:t>
            </a:r>
            <a:r>
              <a:rPr lang="sv-SE" err="1"/>
              <a:t>each</a:t>
            </a:r>
            <a:r>
              <a:rPr lang="sv-SE"/>
              <a:t> </a:t>
            </a:r>
            <a:r>
              <a:rPr lang="sv-SE" err="1"/>
              <a:t>other</a:t>
            </a:r>
            <a:endParaRPr lang="sv-SE"/>
          </a:p>
        </p:txBody>
      </p:sp>
      <p:sp>
        <p:nvSpPr>
          <p:cNvPr id="7" name="Platshållare för innehåll 6">
            <a:extLst>
              <a:ext uri="{FF2B5EF4-FFF2-40B4-BE49-F238E27FC236}">
                <a16:creationId xmlns:a16="http://schemas.microsoft.com/office/drawing/2014/main" id="{747826AB-303C-4025-9169-ACFBF6703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717" y="2130426"/>
            <a:ext cx="4861403" cy="4287838"/>
          </a:xfrm>
        </p:spPr>
        <p:txBody>
          <a:bodyPr/>
          <a:lstStyle/>
          <a:p>
            <a:pPr marL="0" indent="0">
              <a:spcAft>
                <a:spcPct val="40000"/>
              </a:spcAft>
              <a:buNone/>
            </a:pPr>
            <a:r>
              <a:rPr lang="sv-SE" sz="1800" b="1" noProof="1"/>
              <a:t>Strenghts</a:t>
            </a:r>
          </a:p>
          <a:p>
            <a:pPr lvl="1">
              <a:spcAft>
                <a:spcPct val="40000"/>
              </a:spcAft>
            </a:pPr>
            <a:r>
              <a:rPr lang="sv-SE" sz="1600" noProof="1"/>
              <a:t>Can measure ”cause” &amp; ”effect”</a:t>
            </a:r>
          </a:p>
          <a:p>
            <a:pPr lvl="1">
              <a:spcAft>
                <a:spcPct val="40000"/>
              </a:spcAft>
            </a:pPr>
            <a:r>
              <a:rPr lang="sv-SE" sz="1600" noProof="1"/>
              <a:t>Helps us mobilize our forces in day-to-day work, as well as in our improvement activities </a:t>
            </a:r>
          </a:p>
          <a:p>
            <a:pPr lvl="1">
              <a:spcAft>
                <a:spcPct val="40000"/>
              </a:spcAft>
            </a:pPr>
            <a:r>
              <a:rPr lang="sv-SE" sz="1600" noProof="1"/>
              <a:t>Provides proof of a new level of performance</a:t>
            </a:r>
          </a:p>
          <a:p>
            <a:pPr lvl="1">
              <a:spcAft>
                <a:spcPct val="40000"/>
              </a:spcAft>
            </a:pPr>
            <a:r>
              <a:rPr lang="sv-SE" sz="1600" noProof="1"/>
              <a:t>Mirrors how close we are to our desired state</a:t>
            </a:r>
          </a:p>
          <a:p>
            <a:pPr lvl="1">
              <a:spcAft>
                <a:spcPct val="40000"/>
              </a:spcAft>
            </a:pPr>
            <a:r>
              <a:rPr lang="sv-SE" sz="1600" b="1" i="1" noProof="1"/>
              <a:t>Major incomplete cycles stay top of mind!</a:t>
            </a:r>
            <a:endParaRPr lang="sv-SE" sz="1800" b="1" i="1" noProof="1"/>
          </a:p>
          <a:p>
            <a:pPr marL="0" indent="0">
              <a:spcAft>
                <a:spcPct val="40000"/>
              </a:spcAft>
              <a:buNone/>
            </a:pPr>
            <a:endParaRPr lang="sv-SE" sz="1800" noProof="1"/>
          </a:p>
          <a:p>
            <a:pPr marL="0" indent="0">
              <a:spcAft>
                <a:spcPct val="40000"/>
              </a:spcAft>
              <a:buNone/>
            </a:pPr>
            <a:r>
              <a:rPr lang="sv-SE" sz="1800" b="1" noProof="1"/>
              <a:t>Drawbacks:</a:t>
            </a:r>
          </a:p>
          <a:p>
            <a:pPr lvl="1">
              <a:spcAft>
                <a:spcPct val="40000"/>
              </a:spcAft>
            </a:pPr>
            <a:r>
              <a:rPr lang="sv-SE" sz="1600" noProof="1"/>
              <a:t>Can sometimes be quite slow in telling us if we are on the right track or not</a:t>
            </a:r>
          </a:p>
          <a:p>
            <a:pPr lvl="1">
              <a:spcAft>
                <a:spcPct val="40000"/>
              </a:spcAft>
            </a:pPr>
            <a:r>
              <a:rPr lang="sv-SE" sz="1600" noProof="1"/>
              <a:t>Can take a long time before you see any major improvement in performance</a:t>
            </a:r>
            <a:endParaRPr lang="en-GB" sz="1600"/>
          </a:p>
        </p:txBody>
      </p:sp>
      <p:sp>
        <p:nvSpPr>
          <p:cNvPr id="9" name="Platshållare för text 8">
            <a:extLst>
              <a:ext uri="{FF2B5EF4-FFF2-40B4-BE49-F238E27FC236}">
                <a16:creationId xmlns:a16="http://schemas.microsoft.com/office/drawing/2014/main" id="{D1193730-04A5-CEA0-4500-F8C45946037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sv-SE" sz="1600" b="1" noProof="1">
                <a:solidFill>
                  <a:schemeClr val="accent1"/>
                </a:solidFill>
              </a:rPr>
              <a:t>Performance</a:t>
            </a:r>
            <a:r>
              <a:rPr lang="sv-SE" noProof="1"/>
              <a:t> INDICATORS</a:t>
            </a:r>
            <a:endParaRPr lang="en-GB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2B97423A-0B0B-7F4D-AB7C-4BE678EFE3A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21413" y="2130426"/>
            <a:ext cx="5430838" cy="4287837"/>
          </a:xfrm>
        </p:spPr>
        <p:txBody>
          <a:bodyPr/>
          <a:lstStyle/>
          <a:p>
            <a:pPr marL="0" indent="0">
              <a:spcAft>
                <a:spcPct val="40000"/>
              </a:spcAft>
              <a:buNone/>
            </a:pPr>
            <a:r>
              <a:rPr lang="sv-SE" sz="1800" b="1" noProof="1"/>
              <a:t>Strenghts</a:t>
            </a:r>
          </a:p>
          <a:p>
            <a:pPr lvl="1">
              <a:spcAft>
                <a:spcPct val="40000"/>
              </a:spcAft>
            </a:pPr>
            <a:r>
              <a:rPr lang="sv-SE" sz="1600" noProof="1"/>
              <a:t>Measures progress with eliminating "root causes”</a:t>
            </a:r>
          </a:p>
          <a:p>
            <a:pPr lvl="1">
              <a:spcAft>
                <a:spcPct val="40000"/>
              </a:spcAft>
            </a:pPr>
            <a:r>
              <a:rPr lang="sv-SE" sz="1600" noProof="1"/>
              <a:t>We get a narrower and sharper focus in our gap closing/best contribution work.
It constantly generates new and relevant action steps</a:t>
            </a:r>
          </a:p>
          <a:p>
            <a:pPr lvl="1">
              <a:spcAft>
                <a:spcPct val="40000"/>
              </a:spcAft>
            </a:pPr>
            <a:r>
              <a:rPr lang="sv-SE" sz="1600" noProof="1"/>
              <a:t>Shows our tempo, if we have the pace we need</a:t>
            </a:r>
          </a:p>
          <a:p>
            <a:pPr lvl="1">
              <a:spcAft>
                <a:spcPct val="40000"/>
              </a:spcAft>
            </a:pPr>
            <a:r>
              <a:rPr lang="sv-SE" sz="1600" b="1" i="1" noProof="1"/>
              <a:t>It constantly produce new complete cycles!</a:t>
            </a:r>
          </a:p>
          <a:p>
            <a:pPr marL="0" indent="0">
              <a:spcAft>
                <a:spcPct val="40000"/>
              </a:spcAft>
              <a:buNone/>
            </a:pPr>
            <a:endParaRPr lang="sv-SE" sz="1800" noProof="1"/>
          </a:p>
          <a:p>
            <a:pPr marL="0" indent="0">
              <a:spcAft>
                <a:spcPct val="40000"/>
              </a:spcAft>
              <a:buNone/>
            </a:pPr>
            <a:r>
              <a:rPr lang="sv-SE" sz="1800" b="1" noProof="1"/>
              <a:t>Drawbacks:</a:t>
            </a:r>
          </a:p>
          <a:p>
            <a:pPr lvl="1">
              <a:spcAft>
                <a:spcPct val="40000"/>
              </a:spcAft>
            </a:pPr>
            <a:r>
              <a:rPr lang="sv-SE" sz="1600" noProof="1"/>
              <a:t>Without a Performance Indicator you will not know if you are working on the right things</a:t>
            </a:r>
          </a:p>
          <a:p>
            <a:pPr lvl="1">
              <a:spcAft>
                <a:spcPct val="40000"/>
              </a:spcAft>
            </a:pPr>
            <a:r>
              <a:rPr lang="sv-SE" sz="1600" noProof="1"/>
              <a:t>It provides no direction or focus to guide your day-to-day work</a:t>
            </a:r>
          </a:p>
        </p:txBody>
      </p:sp>
      <p:sp>
        <p:nvSpPr>
          <p:cNvPr id="6" name="Platshållare för text 5">
            <a:extLst>
              <a:ext uri="{FF2B5EF4-FFF2-40B4-BE49-F238E27FC236}">
                <a16:creationId xmlns:a16="http://schemas.microsoft.com/office/drawing/2014/main" id="{0DE823B5-A7C4-C378-35CC-66F53330DBA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sv-SE" sz="1600" b="1" noProof="1">
                <a:solidFill>
                  <a:schemeClr val="accent1"/>
                </a:solidFill>
              </a:rPr>
              <a:t>MeasurE Completion Rate (PDCA)</a:t>
            </a:r>
            <a:endParaRPr lang="sv-SE" sz="1100" noProof="1">
              <a:solidFill>
                <a:schemeClr val="accent1"/>
              </a:solidFill>
            </a:endParaRPr>
          </a:p>
          <a:p>
            <a:endParaRPr lang="en-GB" b="0"/>
          </a:p>
        </p:txBody>
      </p:sp>
    </p:spTree>
    <p:extLst>
      <p:ext uri="{BB962C8B-B14F-4D97-AF65-F5344CB8AC3E}">
        <p14:creationId xmlns:p14="http://schemas.microsoft.com/office/powerpoint/2010/main" val="2039984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 build="p" animBg="1"/>
    </p:bldLst>
  </p:timing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1979</TotalTime>
  <Words>1023</Words>
  <Application>Microsoft Macintosh PowerPoint</Application>
  <PresentationFormat>Bredbild</PresentationFormat>
  <Paragraphs>216</Paragraphs>
  <Slides>10</Slides>
  <Notes>3</Notes>
  <HiddenSlides>1</HiddenSlides>
  <MMClips>0</MMClips>
  <ScaleCrop>false</ScaleCrop>
  <HeadingPairs>
    <vt:vector size="6" baseType="variant">
      <vt:variant>
        <vt:lpstr>Använt teckensnitt</vt:lpstr>
      </vt:variant>
      <vt:variant>
        <vt:i4>6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10</vt:i4>
      </vt:variant>
    </vt:vector>
  </HeadingPairs>
  <TitlesOfParts>
    <vt:vector size="17" baseType="lpstr">
      <vt:lpstr>ＭＳ Ｐゴシック</vt:lpstr>
      <vt:lpstr>Aptos</vt:lpstr>
      <vt:lpstr>Aptos Display</vt:lpstr>
      <vt:lpstr>Arial</vt:lpstr>
      <vt:lpstr>Geneva</vt:lpstr>
      <vt:lpstr>Verdana</vt:lpstr>
      <vt:lpstr>Office-tema</vt:lpstr>
      <vt:lpstr>PowerPoint-presentation</vt:lpstr>
      <vt:lpstr>Dashboard (for individual User)</vt:lpstr>
      <vt:lpstr>PowerPoint-presentation</vt:lpstr>
      <vt:lpstr>PowerPoint-presentation</vt:lpstr>
      <vt:lpstr>Action plan</vt:lpstr>
      <vt:lpstr>Tracking toolkit #1</vt:lpstr>
      <vt:lpstr>Progress Measure (PDCA)</vt:lpstr>
      <vt:lpstr>PowerPoint-presentation</vt:lpstr>
      <vt:lpstr>PowerPoint-presentation</vt:lpstr>
      <vt:lpstr>Two ways of measure that complement each other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Lasse Ramquist</dc:creator>
  <cp:lastModifiedBy>Lasse Ramquist</cp:lastModifiedBy>
  <cp:revision>1</cp:revision>
  <dcterms:created xsi:type="dcterms:W3CDTF">2026-01-24T06:28:45Z</dcterms:created>
  <dcterms:modified xsi:type="dcterms:W3CDTF">2026-01-25T15:28:32Z</dcterms:modified>
</cp:coreProperties>
</file>